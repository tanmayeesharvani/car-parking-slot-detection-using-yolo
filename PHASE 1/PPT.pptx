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7" r:id="rId8"/>
    <p:sldId id="263" r:id="rId9"/>
    <p:sldId id="264" r:id="rId10"/>
    <p:sldId id="265" r:id="rId11"/>
    <p:sldId id="266" r:id="rId12"/>
    <p:sldId id="268" r:id="rId13"/>
    <p:sldId id="269" r:id="rId14"/>
    <p:sldId id="270" r:id="rId15"/>
    <p:sldId id="277" r:id="rId16"/>
    <p:sldId id="271" r:id="rId17"/>
    <p:sldId id="272" r:id="rId18"/>
    <p:sldId id="273" r:id="rId19"/>
    <p:sldId id="275"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D5"/>
    <a:srgbClr val="FF758F"/>
    <a:srgbClr val="FF4D6D"/>
    <a:srgbClr val="C9184A"/>
    <a:srgbClr val="FF8FA3"/>
    <a:srgbClr val="FFB3C1"/>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F2F509-14C4-45E9-B692-38B6736D8B36}" v="252" dt="2023-12-15T06:30:20.688"/>
    <p1510:client id="{2E938C6F-0106-4B29-AF37-C3FDD47D924C}" v="7" dt="2023-12-14T15:39:10.388"/>
    <p1510:client id="{30E93D1C-FB0A-479D-AD2C-A1B68FCB785D}" v="52" dt="2023-12-15T05:40:08.552"/>
    <p1510:client id="{36C797CA-8E1A-4274-A435-94E2CA981814}" v="1373" dt="2023-12-15T06:03:33.381"/>
    <p1510:client id="{9A936ED1-7283-4B75-AFBF-AB1990C4AFEF}" v="24" dt="2023-12-15T05:18:57.033"/>
    <p1510:client id="{9C720FD5-8C47-469C-B896-727A348F5BB6}" v="379" dt="2023-12-14T19:03:18.615"/>
    <p1510:client id="{CB7AB996-4543-4F0F-87F4-A07A5A4552B1}" v="35" dt="2023-12-14T18:00:34.938"/>
    <p1510:client id="{CBAC43CF-B6B6-4E3C-8E36-645B90C92B06}" v="63" dt="2023-12-14T18:29:59.036"/>
    <p1510:client id="{D20CB76D-93AA-4D31-9774-749F56F8DBF0}" v="56" dt="2023-12-15T04:26:53.157"/>
    <p1510:client id="{D78E43C5-DAB8-4284-97FE-0BA7C7AA291F}" v="32" dt="2023-12-14T17:02:21.705"/>
    <p1510:client id="{DE379E7A-02DD-4A9B-BD7A-52205960A4DF}" v="556" dt="2023-12-14T15:20:18.8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833CA-9838-5AEA-79CE-C265ECD909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EF6F7C7-0010-F806-35A4-E1469141C8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7251245-5EAA-CDCF-8434-2B3814884E6D}"/>
              </a:ext>
            </a:extLst>
          </p:cNvPr>
          <p:cNvSpPr>
            <a:spLocks noGrp="1"/>
          </p:cNvSpPr>
          <p:nvPr>
            <p:ph type="dt" sz="half" idx="10"/>
          </p:nvPr>
        </p:nvSpPr>
        <p:spPr/>
        <p:txBody>
          <a:bodyPr/>
          <a:lstStyle/>
          <a:p>
            <a:fld id="{9AE764A7-1A47-43B0-AD26-F37194AA0DE6}" type="datetimeFigureOut">
              <a:rPr lang="en-IN" smtClean="0"/>
              <a:t>15-12-2023</a:t>
            </a:fld>
            <a:endParaRPr lang="en-IN"/>
          </a:p>
        </p:txBody>
      </p:sp>
      <p:sp>
        <p:nvSpPr>
          <p:cNvPr id="5" name="Footer Placeholder 4">
            <a:extLst>
              <a:ext uri="{FF2B5EF4-FFF2-40B4-BE49-F238E27FC236}">
                <a16:creationId xmlns:a16="http://schemas.microsoft.com/office/drawing/2014/main" id="{8AC0697F-7349-C3FE-A0C5-F7AAE6D5F2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263780-BA77-EA43-8849-F354B9FBF54A}"/>
              </a:ext>
            </a:extLst>
          </p:cNvPr>
          <p:cNvSpPr>
            <a:spLocks noGrp="1"/>
          </p:cNvSpPr>
          <p:nvPr>
            <p:ph type="sldNum" sz="quarter" idx="12"/>
          </p:nvPr>
        </p:nvSpPr>
        <p:spPr/>
        <p:txBody>
          <a:bodyPr/>
          <a:lstStyle/>
          <a:p>
            <a:fld id="{F5A2C24A-F4E9-4F19-B9EF-801CEF604DD6}" type="slidenum">
              <a:rPr lang="en-IN" smtClean="0"/>
              <a:t>‹#›</a:t>
            </a:fld>
            <a:endParaRPr lang="en-IN"/>
          </a:p>
        </p:txBody>
      </p:sp>
    </p:spTree>
    <p:extLst>
      <p:ext uri="{BB962C8B-B14F-4D97-AF65-F5344CB8AC3E}">
        <p14:creationId xmlns:p14="http://schemas.microsoft.com/office/powerpoint/2010/main" val="1066047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11341-2885-71EB-6F42-8368F91DF2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818FC5-928A-DDB6-FFF9-25DBC18C68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A2D7EF-5BB6-7AE5-F628-ABEB01FDE1EA}"/>
              </a:ext>
            </a:extLst>
          </p:cNvPr>
          <p:cNvSpPr>
            <a:spLocks noGrp="1"/>
          </p:cNvSpPr>
          <p:nvPr>
            <p:ph type="dt" sz="half" idx="10"/>
          </p:nvPr>
        </p:nvSpPr>
        <p:spPr/>
        <p:txBody>
          <a:bodyPr/>
          <a:lstStyle/>
          <a:p>
            <a:fld id="{9AE764A7-1A47-43B0-AD26-F37194AA0DE6}" type="datetimeFigureOut">
              <a:rPr lang="en-IN" smtClean="0"/>
              <a:t>15-12-2023</a:t>
            </a:fld>
            <a:endParaRPr lang="en-IN"/>
          </a:p>
        </p:txBody>
      </p:sp>
      <p:sp>
        <p:nvSpPr>
          <p:cNvPr id="5" name="Footer Placeholder 4">
            <a:extLst>
              <a:ext uri="{FF2B5EF4-FFF2-40B4-BE49-F238E27FC236}">
                <a16:creationId xmlns:a16="http://schemas.microsoft.com/office/drawing/2014/main" id="{49B7890F-77B1-1D65-61F6-1F9AACD630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0ABE6D-8CE1-F52A-C50C-2A96CAF99664}"/>
              </a:ext>
            </a:extLst>
          </p:cNvPr>
          <p:cNvSpPr>
            <a:spLocks noGrp="1"/>
          </p:cNvSpPr>
          <p:nvPr>
            <p:ph type="sldNum" sz="quarter" idx="12"/>
          </p:nvPr>
        </p:nvSpPr>
        <p:spPr/>
        <p:txBody>
          <a:bodyPr/>
          <a:lstStyle/>
          <a:p>
            <a:fld id="{F5A2C24A-F4E9-4F19-B9EF-801CEF604DD6}" type="slidenum">
              <a:rPr lang="en-IN" smtClean="0"/>
              <a:t>‹#›</a:t>
            </a:fld>
            <a:endParaRPr lang="en-IN"/>
          </a:p>
        </p:txBody>
      </p:sp>
    </p:spTree>
    <p:extLst>
      <p:ext uri="{BB962C8B-B14F-4D97-AF65-F5344CB8AC3E}">
        <p14:creationId xmlns:p14="http://schemas.microsoft.com/office/powerpoint/2010/main" val="351164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067A4-E9C2-CDB8-FB61-24A2E81515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D775A6-E7A3-D0D1-44F8-29E8C478F6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28BDEF-05EA-7D7E-F9BD-40F7DA98CD6C}"/>
              </a:ext>
            </a:extLst>
          </p:cNvPr>
          <p:cNvSpPr>
            <a:spLocks noGrp="1"/>
          </p:cNvSpPr>
          <p:nvPr>
            <p:ph type="dt" sz="half" idx="10"/>
          </p:nvPr>
        </p:nvSpPr>
        <p:spPr/>
        <p:txBody>
          <a:bodyPr/>
          <a:lstStyle/>
          <a:p>
            <a:fld id="{9AE764A7-1A47-43B0-AD26-F37194AA0DE6}" type="datetimeFigureOut">
              <a:rPr lang="en-IN" smtClean="0"/>
              <a:t>15-12-2023</a:t>
            </a:fld>
            <a:endParaRPr lang="en-IN"/>
          </a:p>
        </p:txBody>
      </p:sp>
      <p:sp>
        <p:nvSpPr>
          <p:cNvPr id="5" name="Footer Placeholder 4">
            <a:extLst>
              <a:ext uri="{FF2B5EF4-FFF2-40B4-BE49-F238E27FC236}">
                <a16:creationId xmlns:a16="http://schemas.microsoft.com/office/drawing/2014/main" id="{2C8210BF-A956-4B95-6687-A913988FB3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F55AE1-4AB3-A7E8-FDE0-E7194B5B1E79}"/>
              </a:ext>
            </a:extLst>
          </p:cNvPr>
          <p:cNvSpPr>
            <a:spLocks noGrp="1"/>
          </p:cNvSpPr>
          <p:nvPr>
            <p:ph type="sldNum" sz="quarter" idx="12"/>
          </p:nvPr>
        </p:nvSpPr>
        <p:spPr/>
        <p:txBody>
          <a:bodyPr/>
          <a:lstStyle/>
          <a:p>
            <a:fld id="{F5A2C24A-F4E9-4F19-B9EF-801CEF604DD6}" type="slidenum">
              <a:rPr lang="en-IN" smtClean="0"/>
              <a:t>‹#›</a:t>
            </a:fld>
            <a:endParaRPr lang="en-IN"/>
          </a:p>
        </p:txBody>
      </p:sp>
    </p:spTree>
    <p:extLst>
      <p:ext uri="{BB962C8B-B14F-4D97-AF65-F5344CB8AC3E}">
        <p14:creationId xmlns:p14="http://schemas.microsoft.com/office/powerpoint/2010/main" val="3507394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77979-12E6-2638-ABE8-BC1AD55263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02E444-F4FC-A150-DA13-10DA612D77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D885EB4-DFE5-9748-5C9B-145E66A83A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3C51185-F76F-6DC8-FB2B-521F07F535E0}"/>
              </a:ext>
            </a:extLst>
          </p:cNvPr>
          <p:cNvSpPr>
            <a:spLocks noGrp="1"/>
          </p:cNvSpPr>
          <p:nvPr>
            <p:ph type="dt" sz="half" idx="10"/>
          </p:nvPr>
        </p:nvSpPr>
        <p:spPr/>
        <p:txBody>
          <a:bodyPr/>
          <a:lstStyle/>
          <a:p>
            <a:fld id="{9AE764A7-1A47-43B0-AD26-F37194AA0DE6}" type="datetimeFigureOut">
              <a:rPr lang="en-IN" smtClean="0"/>
              <a:t>15-12-2023</a:t>
            </a:fld>
            <a:endParaRPr lang="en-IN"/>
          </a:p>
        </p:txBody>
      </p:sp>
      <p:sp>
        <p:nvSpPr>
          <p:cNvPr id="6" name="Footer Placeholder 5">
            <a:extLst>
              <a:ext uri="{FF2B5EF4-FFF2-40B4-BE49-F238E27FC236}">
                <a16:creationId xmlns:a16="http://schemas.microsoft.com/office/drawing/2014/main" id="{6C0B6F4C-3F87-8373-6EB2-04307873C6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5885CB-85E4-5F18-29A4-28AA1A6C0D89}"/>
              </a:ext>
            </a:extLst>
          </p:cNvPr>
          <p:cNvSpPr>
            <a:spLocks noGrp="1"/>
          </p:cNvSpPr>
          <p:nvPr>
            <p:ph type="sldNum" sz="quarter" idx="12"/>
          </p:nvPr>
        </p:nvSpPr>
        <p:spPr/>
        <p:txBody>
          <a:bodyPr/>
          <a:lstStyle/>
          <a:p>
            <a:fld id="{F5A2C24A-F4E9-4F19-B9EF-801CEF604DD6}" type="slidenum">
              <a:rPr lang="en-IN" smtClean="0"/>
              <a:t>‹#›</a:t>
            </a:fld>
            <a:endParaRPr lang="en-IN"/>
          </a:p>
        </p:txBody>
      </p:sp>
    </p:spTree>
    <p:extLst>
      <p:ext uri="{BB962C8B-B14F-4D97-AF65-F5344CB8AC3E}">
        <p14:creationId xmlns:p14="http://schemas.microsoft.com/office/powerpoint/2010/main" val="881759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656E-AF42-9E7C-38A3-C06651BE5C5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E11BB9-1C48-9EEF-63CD-3A23539CD8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3BB29A-2283-1D36-738D-238F6581D4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4D2BAD-5589-4700-7FF6-97AC2D6653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6A701B-E3AD-B478-508C-77B1DE4580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54FE56F-3134-3928-7A45-5396FE8D8D15}"/>
              </a:ext>
            </a:extLst>
          </p:cNvPr>
          <p:cNvSpPr>
            <a:spLocks noGrp="1"/>
          </p:cNvSpPr>
          <p:nvPr>
            <p:ph type="dt" sz="half" idx="10"/>
          </p:nvPr>
        </p:nvSpPr>
        <p:spPr/>
        <p:txBody>
          <a:bodyPr/>
          <a:lstStyle/>
          <a:p>
            <a:fld id="{9AE764A7-1A47-43B0-AD26-F37194AA0DE6}" type="datetimeFigureOut">
              <a:rPr lang="en-IN" smtClean="0"/>
              <a:t>15-12-2023</a:t>
            </a:fld>
            <a:endParaRPr lang="en-IN"/>
          </a:p>
        </p:txBody>
      </p:sp>
      <p:sp>
        <p:nvSpPr>
          <p:cNvPr id="8" name="Footer Placeholder 7">
            <a:extLst>
              <a:ext uri="{FF2B5EF4-FFF2-40B4-BE49-F238E27FC236}">
                <a16:creationId xmlns:a16="http://schemas.microsoft.com/office/drawing/2014/main" id="{15F25817-DC9D-2BB7-2CCD-5C84E641CFE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87D8880-BC61-49D6-C3DD-CA8B9F194683}"/>
              </a:ext>
            </a:extLst>
          </p:cNvPr>
          <p:cNvSpPr>
            <a:spLocks noGrp="1"/>
          </p:cNvSpPr>
          <p:nvPr>
            <p:ph type="sldNum" sz="quarter" idx="12"/>
          </p:nvPr>
        </p:nvSpPr>
        <p:spPr/>
        <p:txBody>
          <a:bodyPr/>
          <a:lstStyle/>
          <a:p>
            <a:fld id="{F5A2C24A-F4E9-4F19-B9EF-801CEF604DD6}" type="slidenum">
              <a:rPr lang="en-IN" smtClean="0"/>
              <a:t>‹#›</a:t>
            </a:fld>
            <a:endParaRPr lang="en-IN"/>
          </a:p>
        </p:txBody>
      </p:sp>
    </p:spTree>
    <p:extLst>
      <p:ext uri="{BB962C8B-B14F-4D97-AF65-F5344CB8AC3E}">
        <p14:creationId xmlns:p14="http://schemas.microsoft.com/office/powerpoint/2010/main" val="4025126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D0C7-F5CB-AFAE-48BB-2991A7E571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25D381-41A0-F55B-5BAD-4FBD143558C0}"/>
              </a:ext>
            </a:extLst>
          </p:cNvPr>
          <p:cNvSpPr>
            <a:spLocks noGrp="1"/>
          </p:cNvSpPr>
          <p:nvPr>
            <p:ph type="dt" sz="half" idx="10"/>
          </p:nvPr>
        </p:nvSpPr>
        <p:spPr/>
        <p:txBody>
          <a:bodyPr/>
          <a:lstStyle/>
          <a:p>
            <a:fld id="{9AE764A7-1A47-43B0-AD26-F37194AA0DE6}" type="datetimeFigureOut">
              <a:rPr lang="en-IN" smtClean="0"/>
              <a:t>15-12-2023</a:t>
            </a:fld>
            <a:endParaRPr lang="en-IN"/>
          </a:p>
        </p:txBody>
      </p:sp>
      <p:sp>
        <p:nvSpPr>
          <p:cNvPr id="4" name="Footer Placeholder 3">
            <a:extLst>
              <a:ext uri="{FF2B5EF4-FFF2-40B4-BE49-F238E27FC236}">
                <a16:creationId xmlns:a16="http://schemas.microsoft.com/office/drawing/2014/main" id="{A0BF25B9-0AEF-DCBF-ABF9-4253175B45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2A35412-90F2-7674-2E17-3E1366A297E7}"/>
              </a:ext>
            </a:extLst>
          </p:cNvPr>
          <p:cNvSpPr>
            <a:spLocks noGrp="1"/>
          </p:cNvSpPr>
          <p:nvPr>
            <p:ph type="sldNum" sz="quarter" idx="12"/>
          </p:nvPr>
        </p:nvSpPr>
        <p:spPr/>
        <p:txBody>
          <a:bodyPr/>
          <a:lstStyle/>
          <a:p>
            <a:fld id="{F5A2C24A-F4E9-4F19-B9EF-801CEF604DD6}" type="slidenum">
              <a:rPr lang="en-IN" smtClean="0"/>
              <a:t>‹#›</a:t>
            </a:fld>
            <a:endParaRPr lang="en-IN"/>
          </a:p>
        </p:txBody>
      </p:sp>
    </p:spTree>
    <p:extLst>
      <p:ext uri="{BB962C8B-B14F-4D97-AF65-F5344CB8AC3E}">
        <p14:creationId xmlns:p14="http://schemas.microsoft.com/office/powerpoint/2010/main" val="26413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232648-8870-F4CC-AAB3-B0E11F5CE457}"/>
              </a:ext>
            </a:extLst>
          </p:cNvPr>
          <p:cNvSpPr>
            <a:spLocks noGrp="1"/>
          </p:cNvSpPr>
          <p:nvPr>
            <p:ph type="dt" sz="half" idx="10"/>
          </p:nvPr>
        </p:nvSpPr>
        <p:spPr/>
        <p:txBody>
          <a:bodyPr/>
          <a:lstStyle/>
          <a:p>
            <a:fld id="{9AE764A7-1A47-43B0-AD26-F37194AA0DE6}" type="datetimeFigureOut">
              <a:rPr lang="en-IN" smtClean="0"/>
              <a:t>15-12-2023</a:t>
            </a:fld>
            <a:endParaRPr lang="en-IN"/>
          </a:p>
        </p:txBody>
      </p:sp>
      <p:sp>
        <p:nvSpPr>
          <p:cNvPr id="3" name="Footer Placeholder 2">
            <a:extLst>
              <a:ext uri="{FF2B5EF4-FFF2-40B4-BE49-F238E27FC236}">
                <a16:creationId xmlns:a16="http://schemas.microsoft.com/office/drawing/2014/main" id="{BBCEBFB6-D291-BBD1-01AD-ABBC915705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F161955-4CE6-D4E1-0E0C-36C7F584908B}"/>
              </a:ext>
            </a:extLst>
          </p:cNvPr>
          <p:cNvSpPr>
            <a:spLocks noGrp="1"/>
          </p:cNvSpPr>
          <p:nvPr>
            <p:ph type="sldNum" sz="quarter" idx="12"/>
          </p:nvPr>
        </p:nvSpPr>
        <p:spPr/>
        <p:txBody>
          <a:bodyPr/>
          <a:lstStyle/>
          <a:p>
            <a:fld id="{F5A2C24A-F4E9-4F19-B9EF-801CEF604DD6}" type="slidenum">
              <a:rPr lang="en-IN" smtClean="0"/>
              <a:t>‹#›</a:t>
            </a:fld>
            <a:endParaRPr lang="en-IN"/>
          </a:p>
        </p:txBody>
      </p:sp>
    </p:spTree>
    <p:extLst>
      <p:ext uri="{BB962C8B-B14F-4D97-AF65-F5344CB8AC3E}">
        <p14:creationId xmlns:p14="http://schemas.microsoft.com/office/powerpoint/2010/main" val="2148899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8BE2D-AB62-A822-7265-127147838C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2F513C-353F-1DF5-C18B-C4DD4E9A79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9673DE9-9BBD-15DE-C05C-53505A0D92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9F9C92-4C9A-2134-82B6-22A8B0A760F4}"/>
              </a:ext>
            </a:extLst>
          </p:cNvPr>
          <p:cNvSpPr>
            <a:spLocks noGrp="1"/>
          </p:cNvSpPr>
          <p:nvPr>
            <p:ph type="dt" sz="half" idx="10"/>
          </p:nvPr>
        </p:nvSpPr>
        <p:spPr/>
        <p:txBody>
          <a:bodyPr/>
          <a:lstStyle/>
          <a:p>
            <a:fld id="{9AE764A7-1A47-43B0-AD26-F37194AA0DE6}" type="datetimeFigureOut">
              <a:rPr lang="en-IN" smtClean="0"/>
              <a:t>15-12-2023</a:t>
            </a:fld>
            <a:endParaRPr lang="en-IN"/>
          </a:p>
        </p:txBody>
      </p:sp>
      <p:sp>
        <p:nvSpPr>
          <p:cNvPr id="6" name="Footer Placeholder 5">
            <a:extLst>
              <a:ext uri="{FF2B5EF4-FFF2-40B4-BE49-F238E27FC236}">
                <a16:creationId xmlns:a16="http://schemas.microsoft.com/office/drawing/2014/main" id="{61E8C6A8-9D4D-CE9B-2FF7-993A93150D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D7A92B-D3F5-5341-1CCD-896793EEF8EC}"/>
              </a:ext>
            </a:extLst>
          </p:cNvPr>
          <p:cNvSpPr>
            <a:spLocks noGrp="1"/>
          </p:cNvSpPr>
          <p:nvPr>
            <p:ph type="sldNum" sz="quarter" idx="12"/>
          </p:nvPr>
        </p:nvSpPr>
        <p:spPr/>
        <p:txBody>
          <a:bodyPr/>
          <a:lstStyle/>
          <a:p>
            <a:fld id="{F5A2C24A-F4E9-4F19-B9EF-801CEF604DD6}" type="slidenum">
              <a:rPr lang="en-IN" smtClean="0"/>
              <a:t>‹#›</a:t>
            </a:fld>
            <a:endParaRPr lang="en-IN"/>
          </a:p>
        </p:txBody>
      </p:sp>
    </p:spTree>
    <p:extLst>
      <p:ext uri="{BB962C8B-B14F-4D97-AF65-F5344CB8AC3E}">
        <p14:creationId xmlns:p14="http://schemas.microsoft.com/office/powerpoint/2010/main" val="1059775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B82FE-0487-3DDD-67B2-35425C06C3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FCE7CB-487F-CACE-8A64-FBBD1CB3B3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872C2F2-B5D3-90C4-6819-8311F108E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F1893-04B7-7E48-3E9C-E1E9557F87E5}"/>
              </a:ext>
            </a:extLst>
          </p:cNvPr>
          <p:cNvSpPr>
            <a:spLocks noGrp="1"/>
          </p:cNvSpPr>
          <p:nvPr>
            <p:ph type="dt" sz="half" idx="10"/>
          </p:nvPr>
        </p:nvSpPr>
        <p:spPr/>
        <p:txBody>
          <a:bodyPr/>
          <a:lstStyle/>
          <a:p>
            <a:fld id="{9AE764A7-1A47-43B0-AD26-F37194AA0DE6}" type="datetimeFigureOut">
              <a:rPr lang="en-IN" smtClean="0"/>
              <a:t>15-12-2023</a:t>
            </a:fld>
            <a:endParaRPr lang="en-IN"/>
          </a:p>
        </p:txBody>
      </p:sp>
      <p:sp>
        <p:nvSpPr>
          <p:cNvPr id="6" name="Footer Placeholder 5">
            <a:extLst>
              <a:ext uri="{FF2B5EF4-FFF2-40B4-BE49-F238E27FC236}">
                <a16:creationId xmlns:a16="http://schemas.microsoft.com/office/drawing/2014/main" id="{41D8B3C8-306B-A2D0-1C96-82B1D8C9F3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5BDCA9-57BD-AB9B-451E-79FB8EE361D3}"/>
              </a:ext>
            </a:extLst>
          </p:cNvPr>
          <p:cNvSpPr>
            <a:spLocks noGrp="1"/>
          </p:cNvSpPr>
          <p:nvPr>
            <p:ph type="sldNum" sz="quarter" idx="12"/>
          </p:nvPr>
        </p:nvSpPr>
        <p:spPr/>
        <p:txBody>
          <a:bodyPr/>
          <a:lstStyle/>
          <a:p>
            <a:fld id="{F5A2C24A-F4E9-4F19-B9EF-801CEF604DD6}" type="slidenum">
              <a:rPr lang="en-IN" smtClean="0"/>
              <a:t>‹#›</a:t>
            </a:fld>
            <a:endParaRPr lang="en-IN"/>
          </a:p>
        </p:txBody>
      </p:sp>
    </p:spTree>
    <p:extLst>
      <p:ext uri="{BB962C8B-B14F-4D97-AF65-F5344CB8AC3E}">
        <p14:creationId xmlns:p14="http://schemas.microsoft.com/office/powerpoint/2010/main" val="1643940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50D8C-6DC7-0141-0D45-2E548C09936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ED571D1-CAD7-38E1-891A-D36E377904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992804-A24C-B71B-5723-331CEE85D843}"/>
              </a:ext>
            </a:extLst>
          </p:cNvPr>
          <p:cNvSpPr>
            <a:spLocks noGrp="1"/>
          </p:cNvSpPr>
          <p:nvPr>
            <p:ph type="dt" sz="half" idx="10"/>
          </p:nvPr>
        </p:nvSpPr>
        <p:spPr/>
        <p:txBody>
          <a:bodyPr/>
          <a:lstStyle/>
          <a:p>
            <a:fld id="{9AE764A7-1A47-43B0-AD26-F37194AA0DE6}" type="datetimeFigureOut">
              <a:rPr lang="en-IN" smtClean="0"/>
              <a:t>15-12-2023</a:t>
            </a:fld>
            <a:endParaRPr lang="en-IN"/>
          </a:p>
        </p:txBody>
      </p:sp>
      <p:sp>
        <p:nvSpPr>
          <p:cNvPr id="5" name="Footer Placeholder 4">
            <a:extLst>
              <a:ext uri="{FF2B5EF4-FFF2-40B4-BE49-F238E27FC236}">
                <a16:creationId xmlns:a16="http://schemas.microsoft.com/office/drawing/2014/main" id="{33415D40-3B81-706E-3A5A-1D2A9A158B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A83E4-F021-1591-F896-825397CCB37F}"/>
              </a:ext>
            </a:extLst>
          </p:cNvPr>
          <p:cNvSpPr>
            <a:spLocks noGrp="1"/>
          </p:cNvSpPr>
          <p:nvPr>
            <p:ph type="sldNum" sz="quarter" idx="12"/>
          </p:nvPr>
        </p:nvSpPr>
        <p:spPr/>
        <p:txBody>
          <a:bodyPr/>
          <a:lstStyle/>
          <a:p>
            <a:fld id="{F5A2C24A-F4E9-4F19-B9EF-801CEF604DD6}" type="slidenum">
              <a:rPr lang="en-IN" smtClean="0"/>
              <a:t>‹#›</a:t>
            </a:fld>
            <a:endParaRPr lang="en-IN"/>
          </a:p>
        </p:txBody>
      </p:sp>
    </p:spTree>
    <p:extLst>
      <p:ext uri="{BB962C8B-B14F-4D97-AF65-F5344CB8AC3E}">
        <p14:creationId xmlns:p14="http://schemas.microsoft.com/office/powerpoint/2010/main" val="453632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91BAD6-57E2-52B5-9D3C-2EA172814F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C5AD0B-8536-ED91-C824-7FEB13712F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A1BEB1-81AA-CC12-6639-989784593B29}"/>
              </a:ext>
            </a:extLst>
          </p:cNvPr>
          <p:cNvSpPr>
            <a:spLocks noGrp="1"/>
          </p:cNvSpPr>
          <p:nvPr>
            <p:ph type="dt" sz="half" idx="10"/>
          </p:nvPr>
        </p:nvSpPr>
        <p:spPr/>
        <p:txBody>
          <a:bodyPr/>
          <a:lstStyle/>
          <a:p>
            <a:fld id="{9AE764A7-1A47-43B0-AD26-F37194AA0DE6}" type="datetimeFigureOut">
              <a:rPr lang="en-IN" smtClean="0"/>
              <a:t>15-12-2023</a:t>
            </a:fld>
            <a:endParaRPr lang="en-IN"/>
          </a:p>
        </p:txBody>
      </p:sp>
      <p:sp>
        <p:nvSpPr>
          <p:cNvPr id="5" name="Footer Placeholder 4">
            <a:extLst>
              <a:ext uri="{FF2B5EF4-FFF2-40B4-BE49-F238E27FC236}">
                <a16:creationId xmlns:a16="http://schemas.microsoft.com/office/drawing/2014/main" id="{52F5DBE6-C43B-5CE5-7C27-A7E7F2E4AC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433A27-B401-08BD-EAAB-ECBB2A87CA02}"/>
              </a:ext>
            </a:extLst>
          </p:cNvPr>
          <p:cNvSpPr>
            <a:spLocks noGrp="1"/>
          </p:cNvSpPr>
          <p:nvPr>
            <p:ph type="sldNum" sz="quarter" idx="12"/>
          </p:nvPr>
        </p:nvSpPr>
        <p:spPr/>
        <p:txBody>
          <a:bodyPr/>
          <a:lstStyle/>
          <a:p>
            <a:fld id="{F5A2C24A-F4E9-4F19-B9EF-801CEF604DD6}" type="slidenum">
              <a:rPr lang="en-IN" smtClean="0"/>
              <a:t>‹#›</a:t>
            </a:fld>
            <a:endParaRPr lang="en-IN"/>
          </a:p>
        </p:txBody>
      </p:sp>
    </p:spTree>
    <p:extLst>
      <p:ext uri="{BB962C8B-B14F-4D97-AF65-F5344CB8AC3E}">
        <p14:creationId xmlns:p14="http://schemas.microsoft.com/office/powerpoint/2010/main" val="2812577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895699-87EB-829F-312D-B2D2858B91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ACA420-A96D-12F9-6965-B3F53FE958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D33CE6-5295-6138-DF56-C7224C1CDB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E764A7-1A47-43B0-AD26-F37194AA0DE6}" type="datetimeFigureOut">
              <a:rPr lang="en-IN" smtClean="0"/>
              <a:t>15-12-2023</a:t>
            </a:fld>
            <a:endParaRPr lang="en-IN"/>
          </a:p>
        </p:txBody>
      </p:sp>
      <p:sp>
        <p:nvSpPr>
          <p:cNvPr id="5" name="Footer Placeholder 4">
            <a:extLst>
              <a:ext uri="{FF2B5EF4-FFF2-40B4-BE49-F238E27FC236}">
                <a16:creationId xmlns:a16="http://schemas.microsoft.com/office/drawing/2014/main" id="{75639599-A08E-C17F-FA92-6D8C58A084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1B618F6-EC10-16F3-FD89-91729A70A2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A2C24A-F4E9-4F19-B9EF-801CEF604DD6}" type="slidenum">
              <a:rPr lang="en-IN" smtClean="0"/>
              <a:t>‹#›</a:t>
            </a:fld>
            <a:endParaRPr lang="en-IN"/>
          </a:p>
        </p:txBody>
      </p:sp>
    </p:spTree>
    <p:extLst>
      <p:ext uri="{BB962C8B-B14F-4D97-AF65-F5344CB8AC3E}">
        <p14:creationId xmlns:p14="http://schemas.microsoft.com/office/powerpoint/2010/main" val="1070261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CCD5"/>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ADAE60-2B59-921E-A9AF-62958B6B3431}"/>
              </a:ext>
            </a:extLst>
          </p:cNvPr>
          <p:cNvSpPr txBox="1"/>
          <p:nvPr/>
        </p:nvSpPr>
        <p:spPr>
          <a:xfrm>
            <a:off x="385011" y="192506"/>
            <a:ext cx="11341768" cy="6906506"/>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Jawaharlal Nehru New College of Engineering</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Department of Computer Science and Engineering</a:t>
            </a:r>
          </a:p>
          <a:p>
            <a:pPr marL="0" marR="0" lvl="0" indent="0" algn="ctr" defTabSz="914400" rtl="0" eaLnBrk="1" fontAlgn="auto" latinLnBrk="0" hangingPunct="1">
              <a:lnSpc>
                <a:spcPct val="100000"/>
              </a:lnSpc>
              <a:spcBef>
                <a:spcPct val="0"/>
              </a:spcBef>
              <a:spcAft>
                <a:spcPts val="0"/>
              </a:spcAft>
              <a:buClrTx/>
              <a:buSzTx/>
              <a:buFontTx/>
              <a:buNone/>
              <a:tabLst/>
              <a:defRPr/>
            </a:pPr>
            <a:endParaRPr lang="en-US" b="1">
              <a:solidFill>
                <a:sysClr val="windowText" lastClr="000000"/>
              </a:solidFill>
              <a:latin typeface="Times New Roman" panose="02020603050405020304" pitchFamily="18" charset="0"/>
              <a:ea typeface="Tahoma" panose="020B0604030504040204" pitchFamily="34" charset="0"/>
              <a:cs typeface="Times New Roman" panose="02020603050405020304" pitchFamily="18" charset="0"/>
            </a:endParaRPr>
          </a:p>
          <a:p>
            <a:pPr algn="ctr">
              <a:spcBef>
                <a:spcPct val="0"/>
              </a:spcBef>
              <a:defRPr/>
            </a:pP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rPr>
              <a:t>Project Presentation</a:t>
            </a:r>
          </a:p>
          <a:p>
            <a:pPr marL="0" marR="0" lvl="0" indent="0" algn="ctr" defTabSz="914400" rtl="0" eaLnBrk="1" fontAlgn="auto" latinLnBrk="0" hangingPunct="1">
              <a:lnSpc>
                <a:spcPct val="100000"/>
              </a:lnSpc>
              <a:spcBef>
                <a:spcPct val="0"/>
              </a:spcBef>
              <a:spcAft>
                <a:spcPts val="0"/>
              </a:spcAft>
              <a:buClrTx/>
              <a:buSzTx/>
              <a:buFontTx/>
              <a:buNone/>
              <a:tabLst/>
              <a:defRPr/>
            </a:pPr>
            <a:r>
              <a:rPr lang="en-US" b="1">
                <a:solidFill>
                  <a:sysClr val="windowText" lastClr="000000"/>
                </a:solidFill>
                <a:latin typeface="Times New Roman" panose="02020603050405020304" pitchFamily="18" charset="0"/>
                <a:ea typeface="Tahoma" panose="020B0604030504040204" pitchFamily="34" charset="0"/>
                <a:cs typeface="Times New Roman" panose="02020603050405020304" pitchFamily="18" charset="0"/>
              </a:rPr>
              <a:t>ON</a:t>
            </a:r>
          </a:p>
          <a:p>
            <a:pPr marL="0" marR="0" lvl="0" indent="0" algn="ctr" defTabSz="914400" rtl="0" eaLnBrk="1" fontAlgn="auto" latinLnBrk="0" hangingPunct="1">
              <a:lnSpc>
                <a:spcPct val="100000"/>
              </a:lnSpc>
              <a:spcBef>
                <a:spcPct val="0"/>
              </a:spcBef>
              <a:spcAft>
                <a:spcPts val="0"/>
              </a:spcAft>
              <a:buClrTx/>
              <a:buSzTx/>
              <a:buFontTx/>
              <a:buNone/>
              <a:tabLst/>
              <a:defRPr/>
            </a:pPr>
            <a:r>
              <a:rPr lang="en-US" sz="1800" b="1">
                <a:solidFill>
                  <a:srgbClr val="833C0B"/>
                </a:solidFill>
                <a:effectLst/>
                <a:latin typeface="Times New Roman"/>
                <a:ea typeface="Times New Roman" panose="02020603050405020304" pitchFamily="18" charset="0"/>
                <a:cs typeface="Tunga"/>
              </a:rPr>
              <a:t>“Car Parking Slot Detection Using YOLO Algorithm”</a:t>
            </a:r>
          </a:p>
          <a:p>
            <a:pPr>
              <a:lnSpc>
                <a:spcPct val="140000"/>
              </a:lnSpc>
              <a:tabLst>
                <a:tab pos="3543300" algn="l"/>
              </a:tabLst>
            </a:pPr>
            <a:r>
              <a:rPr lang="en-US" sz="1800" b="1">
                <a:effectLst/>
                <a:latin typeface="Times New Roman" panose="02020603050405020304" pitchFamily="18" charset="0"/>
                <a:ea typeface="Times New Roman" panose="02020603050405020304" pitchFamily="18" charset="0"/>
                <a:cs typeface="Tunga" panose="020B0502040204020203" pitchFamily="34" charset="0"/>
              </a:rPr>
              <a:t>                                                        DEEPTHI B A                                  4JN20CS026</a:t>
            </a:r>
            <a:endParaRPr lang="en-IN" sz="1800">
              <a:effectLst/>
              <a:latin typeface="Times New Roman" panose="02020603050405020304" pitchFamily="18" charset="0"/>
              <a:ea typeface="Times New Roman" panose="02020603050405020304" pitchFamily="18" charset="0"/>
              <a:cs typeface="Tunga" panose="020B0502040204020203" pitchFamily="34" charset="0"/>
            </a:endParaRPr>
          </a:p>
          <a:p>
            <a:pPr>
              <a:lnSpc>
                <a:spcPct val="140000"/>
              </a:lnSpc>
              <a:tabLst>
                <a:tab pos="3543300" algn="l"/>
              </a:tabLst>
            </a:pPr>
            <a:r>
              <a:rPr lang="en-US" sz="1800" b="1">
                <a:effectLst/>
                <a:latin typeface="Times New Roman" panose="02020603050405020304" pitchFamily="18" charset="0"/>
                <a:ea typeface="Times New Roman" panose="02020603050405020304" pitchFamily="18" charset="0"/>
                <a:cs typeface="Tunga" panose="020B0502040204020203" pitchFamily="34" charset="0"/>
              </a:rPr>
              <a:t>                                                        DHANYATHA B                              4JN20CS027</a:t>
            </a:r>
            <a:endParaRPr lang="en-IN" sz="1800">
              <a:effectLst/>
              <a:latin typeface="Times New Roman" panose="02020603050405020304" pitchFamily="18" charset="0"/>
              <a:ea typeface="Times New Roman" panose="02020603050405020304" pitchFamily="18" charset="0"/>
              <a:cs typeface="Tunga" panose="020B0502040204020203" pitchFamily="34" charset="0"/>
            </a:endParaRPr>
          </a:p>
          <a:p>
            <a:pPr>
              <a:lnSpc>
                <a:spcPct val="140000"/>
              </a:lnSpc>
              <a:tabLst>
                <a:tab pos="3543300" algn="l"/>
              </a:tabLst>
            </a:pPr>
            <a:r>
              <a:rPr lang="en-US" sz="1800" b="1">
                <a:effectLst/>
                <a:latin typeface="Times New Roman" panose="02020603050405020304" pitchFamily="18" charset="0"/>
                <a:ea typeface="Times New Roman" panose="02020603050405020304" pitchFamily="18" charset="0"/>
                <a:cs typeface="Tunga" panose="020B0502040204020203" pitchFamily="34" charset="0"/>
              </a:rPr>
              <a:t>                                                        TANMAYEE SHARVANI               4JN20CS111</a:t>
            </a:r>
            <a:endParaRPr lang="en-IN" sz="1800">
              <a:effectLst/>
              <a:latin typeface="Times New Roman" panose="02020603050405020304" pitchFamily="18" charset="0"/>
              <a:ea typeface="Times New Roman" panose="02020603050405020304" pitchFamily="18" charset="0"/>
              <a:cs typeface="Tunga" panose="020B0502040204020203" pitchFamily="34" charset="0"/>
            </a:endParaRPr>
          </a:p>
          <a:p>
            <a:pPr>
              <a:lnSpc>
                <a:spcPct val="140000"/>
              </a:lnSpc>
              <a:tabLst>
                <a:tab pos="3543300" algn="l"/>
              </a:tabLst>
            </a:pPr>
            <a:r>
              <a:rPr lang="en-US" sz="1800" b="1">
                <a:effectLst/>
                <a:latin typeface="Times New Roman" panose="02020603050405020304" pitchFamily="18" charset="0"/>
                <a:ea typeface="Times New Roman" panose="02020603050405020304" pitchFamily="18" charset="0"/>
                <a:cs typeface="Tunga" panose="020B0502040204020203" pitchFamily="34" charset="0"/>
              </a:rPr>
              <a:t>                                                        VARSHITHA H G                           4JN20CS116</a:t>
            </a:r>
            <a:endParaRPr lang="en-IN" sz="1800">
              <a:effectLst/>
              <a:latin typeface="Times New Roman" panose="02020603050405020304" pitchFamily="18" charset="0"/>
              <a:ea typeface="Times New Roman" panose="02020603050405020304" pitchFamily="18" charset="0"/>
              <a:cs typeface="Tunga" panose="020B0502040204020203" pitchFamily="34"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lang="en-US" b="1">
              <a:latin typeface="Times New Roman" panose="02020603050405020304" pitchFamily="18" charset="0"/>
              <a:ea typeface="Tahoma" panose="020B0604030504040204" pitchFamily="34" charset="0"/>
              <a:cs typeface="Times New Roman" panose="02020603050405020304" pitchFamily="18" charset="0"/>
            </a:endParaRPr>
          </a:p>
          <a:p>
            <a:pPr marL="73025" algn="l" rtl="0" eaLnBrk="1" fontAlgn="t" latinLnBrk="0" hangingPunct="1">
              <a:spcBef>
                <a:spcPts val="0"/>
              </a:spcBef>
              <a:spcAft>
                <a:spcPts val="0"/>
              </a:spcAft>
            </a:pPr>
            <a:r>
              <a:rPr kumimoji="0" lang="en-US" sz="1800" b="1" i="0" u="none" strike="noStrike" kern="1200" cap="none" spc="0" normalizeH="0" baseline="0" noProof="0">
                <a:ln>
                  <a:noFill/>
                </a:ln>
                <a:solidFill>
                  <a:sysClr val="windowText" lastClr="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		</a:t>
            </a:r>
            <a:r>
              <a:rPr lang="en-US" b="1">
                <a:solidFill>
                  <a:sysClr val="windowText" lastClr="000000"/>
                </a:solidFill>
                <a:latin typeface="Times New Roman" panose="02020603050405020304" pitchFamily="18" charset="0"/>
                <a:ea typeface="Tahoma" panose="020B0604030504040204" pitchFamily="34" charset="0"/>
                <a:cs typeface="Times New Roman" panose="02020603050405020304" pitchFamily="18" charset="0"/>
              </a:rPr>
              <a:t>	</a:t>
            </a:r>
            <a:r>
              <a:rPr lang="en-IN" sz="1800" b="1" i="0" u="none" strike="noStrike" kern="1200">
                <a:solidFill>
                  <a:srgbClr val="232323"/>
                </a:solidFill>
                <a:effectLst/>
                <a:latin typeface="Times New Roman" panose="02020603050405020304" pitchFamily="18" charset="0"/>
                <a:ea typeface="Tahoma" panose="020B0604030504040204" pitchFamily="34" charset="0"/>
                <a:cs typeface="Times New Roman" panose="02020603050405020304" pitchFamily="18" charset="0"/>
              </a:rPr>
              <a:t>	</a:t>
            </a:r>
            <a:endParaRPr lang="en-IN" sz="1800" b="0" i="0" u="none" strike="noStrike">
              <a:effectLst/>
              <a:latin typeface="Times New Roman" panose="02020603050405020304" pitchFamily="18" charset="0"/>
              <a:ea typeface="Tahoma" panose="020B0604030504040204" pitchFamily="34" charset="0"/>
              <a:cs typeface="Times New Roman" panose="02020603050405020304" pitchFamily="18" charset="0"/>
            </a:endParaRPr>
          </a:p>
          <a:p>
            <a:pPr algn="ctr"/>
            <a:r>
              <a:rPr lang="en-IN" sz="1800" b="1">
                <a:latin typeface="Times New Roman" panose="02020603050405020304" pitchFamily="18" charset="0"/>
                <a:ea typeface="Tahoma" panose="020B0604030504040204" pitchFamily="34" charset="0"/>
                <a:cs typeface="Times New Roman" panose="02020603050405020304" pitchFamily="18" charset="0"/>
              </a:rPr>
              <a:t>Under the guidance of</a:t>
            </a:r>
          </a:p>
          <a:p>
            <a:pPr algn="ctr"/>
            <a:r>
              <a:rPr lang="en-US" b="1">
                <a:solidFill>
                  <a:srgbClr val="1F497D"/>
                </a:solidFill>
                <a:latin typeface="Times New Roman"/>
                <a:ea typeface="Tahoma"/>
                <a:cs typeface="Times New Roman"/>
              </a:rPr>
              <a:t>      </a:t>
            </a:r>
            <a:r>
              <a:rPr lang="en-US" sz="1800" b="1">
                <a:solidFill>
                  <a:srgbClr val="1F497D"/>
                </a:solidFill>
                <a:effectLst/>
                <a:latin typeface="Times New Roman"/>
                <a:ea typeface="Tahoma"/>
                <a:cs typeface="Times New Roman"/>
              </a:rPr>
              <a:t> </a:t>
            </a:r>
            <a:r>
              <a:rPr lang="en-US" sz="1800" b="1" err="1">
                <a:solidFill>
                  <a:srgbClr val="1F497D"/>
                </a:solidFill>
                <a:effectLst/>
                <a:latin typeface="Times New Roman"/>
                <a:ea typeface="Tahoma"/>
                <a:cs typeface="Times New Roman"/>
              </a:rPr>
              <a:t>Mr.Mohan</a:t>
            </a:r>
            <a:r>
              <a:rPr lang="en-US" sz="1800" b="1">
                <a:solidFill>
                  <a:srgbClr val="1F497D"/>
                </a:solidFill>
                <a:effectLst/>
                <a:latin typeface="Times New Roman"/>
                <a:ea typeface="Tahoma"/>
                <a:cs typeface="Times New Roman"/>
              </a:rPr>
              <a:t> H G </a:t>
            </a:r>
            <a:r>
              <a:rPr lang="en-US" sz="1600" baseline="-25000">
                <a:effectLst/>
                <a:latin typeface="Times New Roman"/>
                <a:ea typeface="Tahoma"/>
                <a:cs typeface="Times New Roman"/>
              </a:rPr>
              <a:t>B.E., </a:t>
            </a:r>
            <a:r>
              <a:rPr lang="en-US" sz="1600" baseline="-25000" err="1">
                <a:effectLst/>
                <a:latin typeface="Times New Roman"/>
                <a:ea typeface="Tahoma"/>
                <a:cs typeface="Times New Roman"/>
              </a:rPr>
              <a:t>M.Tech</a:t>
            </a:r>
            <a:r>
              <a:rPr lang="en-US" sz="1600" baseline="-25000">
                <a:latin typeface="Times New Roman"/>
                <a:ea typeface="Tahoma"/>
                <a:cs typeface="Times New Roman"/>
              </a:rPr>
              <a:t>.</a:t>
            </a:r>
            <a:endParaRPr lang="en-US" sz="1600" baseline="-25000">
              <a:effectLst/>
              <a:latin typeface="Times New Roman"/>
              <a:ea typeface="Tahoma"/>
              <a:cs typeface="Times New Roman"/>
            </a:endParaRPr>
          </a:p>
          <a:p>
            <a:pPr algn="ctr"/>
            <a:r>
              <a:rPr lang="en-US" sz="1800">
                <a:effectLst/>
                <a:latin typeface="Times New Roman" panose="02020603050405020304" pitchFamily="18" charset="0"/>
                <a:ea typeface="Tahoma" panose="020B0604030504040204" pitchFamily="34" charset="0"/>
                <a:cs typeface="Times New Roman" panose="02020603050405020304" pitchFamily="18" charset="0"/>
              </a:rPr>
              <a:t>Assistant Professor, Dept. of CS&amp;E</a:t>
            </a:r>
          </a:p>
          <a:p>
            <a:pPr algn="ctr"/>
            <a:endParaRPr lang="en-US">
              <a:latin typeface="Times New Roman" panose="02020603050405020304" pitchFamily="18" charset="0"/>
              <a:ea typeface="Tahoma" panose="020B0604030504040204" pitchFamily="34" charset="0"/>
              <a:cs typeface="Times New Roman" panose="02020603050405020304" pitchFamily="18" charset="0"/>
            </a:endParaRPr>
          </a:p>
          <a:p>
            <a:pPr algn="ctr"/>
            <a:r>
              <a:rPr lang="en-IN" sz="1800" b="1">
                <a:latin typeface="Times New Roman" panose="02020603050405020304" pitchFamily="18" charset="0"/>
                <a:ea typeface="Tahoma" panose="020B0604030504040204" pitchFamily="34" charset="0"/>
                <a:cs typeface="Times New Roman" panose="02020603050405020304" pitchFamily="18" charset="0"/>
              </a:rPr>
              <a:t>Coordinators:</a:t>
            </a:r>
          </a:p>
          <a:p>
            <a:pPr algn="just"/>
            <a:r>
              <a:rPr lang="en-US" sz="1800" b="1">
                <a:solidFill>
                  <a:srgbClr val="1F497D"/>
                </a:solidFill>
                <a:effectLst/>
                <a:latin typeface="Times New Roman"/>
                <a:ea typeface="Tahoma"/>
                <a:cs typeface="Times New Roman"/>
              </a:rPr>
              <a:t>Dr.</a:t>
            </a:r>
            <a:r>
              <a:rPr lang="en-US" b="1">
                <a:solidFill>
                  <a:srgbClr val="1F497D"/>
                </a:solidFill>
                <a:latin typeface="Times New Roman"/>
                <a:ea typeface="Tahoma"/>
                <a:cs typeface="Times New Roman"/>
              </a:rPr>
              <a:t> </a:t>
            </a:r>
            <a:r>
              <a:rPr lang="en-US" sz="1800" b="1">
                <a:solidFill>
                  <a:srgbClr val="1F497D"/>
                </a:solidFill>
                <a:effectLst/>
                <a:latin typeface="Times New Roman"/>
                <a:ea typeface="Tahoma"/>
                <a:cs typeface="Times New Roman"/>
              </a:rPr>
              <a:t> Poornima K M </a:t>
            </a:r>
            <a:r>
              <a:rPr lang="en-US" sz="1600" baseline="-25000">
                <a:effectLst/>
                <a:latin typeface="Times New Roman"/>
                <a:ea typeface="Tahoma"/>
                <a:cs typeface="Times New Roman"/>
              </a:rPr>
              <a:t>B.E., </a:t>
            </a:r>
            <a:r>
              <a:rPr lang="en-US" sz="1600" baseline="-25000" err="1">
                <a:effectLst/>
                <a:latin typeface="Times New Roman"/>
                <a:ea typeface="Tahoma"/>
                <a:cs typeface="Times New Roman"/>
              </a:rPr>
              <a:t>M.Tech</a:t>
            </a:r>
            <a:r>
              <a:rPr lang="en-US" sz="1600" baseline="-25000">
                <a:effectLst/>
                <a:latin typeface="Times New Roman"/>
                <a:ea typeface="Tahoma"/>
                <a:cs typeface="Times New Roman"/>
              </a:rPr>
              <a:t>., Ph.D.</a:t>
            </a:r>
            <a:r>
              <a:rPr lang="en-US" sz="1600">
                <a:effectLst/>
                <a:latin typeface="Times New Roman"/>
                <a:ea typeface="Tahoma"/>
                <a:cs typeface="Times New Roman"/>
              </a:rPr>
              <a:t> 					</a:t>
            </a:r>
            <a:r>
              <a:rPr lang="en-US" sz="1600" b="1" err="1">
                <a:solidFill>
                  <a:srgbClr val="1F497D"/>
                </a:solidFill>
                <a:effectLst/>
                <a:latin typeface="Times New Roman"/>
                <a:ea typeface="Tahoma"/>
                <a:cs typeface="Times New Roman"/>
              </a:rPr>
              <a:t>Mr.Hiriyanna</a:t>
            </a:r>
            <a:r>
              <a:rPr lang="en-US" sz="1600" b="1">
                <a:solidFill>
                  <a:srgbClr val="1F497D"/>
                </a:solidFill>
                <a:effectLst/>
                <a:latin typeface="Times New Roman"/>
                <a:ea typeface="Tahoma"/>
                <a:cs typeface="Times New Roman"/>
              </a:rPr>
              <a:t> G S</a:t>
            </a:r>
            <a:r>
              <a:rPr lang="en-US" sz="1600" b="1" baseline="-25000">
                <a:solidFill>
                  <a:srgbClr val="1F497D"/>
                </a:solidFill>
                <a:effectLst/>
                <a:latin typeface="Times New Roman"/>
                <a:ea typeface="Tahoma"/>
                <a:cs typeface="Times New Roman"/>
              </a:rPr>
              <a:t>. </a:t>
            </a:r>
            <a:r>
              <a:rPr lang="en-US" sz="1400" baseline="-25000">
                <a:effectLst/>
                <a:latin typeface="Times New Roman"/>
                <a:ea typeface="Tahoma"/>
                <a:cs typeface="Times New Roman"/>
              </a:rPr>
              <a:t>B.E., </a:t>
            </a:r>
            <a:r>
              <a:rPr lang="en-US" sz="1400" baseline="-25000" err="1">
                <a:effectLst/>
                <a:latin typeface="Times New Roman"/>
                <a:ea typeface="Tahoma"/>
                <a:cs typeface="Times New Roman"/>
              </a:rPr>
              <a:t>M.Tech</a:t>
            </a:r>
            <a:r>
              <a:rPr lang="en-US" sz="1400" baseline="-25000">
                <a:latin typeface="Times New Roman"/>
                <a:ea typeface="Tahoma"/>
                <a:cs typeface="Times New Roman"/>
              </a:rPr>
              <a:t>. </a:t>
            </a:r>
            <a:endParaRPr lang="en-US" sz="1400" baseline="-25000">
              <a:effectLst/>
              <a:latin typeface="Times New Roman" panose="02020603050405020304" pitchFamily="18" charset="0"/>
              <a:ea typeface="Tahoma" panose="020B0604030504040204" pitchFamily="34" charset="0"/>
              <a:cs typeface="Times New Roman" panose="02020603050405020304" pitchFamily="18" charset="0"/>
            </a:endParaRPr>
          </a:p>
          <a:p>
            <a:pPr algn="just"/>
            <a:r>
              <a:rPr lang="en-US" sz="1600">
                <a:latin typeface="Times New Roman" panose="02020603050405020304" pitchFamily="18" charset="0"/>
                <a:ea typeface="Tahoma" panose="020B0604030504040204" pitchFamily="34" charset="0"/>
                <a:cs typeface="Times New Roman" panose="02020603050405020304" pitchFamily="18" charset="0"/>
              </a:rPr>
              <a:t>Asst. Professor, Dept. of CS&amp;E	</a:t>
            </a:r>
            <a:r>
              <a:rPr lang="en-US" sz="1800">
                <a:effectLst/>
                <a:latin typeface="Times New Roman" panose="02020603050405020304" pitchFamily="18" charset="0"/>
                <a:ea typeface="Tahoma" panose="020B0604030504040204" pitchFamily="34" charset="0"/>
                <a:cs typeface="Times New Roman" panose="02020603050405020304" pitchFamily="18" charset="0"/>
              </a:rPr>
              <a:t>					Professor, Dept. of CS&amp;E</a:t>
            </a:r>
          </a:p>
          <a:p>
            <a:pPr algn="just"/>
            <a:endParaRPr lang="en-IN" sz="1800">
              <a:effectLst/>
              <a:latin typeface="Times New Roman" panose="02020603050405020304" pitchFamily="18" charset="0"/>
              <a:ea typeface="Tahoma" panose="020B0604030504040204" pitchFamily="34" charset="0"/>
              <a:cs typeface="Times New Roman" panose="02020603050405020304" pitchFamily="18" charset="0"/>
            </a:endParaRPr>
          </a:p>
          <a:p>
            <a:pPr algn="just"/>
            <a:r>
              <a:rPr lang="en-US" sz="1800" b="1" err="1">
                <a:solidFill>
                  <a:srgbClr val="1F497D"/>
                </a:solidFill>
                <a:effectLst/>
                <a:latin typeface="Times New Roman"/>
                <a:ea typeface="Tahoma"/>
                <a:cs typeface="Times New Roman"/>
              </a:rPr>
              <a:t>Mrs.Pushpa</a:t>
            </a:r>
            <a:r>
              <a:rPr lang="en-US" b="1">
                <a:solidFill>
                  <a:srgbClr val="1F497D"/>
                </a:solidFill>
                <a:latin typeface="Times New Roman"/>
                <a:ea typeface="Tahoma"/>
                <a:cs typeface="Times New Roman"/>
              </a:rPr>
              <a:t> </a:t>
            </a:r>
            <a:r>
              <a:rPr lang="en-US" sz="1800" b="1">
                <a:solidFill>
                  <a:srgbClr val="1F497D"/>
                </a:solidFill>
                <a:effectLst/>
                <a:latin typeface="Times New Roman"/>
                <a:ea typeface="Tahoma"/>
                <a:cs typeface="Times New Roman"/>
              </a:rPr>
              <a:t> R N</a:t>
            </a:r>
            <a:r>
              <a:rPr lang="en-US" b="1">
                <a:solidFill>
                  <a:srgbClr val="1F497D"/>
                </a:solidFill>
                <a:latin typeface="Times New Roman"/>
                <a:ea typeface="Tahoma"/>
                <a:cs typeface="Times New Roman"/>
              </a:rPr>
              <a:t> </a:t>
            </a:r>
            <a:r>
              <a:rPr lang="en-US" sz="1800" b="1">
                <a:solidFill>
                  <a:srgbClr val="1F497D"/>
                </a:solidFill>
                <a:effectLst/>
                <a:latin typeface="Times New Roman"/>
                <a:ea typeface="Tahoma"/>
                <a:cs typeface="Times New Roman"/>
              </a:rPr>
              <a:t> </a:t>
            </a:r>
            <a:r>
              <a:rPr lang="en-US" sz="1600" baseline="-25000">
                <a:effectLst/>
                <a:latin typeface="Times New Roman"/>
                <a:ea typeface="Tahoma"/>
                <a:cs typeface="Times New Roman"/>
              </a:rPr>
              <a:t>B.E., </a:t>
            </a:r>
            <a:r>
              <a:rPr lang="en-US" sz="1600" baseline="-25000" err="1">
                <a:effectLst/>
                <a:latin typeface="Times New Roman"/>
                <a:ea typeface="Tahoma"/>
                <a:cs typeface="Times New Roman"/>
              </a:rPr>
              <a:t>M.Tech</a:t>
            </a:r>
            <a:r>
              <a:rPr lang="en-US" sz="1600" baseline="-25000">
                <a:effectLst/>
                <a:latin typeface="Times New Roman"/>
                <a:ea typeface="Tahoma"/>
                <a:cs typeface="Times New Roman"/>
              </a:rPr>
              <a:t>.</a:t>
            </a:r>
            <a:r>
              <a:rPr lang="en-US" sz="1600" baseline="-25000">
                <a:latin typeface="Times New Roman"/>
                <a:ea typeface="Tahoma"/>
                <a:cs typeface="Times New Roman"/>
              </a:rPr>
              <a:t>	                                                                                                                                         </a:t>
            </a:r>
            <a:r>
              <a:rPr lang="en-US" sz="1600" b="1" err="1">
                <a:solidFill>
                  <a:srgbClr val="1F497D"/>
                </a:solidFill>
                <a:latin typeface="Times New Roman"/>
                <a:ea typeface="Tahoma"/>
                <a:cs typeface="Times New Roman"/>
              </a:rPr>
              <a:t>Dr</a:t>
            </a:r>
            <a:r>
              <a:rPr lang="en-US" sz="1600" b="1" err="1">
                <a:solidFill>
                  <a:srgbClr val="1F497D"/>
                </a:solidFill>
                <a:effectLst/>
                <a:latin typeface="Times New Roman"/>
                <a:ea typeface="Tahoma"/>
                <a:cs typeface="Times New Roman"/>
              </a:rPr>
              <a:t>.Ganavi</a:t>
            </a:r>
            <a:r>
              <a:rPr lang="en-US" sz="1600" b="1">
                <a:solidFill>
                  <a:srgbClr val="1F497D"/>
                </a:solidFill>
                <a:latin typeface="Times New Roman"/>
                <a:ea typeface="Tahoma"/>
                <a:cs typeface="Times New Roman"/>
              </a:rPr>
              <a:t> </a:t>
            </a:r>
            <a:r>
              <a:rPr lang="en-US" sz="1600" b="1">
                <a:solidFill>
                  <a:srgbClr val="1F497D"/>
                </a:solidFill>
                <a:effectLst/>
                <a:latin typeface="Times New Roman"/>
                <a:ea typeface="Tahoma"/>
                <a:cs typeface="Times New Roman"/>
              </a:rPr>
              <a:t> M </a:t>
            </a:r>
            <a:r>
              <a:rPr lang="en-US" sz="1400" baseline="-25000">
                <a:effectLst/>
                <a:latin typeface="Times New Roman"/>
                <a:ea typeface="Tahoma"/>
                <a:cs typeface="Times New Roman"/>
              </a:rPr>
              <a:t>B.E., </a:t>
            </a:r>
            <a:r>
              <a:rPr lang="en-US" sz="1400" baseline="-25000" err="1">
                <a:effectLst/>
                <a:latin typeface="Times New Roman"/>
                <a:ea typeface="Tahoma"/>
                <a:cs typeface="Times New Roman"/>
              </a:rPr>
              <a:t>M.Tech</a:t>
            </a:r>
            <a:r>
              <a:rPr lang="en-US" sz="1400" baseline="-25000">
                <a:effectLst/>
                <a:latin typeface="Times New Roman"/>
                <a:ea typeface="Tahoma"/>
                <a:cs typeface="Times New Roman"/>
              </a:rPr>
              <a:t>., </a:t>
            </a:r>
            <a:r>
              <a:rPr lang="en-US" sz="1400" baseline="-25000" err="1">
                <a:effectLst/>
                <a:latin typeface="Times New Roman"/>
                <a:ea typeface="Tahoma"/>
                <a:cs typeface="Times New Roman"/>
              </a:rPr>
              <a:t>Ph.D</a:t>
            </a:r>
            <a:endParaRPr lang="en-US" sz="1400" baseline="-25000">
              <a:effectLst/>
              <a:latin typeface="Times New Roman" panose="02020603050405020304" pitchFamily="18" charset="0"/>
              <a:ea typeface="Tahoma" panose="020B0604030504040204" pitchFamily="34" charset="0"/>
              <a:cs typeface="Times New Roman" panose="02020603050405020304" pitchFamily="18" charset="0"/>
            </a:endParaRPr>
          </a:p>
          <a:p>
            <a:pPr algn="just"/>
            <a:r>
              <a:rPr lang="en-US" sz="1600">
                <a:effectLst/>
                <a:latin typeface="Times New Roman" panose="02020603050405020304" pitchFamily="18" charset="0"/>
                <a:ea typeface="Tahoma" panose="020B0604030504040204" pitchFamily="34" charset="0"/>
                <a:cs typeface="Times New Roman" panose="02020603050405020304" pitchFamily="18" charset="0"/>
              </a:rPr>
              <a:t>Asst. Professor, Dept. of CS&amp;E</a:t>
            </a:r>
            <a:r>
              <a:rPr lang="en-US" sz="1600" baseline="-25000">
                <a:latin typeface="Times New Roman" panose="02020603050405020304" pitchFamily="18" charset="0"/>
                <a:ea typeface="Tahoma" panose="020B0604030504040204" pitchFamily="34" charset="0"/>
                <a:cs typeface="Times New Roman" panose="02020603050405020304" pitchFamily="18" charset="0"/>
              </a:rPr>
              <a:t> 						</a:t>
            </a:r>
            <a:r>
              <a:rPr lang="en-US" sz="1800">
                <a:effectLst/>
                <a:latin typeface="Times New Roman" panose="02020603050405020304" pitchFamily="18" charset="0"/>
                <a:ea typeface="Tahoma" panose="020B0604030504040204" pitchFamily="34" charset="0"/>
                <a:cs typeface="Times New Roman" panose="02020603050405020304" pitchFamily="18" charset="0"/>
              </a:rPr>
              <a:t>Asst. Professor, Dept. of CS&amp;E</a:t>
            </a:r>
            <a:endParaRPr lang="en-IN" sz="1800">
              <a:effectLst/>
              <a:latin typeface="Times New Roman" panose="02020603050405020304" pitchFamily="18" charset="0"/>
              <a:ea typeface="Tahoma" panose="020B0604030504040204" pitchFamily="34" charset="0"/>
              <a:cs typeface="Times New Roman" panose="02020603050405020304" pitchFamily="18" charset="0"/>
            </a:endParaRPr>
          </a:p>
          <a:p>
            <a:endParaRPr lang="en-IN"/>
          </a:p>
        </p:txBody>
      </p:sp>
      <p:pic>
        <p:nvPicPr>
          <p:cNvPr id="3" name="Picture 2" descr="A logo of a college of engineering&#10;&#10;Description automatically generated">
            <a:extLst>
              <a:ext uri="{FF2B5EF4-FFF2-40B4-BE49-F238E27FC236}">
                <a16:creationId xmlns:a16="http://schemas.microsoft.com/office/drawing/2014/main" id="{ED9C5F65-9BFE-21A5-45D3-275056BBCCCF}"/>
              </a:ext>
            </a:extLst>
          </p:cNvPr>
          <p:cNvPicPr>
            <a:picLocks noChangeAspect="1"/>
          </p:cNvPicPr>
          <p:nvPr/>
        </p:nvPicPr>
        <p:blipFill>
          <a:blip r:embed="rId2"/>
          <a:stretch>
            <a:fillRect/>
          </a:stretch>
        </p:blipFill>
        <p:spPr>
          <a:xfrm>
            <a:off x="582714" y="189425"/>
            <a:ext cx="1440118" cy="1440118"/>
          </a:xfrm>
          <a:prstGeom prst="rect">
            <a:avLst/>
          </a:prstGeom>
        </p:spPr>
      </p:pic>
      <p:pic>
        <p:nvPicPr>
          <p:cNvPr id="5" name="Picture 2" descr="https://jonnasuresh.files.wordpress.com/2013/03/vtu-logo.png">
            <a:extLst>
              <a:ext uri="{FF2B5EF4-FFF2-40B4-BE49-F238E27FC236}">
                <a16:creationId xmlns:a16="http://schemas.microsoft.com/office/drawing/2014/main" id="{C1D6A739-1389-BDAA-A446-3C1F309A8E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57732" y="189425"/>
            <a:ext cx="1299063" cy="116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5242078"/>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CCD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F5172-825D-1F07-30A4-2881AC0954B1}"/>
              </a:ext>
            </a:extLst>
          </p:cNvPr>
          <p:cNvSpPr>
            <a:spLocks noGrp="1"/>
          </p:cNvSpPr>
          <p:nvPr>
            <p:ph type="title"/>
          </p:nvPr>
        </p:nvSpPr>
        <p:spPr/>
        <p:txBody>
          <a:bodyPr>
            <a:normAutofit/>
          </a:bodyPr>
          <a:lstStyle/>
          <a:p>
            <a:pPr algn="ctr"/>
            <a:r>
              <a:rPr lang="en-IN" sz="3000" b="1">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EC5390D8-B83B-A3A8-DB7D-81EA41E3C93E}"/>
              </a:ext>
            </a:extLst>
          </p:cNvPr>
          <p:cNvSpPr>
            <a:spLocks noGrp="1"/>
          </p:cNvSpPr>
          <p:nvPr>
            <p:ph idx="1"/>
          </p:nvPr>
        </p:nvSpPr>
        <p:spPr/>
        <p:txBody>
          <a:bodyPr vert="horz" lIns="91440" tIns="45720" rIns="91440" bIns="45720" rtlCol="0" anchor="t">
            <a:normAutofit/>
          </a:bodyPr>
          <a:lstStyle/>
          <a:p>
            <a:pPr>
              <a:buFont typeface="Wingdings" panose="05000000000000000000" pitchFamily="2" charset="2"/>
              <a:buChar char="Ø"/>
            </a:pPr>
            <a:r>
              <a:rPr lang="en-IN" sz="2000" dirty="0">
                <a:latin typeface="Times New Roman"/>
                <a:cs typeface="Times New Roman"/>
              </a:rPr>
              <a:t>Abstract</a:t>
            </a:r>
          </a:p>
          <a:p>
            <a:pPr>
              <a:buFont typeface="Wingdings" panose="05000000000000000000" pitchFamily="2" charset="2"/>
              <a:buChar char="Ø"/>
            </a:pPr>
            <a:r>
              <a:rPr lang="en-IN" sz="2000" dirty="0">
                <a:latin typeface="Times New Roman"/>
                <a:cs typeface="Times New Roman"/>
              </a:rPr>
              <a:t>Introduction</a:t>
            </a:r>
          </a:p>
          <a:p>
            <a:pPr>
              <a:buFont typeface="Wingdings" panose="05000000000000000000" pitchFamily="2" charset="2"/>
              <a:buChar char="Ø"/>
            </a:pPr>
            <a:r>
              <a:rPr lang="en-IN" sz="2000" dirty="0">
                <a:latin typeface="Times New Roman"/>
                <a:cs typeface="Times New Roman"/>
              </a:rPr>
              <a:t>Literature Survey</a:t>
            </a:r>
          </a:p>
          <a:p>
            <a:pPr>
              <a:buFont typeface="Wingdings" panose="05000000000000000000" pitchFamily="2" charset="2"/>
              <a:buChar char="Ø"/>
            </a:pPr>
            <a:r>
              <a:rPr lang="en-IN" sz="2000">
                <a:latin typeface="Times New Roman"/>
                <a:cs typeface="Times New Roman"/>
              </a:rPr>
              <a:t>Motivation </a:t>
            </a:r>
          </a:p>
          <a:p>
            <a:pPr>
              <a:buFont typeface="Wingdings" panose="05000000000000000000" pitchFamily="2" charset="2"/>
              <a:buChar char="Ø"/>
            </a:pPr>
            <a:r>
              <a:rPr lang="en-IN" sz="2000" dirty="0">
                <a:latin typeface="Times New Roman"/>
                <a:cs typeface="Times New Roman"/>
              </a:rPr>
              <a:t>Problem Statement</a:t>
            </a:r>
            <a:endParaRPr lang="en-IN" dirty="0"/>
          </a:p>
          <a:p>
            <a:pPr>
              <a:buFont typeface="Wingdings" panose="05000000000000000000" pitchFamily="2" charset="2"/>
              <a:buChar char="Ø"/>
            </a:pPr>
            <a:r>
              <a:rPr lang="en-IN" sz="2000" dirty="0">
                <a:latin typeface="Times New Roman"/>
                <a:cs typeface="Times New Roman"/>
              </a:rPr>
              <a:t>Objectives</a:t>
            </a:r>
          </a:p>
          <a:p>
            <a:pPr>
              <a:buFont typeface="Wingdings" panose="05000000000000000000" pitchFamily="2" charset="2"/>
              <a:buChar char="Ø"/>
            </a:pPr>
            <a:r>
              <a:rPr lang="en-IN" sz="2000" dirty="0">
                <a:latin typeface="Times New Roman"/>
                <a:cs typeface="Times New Roman"/>
              </a:rPr>
              <a:t>System Architecture</a:t>
            </a:r>
          </a:p>
          <a:p>
            <a:pPr>
              <a:buFont typeface="Wingdings" panose="05000000000000000000" pitchFamily="2" charset="2"/>
              <a:buChar char="Ø"/>
            </a:pPr>
            <a:r>
              <a:rPr lang="en-IN" sz="2000" dirty="0">
                <a:latin typeface="Times New Roman"/>
                <a:cs typeface="Times New Roman"/>
              </a:rPr>
              <a:t>Conclusion</a:t>
            </a:r>
          </a:p>
          <a:p>
            <a:pPr>
              <a:buFont typeface="Wingdings" panose="05000000000000000000" pitchFamily="2" charset="2"/>
              <a:buChar char="Ø"/>
            </a:pPr>
            <a:r>
              <a:rPr lang="en-IN" sz="2000" dirty="0">
                <a:latin typeface="Times New Roman"/>
                <a:cs typeface="Times New Roman"/>
              </a:rPr>
              <a:t>References</a:t>
            </a:r>
          </a:p>
        </p:txBody>
      </p:sp>
      <p:pic>
        <p:nvPicPr>
          <p:cNvPr id="8" name="Picture 7">
            <a:extLst>
              <a:ext uri="{FF2B5EF4-FFF2-40B4-BE49-F238E27FC236}">
                <a16:creationId xmlns:a16="http://schemas.microsoft.com/office/drawing/2014/main" id="{271D25FE-A6CA-3D8D-4AA0-C2CD6BFCF0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5812" y="3429000"/>
            <a:ext cx="6191250" cy="4095750"/>
          </a:xfrm>
          <a:prstGeom prst="flowChartConnector">
            <a:avLst/>
          </a:prstGeom>
        </p:spPr>
      </p:pic>
    </p:spTree>
    <p:extLst>
      <p:ext uri="{BB962C8B-B14F-4D97-AF65-F5344CB8AC3E}">
        <p14:creationId xmlns:p14="http://schemas.microsoft.com/office/powerpoint/2010/main" val="29110730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CCD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AD62B-47BB-DC3F-A38C-72509EAC3B9D}"/>
              </a:ext>
            </a:extLst>
          </p:cNvPr>
          <p:cNvSpPr>
            <a:spLocks noGrp="1"/>
          </p:cNvSpPr>
          <p:nvPr>
            <p:ph type="title"/>
          </p:nvPr>
        </p:nvSpPr>
        <p:spPr>
          <a:xfrm>
            <a:off x="2022475" y="133349"/>
            <a:ext cx="7950200" cy="729459"/>
          </a:xfrm>
        </p:spPr>
        <p:txBody>
          <a:bodyPr>
            <a:normAutofit/>
          </a:bodyPr>
          <a:lstStyle/>
          <a:p>
            <a:pPr algn="ctr"/>
            <a:r>
              <a:rPr lang="en-IN" sz="3000" b="1">
                <a:latin typeface="Times New Roman" panose="02020603050405020304" pitchFamily="18" charset="0"/>
                <a:cs typeface="Times New Roman" panose="02020603050405020304" pitchFamily="18" charset="0"/>
              </a:rPr>
              <a:t>ABSTRACT</a:t>
            </a:r>
          </a:p>
        </p:txBody>
      </p:sp>
      <p:sp>
        <p:nvSpPr>
          <p:cNvPr id="3" name="Text Placeholder 2">
            <a:extLst>
              <a:ext uri="{FF2B5EF4-FFF2-40B4-BE49-F238E27FC236}">
                <a16:creationId xmlns:a16="http://schemas.microsoft.com/office/drawing/2014/main" id="{222F78B1-4F40-9C51-2A35-068A9C3AF0DE}"/>
              </a:ext>
            </a:extLst>
          </p:cNvPr>
          <p:cNvSpPr>
            <a:spLocks noGrp="1"/>
          </p:cNvSpPr>
          <p:nvPr>
            <p:ph type="body" idx="1"/>
          </p:nvPr>
        </p:nvSpPr>
        <p:spPr>
          <a:xfrm>
            <a:off x="831850" y="1262859"/>
            <a:ext cx="10636250" cy="4826791"/>
          </a:xfrm>
        </p:spPr>
        <p:txBody>
          <a:bodyPr vert="horz" lIns="91440" tIns="45720" rIns="91440" bIns="45720" rtlCol="0" anchor="t">
            <a:normAutofit/>
          </a:bodyPr>
          <a:lstStyle/>
          <a:p>
            <a:pPr algn="just">
              <a:lnSpc>
                <a:spcPct val="150000"/>
              </a:lnSpc>
            </a:pPr>
            <a:r>
              <a:rPr lang="en-US" sz="1800">
                <a:solidFill>
                  <a:schemeClr val="tx1"/>
                </a:solidFill>
                <a:latin typeface="Times New Roman"/>
                <a:ea typeface="+mn-lt"/>
                <a:cs typeface="+mn-lt"/>
              </a:rPr>
              <a:t>Finding free slots in the parking area has become a major problem that the modern society is facing nowadays, which also leads to traffic overcrowding at the parking area. As the number of vehicles are increasing at a quick rate find parking slots has become difficult. In traditional parking system, a person has to find vacant slot or a gate keeper needs to inform about the available parking slot at parking area. To address this issue, a system is designed, where the user will be able to know the number of vacant slots in a particular parking area along with total number of slots at the entrance of the parking area. Today's most popular object detection model YOLO, is trained to achieve desired results with good precision scores at real-time speed. The model will be getting all the parking slots that are present in the parking area, to which marking boxes are drawn around for training. Real time processing is performed on the obtained data by the model to find whether the slot is vacant or occupied. Thus, it gives the information of available vacant slots to park the car at parking area. </a:t>
            </a:r>
            <a:endParaRPr lang="en-US" sz="1800">
              <a:solidFill>
                <a:schemeClr val="tx1"/>
              </a:solidFill>
              <a:latin typeface="Times New Roman"/>
              <a:cs typeface="Calibri"/>
            </a:endParaRPr>
          </a:p>
          <a:p>
            <a:pPr algn="just">
              <a:lnSpc>
                <a:spcPct val="150000"/>
              </a:lnSpc>
            </a:pPr>
            <a:endParaRPr lang="en-US" sz="1800">
              <a:solidFill>
                <a:schemeClr val="tx1"/>
              </a:solidFill>
              <a:latin typeface="Times New Roman"/>
              <a:cs typeface="Times New Roman"/>
            </a:endParaRPr>
          </a:p>
        </p:txBody>
      </p:sp>
    </p:spTree>
    <p:extLst>
      <p:ext uri="{BB962C8B-B14F-4D97-AF65-F5344CB8AC3E}">
        <p14:creationId xmlns:p14="http://schemas.microsoft.com/office/powerpoint/2010/main" val="24198007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CCD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AD62B-47BB-DC3F-A38C-72509EAC3B9D}"/>
              </a:ext>
            </a:extLst>
          </p:cNvPr>
          <p:cNvSpPr>
            <a:spLocks noGrp="1"/>
          </p:cNvSpPr>
          <p:nvPr>
            <p:ph type="ctrTitle"/>
          </p:nvPr>
        </p:nvSpPr>
        <p:spPr>
          <a:xfrm>
            <a:off x="1689588" y="184637"/>
            <a:ext cx="8629650" cy="766763"/>
          </a:xfrm>
        </p:spPr>
        <p:txBody>
          <a:bodyPr>
            <a:normAutofit/>
          </a:bodyPr>
          <a:lstStyle/>
          <a:p>
            <a:pPr algn="ctr"/>
            <a:r>
              <a:rPr lang="en-IN" sz="3000" b="1">
                <a:latin typeface="Times New Roman" panose="02020603050405020304" pitchFamily="18" charset="0"/>
                <a:cs typeface="Times New Roman" panose="02020603050405020304" pitchFamily="18" charset="0"/>
              </a:rPr>
              <a:t>INTRODUCTION</a:t>
            </a:r>
          </a:p>
        </p:txBody>
      </p:sp>
      <p:sp>
        <p:nvSpPr>
          <p:cNvPr id="6" name="Subtitle 5">
            <a:extLst>
              <a:ext uri="{FF2B5EF4-FFF2-40B4-BE49-F238E27FC236}">
                <a16:creationId xmlns:a16="http://schemas.microsoft.com/office/drawing/2014/main" id="{FE89D298-AFBD-B0F1-FE6C-BFC96FEC5F8B}"/>
              </a:ext>
            </a:extLst>
          </p:cNvPr>
          <p:cNvSpPr>
            <a:spLocks noGrp="1"/>
          </p:cNvSpPr>
          <p:nvPr>
            <p:ph type="subTitle" idx="1"/>
          </p:nvPr>
        </p:nvSpPr>
        <p:spPr>
          <a:xfrm>
            <a:off x="498230" y="946637"/>
            <a:ext cx="11199201" cy="5492262"/>
          </a:xfrm>
        </p:spPr>
        <p:txBody>
          <a:bodyPr vert="horz" lIns="91440" tIns="45720" rIns="91440" bIns="45720" rtlCol="0" anchor="t">
            <a:normAutofit fontScale="92500" lnSpcReduction="20000"/>
          </a:bodyPr>
          <a:lstStyle/>
          <a:p>
            <a:pPr algn="just">
              <a:lnSpc>
                <a:spcPct val="150000"/>
              </a:lnSpc>
            </a:pPr>
            <a:r>
              <a:rPr lang="en-US" sz="2000" b="1">
                <a:latin typeface="Times New Roman"/>
                <a:cs typeface="Times New Roman"/>
              </a:rPr>
              <a:t>Object Detection</a:t>
            </a:r>
            <a:endParaRPr lang="en-US" sz="2000">
              <a:ea typeface="Calibri" panose="020F0502020204030204"/>
              <a:cs typeface="Calibri" panose="020F0502020204030204"/>
            </a:endParaRPr>
          </a:p>
          <a:p>
            <a:pPr algn="just">
              <a:lnSpc>
                <a:spcPct val="150000"/>
              </a:lnSpc>
            </a:pPr>
            <a:r>
              <a:rPr lang="en-US" sz="1800" b="1">
                <a:latin typeface="Times New Roman"/>
                <a:cs typeface="Times New Roman"/>
              </a:rPr>
              <a:t>  </a:t>
            </a:r>
            <a:r>
              <a:rPr lang="en-US" sz="1800">
                <a:latin typeface="Times New Roman"/>
                <a:cs typeface="Times New Roman"/>
              </a:rPr>
              <a:t>Object detection is a computer technology that deals with finding instances of semantic items of a specific class (such as individuals, buildings, or cars) in digital photos and videos. It is related to computer vision and image processing. </a:t>
            </a:r>
            <a:endParaRPr lang="en-US">
              <a:ea typeface="Calibri" panose="020F0502020204030204"/>
              <a:cs typeface="Calibri" panose="020F0502020204030204"/>
            </a:endParaRPr>
          </a:p>
          <a:p>
            <a:pPr algn="just">
              <a:lnSpc>
                <a:spcPct val="150000"/>
              </a:lnSpc>
            </a:pPr>
            <a:r>
              <a:rPr lang="en-US" sz="2000" b="1">
                <a:latin typeface="Times New Roman"/>
                <a:cs typeface="Times New Roman"/>
              </a:rPr>
              <a:t>Computer vision </a:t>
            </a:r>
            <a:endParaRPr lang="en-US" sz="2000">
              <a:ea typeface="Calibri" panose="020F0502020204030204"/>
              <a:cs typeface="Calibri" panose="020F0502020204030204"/>
            </a:endParaRPr>
          </a:p>
          <a:p>
            <a:pPr algn="just">
              <a:lnSpc>
                <a:spcPct val="150000"/>
              </a:lnSpc>
            </a:pPr>
            <a:r>
              <a:rPr lang="en-US" sz="1800" b="1">
                <a:latin typeface="Times New Roman"/>
                <a:cs typeface="Times New Roman"/>
              </a:rPr>
              <a:t>  </a:t>
            </a:r>
            <a:r>
              <a:rPr lang="en-US" sz="1800">
                <a:latin typeface="Times New Roman"/>
                <a:cs typeface="Times New Roman"/>
              </a:rPr>
              <a:t>Computer vision is a field that explores how computers interpret and analyze visual information like images or videos. It seeks to replicate human visual abilities through techniques that capture, process, and understand digital images, extracting meaningful data for various applications, such as making decisions or recognizing patterns.</a:t>
            </a:r>
            <a:endParaRPr lang="en-US">
              <a:ea typeface="Calibri" panose="020F0502020204030204"/>
              <a:cs typeface="Calibri" panose="020F0502020204030204"/>
            </a:endParaRPr>
          </a:p>
          <a:p>
            <a:pPr algn="just">
              <a:lnSpc>
                <a:spcPct val="150000"/>
              </a:lnSpc>
            </a:pPr>
            <a:r>
              <a:rPr lang="en-US" sz="2000" b="1">
                <a:latin typeface="Times New Roman"/>
                <a:cs typeface="Times New Roman"/>
              </a:rPr>
              <a:t>YOLO</a:t>
            </a:r>
            <a:endParaRPr lang="en-US" sz="2000">
              <a:ea typeface="Calibri" panose="020F0502020204030204"/>
              <a:cs typeface="Calibri" panose="020F0502020204030204"/>
            </a:endParaRPr>
          </a:p>
          <a:p>
            <a:pPr algn="just">
              <a:lnSpc>
                <a:spcPct val="150000"/>
              </a:lnSpc>
            </a:pPr>
            <a:r>
              <a:rPr lang="en-US" sz="1800" b="1">
                <a:latin typeface="Times New Roman"/>
                <a:cs typeface="Times New Roman"/>
              </a:rPr>
              <a:t>  </a:t>
            </a:r>
            <a:r>
              <a:rPr lang="en-US" sz="1800">
                <a:latin typeface="Times New Roman"/>
                <a:cs typeface="Times New Roman"/>
              </a:rPr>
              <a:t>YOLO (You Only Look Once) is an object detection algorithm that operates by dividing an image into a grid and predicts bounding boxes and class probabilities for objects within each grid cell. Unlike traditional methods that classify objects and then perform localization, YOLO does both tasks simultaneously in a single pass through the neural network. This approach makes YOLO extremely fast and capable of real-time object detection in images and videos. The YOLO series includes various versions such as YOLOv1, YOLOv2, YOLOv3, YOLOv4, YOLOv5, YOLOv6, YOLOv7 and YOLOv8.</a:t>
            </a:r>
            <a:endParaRPr lang="en-US">
              <a:ea typeface="Calibri" panose="020F0502020204030204"/>
              <a:cs typeface="Calibri" panose="020F0502020204030204"/>
            </a:endParaRPr>
          </a:p>
          <a:p>
            <a:pPr algn="just">
              <a:lnSpc>
                <a:spcPct val="150000"/>
              </a:lnSpc>
            </a:pPr>
            <a:endParaRPr lang="en-US">
              <a:latin typeface="Times New Roman"/>
              <a:cs typeface="Times New Roman"/>
            </a:endParaRPr>
          </a:p>
        </p:txBody>
      </p:sp>
    </p:spTree>
    <p:extLst>
      <p:ext uri="{BB962C8B-B14F-4D97-AF65-F5344CB8AC3E}">
        <p14:creationId xmlns:p14="http://schemas.microsoft.com/office/powerpoint/2010/main" val="4132019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CCD5"/>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59ACF1A-4201-42AB-802B-3C3F574D62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Freeform: Shape 10">
            <a:extLst>
              <a:ext uri="{FF2B5EF4-FFF2-40B4-BE49-F238E27FC236}">
                <a16:creationId xmlns:a16="http://schemas.microsoft.com/office/drawing/2014/main" id="{0E483B02-53E3-29C9-C5F2-6DC8B560189C}"/>
              </a:ext>
            </a:extLst>
          </p:cNvPr>
          <p:cNvSpPr/>
          <p:nvPr/>
        </p:nvSpPr>
        <p:spPr>
          <a:xfrm>
            <a:off x="0" y="0"/>
            <a:ext cx="12192000" cy="6858000"/>
          </a:xfrm>
          <a:custGeom>
            <a:avLst/>
            <a:gdLst/>
            <a:ahLst/>
            <a:cxnLst/>
            <a:rect l="l" t="t" r="r" b="b"/>
            <a:pathLst>
              <a:path w="12192000" h="6858000">
                <a:moveTo>
                  <a:pt x="3541027" y="2824926"/>
                </a:moveTo>
                <a:lnTo>
                  <a:pt x="3604725" y="2824926"/>
                </a:lnTo>
                <a:cubicBezTo>
                  <a:pt x="3668622" y="2824926"/>
                  <a:pt x="3714957" y="2839611"/>
                  <a:pt x="3743731" y="2868980"/>
                </a:cubicBezTo>
                <a:cubicBezTo>
                  <a:pt x="3772504" y="2898348"/>
                  <a:pt x="3786890" y="2943790"/>
                  <a:pt x="3786890" y="3005306"/>
                </a:cubicBezTo>
                <a:cubicBezTo>
                  <a:pt x="3786890" y="3047771"/>
                  <a:pt x="3779052" y="3082200"/>
                  <a:pt x="3763376" y="3108593"/>
                </a:cubicBezTo>
                <a:cubicBezTo>
                  <a:pt x="3747699" y="3134985"/>
                  <a:pt x="3726169" y="3153241"/>
                  <a:pt x="3698784" y="3163362"/>
                </a:cubicBezTo>
                <a:cubicBezTo>
                  <a:pt x="3671400" y="3173482"/>
                  <a:pt x="3630125" y="3178542"/>
                  <a:pt x="3574959" y="3178542"/>
                </a:cubicBezTo>
                <a:lnTo>
                  <a:pt x="3541027" y="3178542"/>
                </a:lnTo>
                <a:close/>
                <a:moveTo>
                  <a:pt x="5752017" y="2781468"/>
                </a:moveTo>
                <a:lnTo>
                  <a:pt x="5752017" y="2803495"/>
                </a:lnTo>
                <a:cubicBezTo>
                  <a:pt x="5777814" y="2803892"/>
                  <a:pt x="5798451" y="2810143"/>
                  <a:pt x="5813929" y="2822247"/>
                </a:cubicBezTo>
                <a:cubicBezTo>
                  <a:pt x="5829408" y="2834352"/>
                  <a:pt x="5855998" y="2874536"/>
                  <a:pt x="5893701" y="2942798"/>
                </a:cubicBezTo>
                <a:lnTo>
                  <a:pt x="6083606" y="3288675"/>
                </a:lnTo>
                <a:lnTo>
                  <a:pt x="6083606" y="3450600"/>
                </a:lnTo>
                <a:cubicBezTo>
                  <a:pt x="6083606" y="3491081"/>
                  <a:pt x="6081423" y="3516084"/>
                  <a:pt x="6077058" y="3525609"/>
                </a:cubicBezTo>
                <a:cubicBezTo>
                  <a:pt x="6071104" y="3539103"/>
                  <a:pt x="6062969" y="3548628"/>
                  <a:pt x="6052650" y="3554184"/>
                </a:cubicBezTo>
                <a:cubicBezTo>
                  <a:pt x="6038759" y="3562518"/>
                  <a:pt x="6019908" y="3566685"/>
                  <a:pt x="5996095" y="3566685"/>
                </a:cubicBezTo>
                <a:lnTo>
                  <a:pt x="5953828" y="3566685"/>
                </a:lnTo>
                <a:lnTo>
                  <a:pt x="5953828" y="3588712"/>
                </a:lnTo>
                <a:lnTo>
                  <a:pt x="6406860" y="3588712"/>
                </a:lnTo>
                <a:lnTo>
                  <a:pt x="6406860" y="3566685"/>
                </a:lnTo>
                <a:lnTo>
                  <a:pt x="6361617" y="3566685"/>
                </a:lnTo>
                <a:cubicBezTo>
                  <a:pt x="6340185" y="3566685"/>
                  <a:pt x="6323021" y="3562816"/>
                  <a:pt x="6310122" y="3555077"/>
                </a:cubicBezTo>
                <a:cubicBezTo>
                  <a:pt x="6297224" y="3547338"/>
                  <a:pt x="6288592" y="3538408"/>
                  <a:pt x="6284226" y="3528288"/>
                </a:cubicBezTo>
                <a:cubicBezTo>
                  <a:pt x="6279861" y="3518167"/>
                  <a:pt x="6277678" y="3492271"/>
                  <a:pt x="6277678" y="3450600"/>
                </a:cubicBezTo>
                <a:lnTo>
                  <a:pt x="6277678" y="3255337"/>
                </a:lnTo>
                <a:lnTo>
                  <a:pt x="6452699" y="2963039"/>
                </a:lnTo>
                <a:cubicBezTo>
                  <a:pt x="6495562" y="2888823"/>
                  <a:pt x="6526915" y="2843381"/>
                  <a:pt x="6546759" y="2826712"/>
                </a:cubicBezTo>
                <a:cubicBezTo>
                  <a:pt x="6561046" y="2814806"/>
                  <a:pt x="6581485" y="2807067"/>
                  <a:pt x="6608076" y="2803495"/>
                </a:cubicBezTo>
                <a:lnTo>
                  <a:pt x="6608076" y="2781468"/>
                </a:lnTo>
                <a:lnTo>
                  <a:pt x="6361617" y="2781468"/>
                </a:lnTo>
                <a:lnTo>
                  <a:pt x="6361617" y="2803495"/>
                </a:lnTo>
                <a:cubicBezTo>
                  <a:pt x="6397732" y="2805479"/>
                  <a:pt x="6422537" y="2811432"/>
                  <a:pt x="6436031" y="2821354"/>
                </a:cubicBezTo>
                <a:cubicBezTo>
                  <a:pt x="6446350" y="2828498"/>
                  <a:pt x="6451509" y="2837428"/>
                  <a:pt x="6451509" y="2848143"/>
                </a:cubicBezTo>
                <a:cubicBezTo>
                  <a:pt x="6451509" y="2867590"/>
                  <a:pt x="6433451" y="2907080"/>
                  <a:pt x="6397335" y="2966611"/>
                </a:cubicBezTo>
                <a:lnTo>
                  <a:pt x="6252079" y="3210093"/>
                </a:lnTo>
                <a:lnTo>
                  <a:pt x="6106228" y="2942798"/>
                </a:lnTo>
                <a:cubicBezTo>
                  <a:pt x="6074478" y="2885251"/>
                  <a:pt x="6058603" y="2849334"/>
                  <a:pt x="6058603" y="2835047"/>
                </a:cubicBezTo>
                <a:cubicBezTo>
                  <a:pt x="6058603" y="2827506"/>
                  <a:pt x="6063266" y="2820362"/>
                  <a:pt x="6072593" y="2813615"/>
                </a:cubicBezTo>
                <a:cubicBezTo>
                  <a:pt x="6081919" y="2806868"/>
                  <a:pt x="6098290" y="2803495"/>
                  <a:pt x="6121706" y="2803495"/>
                </a:cubicBezTo>
                <a:lnTo>
                  <a:pt x="6138970" y="2803495"/>
                </a:lnTo>
                <a:lnTo>
                  <a:pt x="6138970" y="2781468"/>
                </a:lnTo>
                <a:close/>
                <a:moveTo>
                  <a:pt x="4956084" y="2781468"/>
                </a:moveTo>
                <a:lnTo>
                  <a:pt x="4956084" y="2803495"/>
                </a:lnTo>
                <a:lnTo>
                  <a:pt x="4982873" y="2803495"/>
                </a:lnTo>
                <a:cubicBezTo>
                  <a:pt x="5009068" y="2803495"/>
                  <a:pt x="5029705" y="2809051"/>
                  <a:pt x="5044786" y="2820164"/>
                </a:cubicBezTo>
                <a:cubicBezTo>
                  <a:pt x="5055501" y="2827704"/>
                  <a:pt x="5062843" y="2838420"/>
                  <a:pt x="5066812" y="2852311"/>
                </a:cubicBezTo>
                <a:cubicBezTo>
                  <a:pt x="5068797" y="2860645"/>
                  <a:pt x="5069789" y="2883068"/>
                  <a:pt x="5069789" y="2919581"/>
                </a:cubicBezTo>
                <a:lnTo>
                  <a:pt x="5069789" y="3450600"/>
                </a:lnTo>
                <a:cubicBezTo>
                  <a:pt x="5069789" y="3491081"/>
                  <a:pt x="5067606" y="3516084"/>
                  <a:pt x="5063240" y="3525609"/>
                </a:cubicBezTo>
                <a:cubicBezTo>
                  <a:pt x="5057684" y="3539103"/>
                  <a:pt x="5049747" y="3548628"/>
                  <a:pt x="5039428" y="3554184"/>
                </a:cubicBezTo>
                <a:cubicBezTo>
                  <a:pt x="5025140" y="3562518"/>
                  <a:pt x="5006290" y="3566685"/>
                  <a:pt x="4982873" y="3566685"/>
                </a:cubicBezTo>
                <a:lnTo>
                  <a:pt x="4956084" y="3566685"/>
                </a:lnTo>
                <a:lnTo>
                  <a:pt x="4956084" y="3588712"/>
                </a:lnTo>
                <a:lnTo>
                  <a:pt x="5653791" y="3588712"/>
                </a:lnTo>
                <a:lnTo>
                  <a:pt x="5690104" y="3332132"/>
                </a:lnTo>
                <a:lnTo>
                  <a:pt x="5668078" y="3332132"/>
                </a:lnTo>
                <a:cubicBezTo>
                  <a:pt x="5648235" y="3403570"/>
                  <a:pt x="5615591" y="3456751"/>
                  <a:pt x="5570149" y="3491676"/>
                </a:cubicBezTo>
                <a:cubicBezTo>
                  <a:pt x="5524707" y="3526601"/>
                  <a:pt x="5464282" y="3544064"/>
                  <a:pt x="5388876" y="3544064"/>
                </a:cubicBezTo>
                <a:lnTo>
                  <a:pt x="5340656" y="3544064"/>
                </a:lnTo>
                <a:cubicBezTo>
                  <a:pt x="5317638" y="3544064"/>
                  <a:pt x="5300968" y="3540889"/>
                  <a:pt x="5290650" y="3534539"/>
                </a:cubicBezTo>
                <a:cubicBezTo>
                  <a:pt x="5280331" y="3528189"/>
                  <a:pt x="5273286" y="3520053"/>
                  <a:pt x="5269516" y="3510131"/>
                </a:cubicBezTo>
                <a:cubicBezTo>
                  <a:pt x="5265746" y="3500209"/>
                  <a:pt x="5263861" y="3473023"/>
                  <a:pt x="5263861" y="3428573"/>
                </a:cubicBezTo>
                <a:lnTo>
                  <a:pt x="5263861" y="3201164"/>
                </a:lnTo>
                <a:cubicBezTo>
                  <a:pt x="5302357" y="3201164"/>
                  <a:pt x="5331726" y="3206224"/>
                  <a:pt x="5351967" y="3216344"/>
                </a:cubicBezTo>
                <a:cubicBezTo>
                  <a:pt x="5372207" y="3226464"/>
                  <a:pt x="5389968" y="3246209"/>
                  <a:pt x="5405247" y="3275578"/>
                </a:cubicBezTo>
                <a:cubicBezTo>
                  <a:pt x="5420527" y="3304947"/>
                  <a:pt x="5430548" y="3342650"/>
                  <a:pt x="5435311" y="3388687"/>
                </a:cubicBezTo>
                <a:lnTo>
                  <a:pt x="5457932" y="3388687"/>
                </a:lnTo>
                <a:lnTo>
                  <a:pt x="5457932" y="2966015"/>
                </a:lnTo>
                <a:lnTo>
                  <a:pt x="5435311" y="2966015"/>
                </a:lnTo>
                <a:cubicBezTo>
                  <a:pt x="5428961" y="3028721"/>
                  <a:pt x="5414276" y="3076148"/>
                  <a:pt x="5391257" y="3108295"/>
                </a:cubicBezTo>
                <a:cubicBezTo>
                  <a:pt x="5368239" y="3140442"/>
                  <a:pt x="5331131" y="3156515"/>
                  <a:pt x="5279935" y="3156515"/>
                </a:cubicBezTo>
                <a:lnTo>
                  <a:pt x="5263861" y="3156515"/>
                </a:lnTo>
                <a:lnTo>
                  <a:pt x="5263861" y="2827903"/>
                </a:lnTo>
                <a:lnTo>
                  <a:pt x="5347204" y="2827903"/>
                </a:lnTo>
                <a:cubicBezTo>
                  <a:pt x="5408323" y="2827903"/>
                  <a:pt x="5449995" y="2831475"/>
                  <a:pt x="5472220" y="2838619"/>
                </a:cubicBezTo>
                <a:cubicBezTo>
                  <a:pt x="5510321" y="2850525"/>
                  <a:pt x="5539788" y="2869178"/>
                  <a:pt x="5560624" y="2894578"/>
                </a:cubicBezTo>
                <a:cubicBezTo>
                  <a:pt x="5581460" y="2919978"/>
                  <a:pt x="5597632" y="2961848"/>
                  <a:pt x="5609142" y="3020189"/>
                </a:cubicBezTo>
                <a:lnTo>
                  <a:pt x="5631764" y="3020189"/>
                </a:lnTo>
                <a:lnTo>
                  <a:pt x="5631764" y="2781468"/>
                </a:lnTo>
                <a:close/>
                <a:moveTo>
                  <a:pt x="4064901" y="2781468"/>
                </a:moveTo>
                <a:lnTo>
                  <a:pt x="4064901" y="2803495"/>
                </a:lnTo>
                <a:cubicBezTo>
                  <a:pt x="4096255" y="2807067"/>
                  <a:pt x="4117587" y="2815600"/>
                  <a:pt x="4128898" y="2829093"/>
                </a:cubicBezTo>
                <a:cubicBezTo>
                  <a:pt x="4140208" y="2842587"/>
                  <a:pt x="4162533" y="2888029"/>
                  <a:pt x="4195870" y="2965420"/>
                </a:cubicBezTo>
                <a:lnTo>
                  <a:pt x="4472690" y="3607167"/>
                </a:lnTo>
                <a:lnTo>
                  <a:pt x="4492336" y="3607167"/>
                </a:lnTo>
                <a:lnTo>
                  <a:pt x="4770346" y="2990423"/>
                </a:lnTo>
                <a:cubicBezTo>
                  <a:pt x="4803287" y="2917001"/>
                  <a:pt x="4828092" y="2870369"/>
                  <a:pt x="4844761" y="2850525"/>
                </a:cubicBezTo>
                <a:cubicBezTo>
                  <a:pt x="4867779" y="2823934"/>
                  <a:pt x="4893974" y="2808258"/>
                  <a:pt x="4923342" y="2803495"/>
                </a:cubicBezTo>
                <a:lnTo>
                  <a:pt x="4923342" y="2781468"/>
                </a:lnTo>
                <a:lnTo>
                  <a:pt x="4658428" y="2781468"/>
                </a:lnTo>
                <a:lnTo>
                  <a:pt x="4658428" y="2803495"/>
                </a:lnTo>
                <a:cubicBezTo>
                  <a:pt x="4686606" y="2803495"/>
                  <a:pt x="4709228" y="2806868"/>
                  <a:pt x="4726294" y="2813615"/>
                </a:cubicBezTo>
                <a:cubicBezTo>
                  <a:pt x="4738596" y="2818378"/>
                  <a:pt x="4747923" y="2825323"/>
                  <a:pt x="4754273" y="2834451"/>
                </a:cubicBezTo>
                <a:cubicBezTo>
                  <a:pt x="4760623" y="2843579"/>
                  <a:pt x="4763798" y="2854097"/>
                  <a:pt x="4763798" y="2866003"/>
                </a:cubicBezTo>
                <a:cubicBezTo>
                  <a:pt x="4763798" y="2876322"/>
                  <a:pt x="4761615" y="2888823"/>
                  <a:pt x="4757250" y="2903508"/>
                </a:cubicBezTo>
                <a:cubicBezTo>
                  <a:pt x="4752884" y="2918192"/>
                  <a:pt x="4741177" y="2947164"/>
                  <a:pt x="4722126" y="2990423"/>
                </a:cubicBezTo>
                <a:lnTo>
                  <a:pt x="4562582" y="3348206"/>
                </a:lnTo>
                <a:lnTo>
                  <a:pt x="4390537" y="2946370"/>
                </a:lnTo>
                <a:cubicBezTo>
                  <a:pt x="4372282" y="2903904"/>
                  <a:pt x="4361565" y="2877810"/>
                  <a:pt x="4358390" y="2868086"/>
                </a:cubicBezTo>
                <a:cubicBezTo>
                  <a:pt x="4355216" y="2858363"/>
                  <a:pt x="4353628" y="2849929"/>
                  <a:pt x="4353628" y="2842786"/>
                </a:cubicBezTo>
                <a:cubicBezTo>
                  <a:pt x="4353628" y="2831276"/>
                  <a:pt x="4358192" y="2822545"/>
                  <a:pt x="4367321" y="2816592"/>
                </a:cubicBezTo>
                <a:cubicBezTo>
                  <a:pt x="4380021" y="2807861"/>
                  <a:pt x="4403833" y="2803495"/>
                  <a:pt x="4438757" y="2803495"/>
                </a:cubicBezTo>
                <a:lnTo>
                  <a:pt x="4451854" y="2803495"/>
                </a:lnTo>
                <a:lnTo>
                  <a:pt x="4451854" y="2781468"/>
                </a:lnTo>
                <a:close/>
                <a:moveTo>
                  <a:pt x="3239798" y="2781468"/>
                </a:moveTo>
                <a:lnTo>
                  <a:pt x="3239798" y="2803495"/>
                </a:lnTo>
                <a:cubicBezTo>
                  <a:pt x="3276708" y="2803495"/>
                  <a:pt x="3301910" y="2806868"/>
                  <a:pt x="3315403" y="2813615"/>
                </a:cubicBezTo>
                <a:cubicBezTo>
                  <a:pt x="3328897" y="2820362"/>
                  <a:pt x="3338322" y="2829391"/>
                  <a:pt x="3343680" y="2840702"/>
                </a:cubicBezTo>
                <a:cubicBezTo>
                  <a:pt x="3349038" y="2852013"/>
                  <a:pt x="3351717" y="2879497"/>
                  <a:pt x="3351717" y="2923153"/>
                </a:cubicBezTo>
                <a:lnTo>
                  <a:pt x="3351717" y="3447028"/>
                </a:lnTo>
                <a:cubicBezTo>
                  <a:pt x="3351717" y="3490684"/>
                  <a:pt x="3349038" y="3518068"/>
                  <a:pt x="3343680" y="3529181"/>
                </a:cubicBezTo>
                <a:cubicBezTo>
                  <a:pt x="3338322" y="3540293"/>
                  <a:pt x="3328996" y="3549322"/>
                  <a:pt x="3315701" y="3556267"/>
                </a:cubicBezTo>
                <a:cubicBezTo>
                  <a:pt x="3302405" y="3563213"/>
                  <a:pt x="3277105" y="3566685"/>
                  <a:pt x="3239798" y="3566685"/>
                </a:cubicBezTo>
                <a:lnTo>
                  <a:pt x="3239798" y="3588712"/>
                </a:lnTo>
                <a:lnTo>
                  <a:pt x="3652945" y="3588712"/>
                </a:lnTo>
                <a:lnTo>
                  <a:pt x="3652945" y="3566685"/>
                </a:lnTo>
                <a:cubicBezTo>
                  <a:pt x="3616036" y="3566685"/>
                  <a:pt x="3590835" y="3563312"/>
                  <a:pt x="3577341" y="3556565"/>
                </a:cubicBezTo>
                <a:cubicBezTo>
                  <a:pt x="3563847" y="3549818"/>
                  <a:pt x="3554421" y="3540789"/>
                  <a:pt x="3549063" y="3529478"/>
                </a:cubicBezTo>
                <a:cubicBezTo>
                  <a:pt x="3543705" y="3518167"/>
                  <a:pt x="3541027" y="3490684"/>
                  <a:pt x="3541027" y="3447028"/>
                </a:cubicBezTo>
                <a:lnTo>
                  <a:pt x="3541027" y="3220809"/>
                </a:lnTo>
                <a:lnTo>
                  <a:pt x="3594009" y="3220809"/>
                </a:lnTo>
                <a:lnTo>
                  <a:pt x="3854161" y="3588712"/>
                </a:lnTo>
                <a:lnTo>
                  <a:pt x="4108359" y="3588712"/>
                </a:lnTo>
                <a:lnTo>
                  <a:pt x="4108359" y="3566685"/>
                </a:lnTo>
                <a:cubicBezTo>
                  <a:pt x="4086928" y="3565495"/>
                  <a:pt x="4068077" y="3558748"/>
                  <a:pt x="4051805" y="3546445"/>
                </a:cubicBezTo>
                <a:cubicBezTo>
                  <a:pt x="4041089" y="3537714"/>
                  <a:pt x="4023031" y="3515687"/>
                  <a:pt x="3997631" y="3480365"/>
                </a:cubicBezTo>
                <a:lnTo>
                  <a:pt x="3803559" y="3207117"/>
                </a:lnTo>
                <a:cubicBezTo>
                  <a:pt x="3852772" y="3194814"/>
                  <a:pt x="3891070" y="3176359"/>
                  <a:pt x="3918455" y="3151753"/>
                </a:cubicBezTo>
                <a:cubicBezTo>
                  <a:pt x="3961317" y="3112859"/>
                  <a:pt x="3982748" y="3063647"/>
                  <a:pt x="3982748" y="3004115"/>
                </a:cubicBezTo>
                <a:cubicBezTo>
                  <a:pt x="3982748" y="2955300"/>
                  <a:pt x="3968461" y="2912735"/>
                  <a:pt x="3939886" y="2876421"/>
                </a:cubicBezTo>
                <a:cubicBezTo>
                  <a:pt x="3911311" y="2840107"/>
                  <a:pt x="3874402" y="2815203"/>
                  <a:pt x="3829158" y="2801709"/>
                </a:cubicBezTo>
                <a:cubicBezTo>
                  <a:pt x="3783914" y="2788215"/>
                  <a:pt x="3712476" y="2781468"/>
                  <a:pt x="3614845" y="2781468"/>
                </a:cubicBezTo>
                <a:close/>
                <a:moveTo>
                  <a:pt x="2369452" y="2781468"/>
                </a:moveTo>
                <a:lnTo>
                  <a:pt x="2369452" y="2803495"/>
                </a:lnTo>
                <a:cubicBezTo>
                  <a:pt x="2403583" y="2803098"/>
                  <a:pt x="2426998" y="2806273"/>
                  <a:pt x="2439699" y="2813020"/>
                </a:cubicBezTo>
                <a:cubicBezTo>
                  <a:pt x="2452399" y="2819767"/>
                  <a:pt x="2461328" y="2828796"/>
                  <a:pt x="2466487" y="2840107"/>
                </a:cubicBezTo>
                <a:cubicBezTo>
                  <a:pt x="2471647" y="2851418"/>
                  <a:pt x="2474226" y="2880290"/>
                  <a:pt x="2474226" y="2926725"/>
                </a:cubicBezTo>
                <a:lnTo>
                  <a:pt x="2474226" y="3322012"/>
                </a:lnTo>
                <a:cubicBezTo>
                  <a:pt x="2474226" y="3389084"/>
                  <a:pt x="2484942" y="3442464"/>
                  <a:pt x="2506373" y="3482151"/>
                </a:cubicBezTo>
                <a:cubicBezTo>
                  <a:pt x="2527804" y="3521839"/>
                  <a:pt x="2564515" y="3554382"/>
                  <a:pt x="2616506" y="3579782"/>
                </a:cubicBezTo>
                <a:cubicBezTo>
                  <a:pt x="2654606" y="3598436"/>
                  <a:pt x="2708581" y="3607762"/>
                  <a:pt x="2778431" y="3607762"/>
                </a:cubicBezTo>
                <a:cubicBezTo>
                  <a:pt x="2862172" y="3607762"/>
                  <a:pt x="2928251" y="3590101"/>
                  <a:pt x="2976671" y="3554779"/>
                </a:cubicBezTo>
                <a:cubicBezTo>
                  <a:pt x="3025089" y="3519458"/>
                  <a:pt x="3055549" y="3480762"/>
                  <a:pt x="3068050" y="3438693"/>
                </a:cubicBezTo>
                <a:cubicBezTo>
                  <a:pt x="3080552" y="3396625"/>
                  <a:pt x="3086803" y="3328164"/>
                  <a:pt x="3086803" y="3233311"/>
                </a:cubicBezTo>
                <a:lnTo>
                  <a:pt x="3086803" y="2926725"/>
                </a:lnTo>
                <a:cubicBezTo>
                  <a:pt x="3086803" y="2893784"/>
                  <a:pt x="3089383" y="2870964"/>
                  <a:pt x="3094542" y="2858264"/>
                </a:cubicBezTo>
                <a:cubicBezTo>
                  <a:pt x="3101289" y="2840008"/>
                  <a:pt x="3112204" y="2826315"/>
                  <a:pt x="3127285" y="2817187"/>
                </a:cubicBezTo>
                <a:cubicBezTo>
                  <a:pt x="3142366" y="2808059"/>
                  <a:pt x="3161217" y="2803495"/>
                  <a:pt x="3183839" y="2803495"/>
                </a:cubicBezTo>
                <a:lnTo>
                  <a:pt x="3200508" y="2803495"/>
                </a:lnTo>
                <a:lnTo>
                  <a:pt x="3200508" y="2781468"/>
                </a:lnTo>
                <a:lnTo>
                  <a:pt x="2921306" y="2781468"/>
                </a:lnTo>
                <a:lnTo>
                  <a:pt x="2921306" y="2803495"/>
                </a:lnTo>
                <a:cubicBezTo>
                  <a:pt x="2953850" y="2803495"/>
                  <a:pt x="2979052" y="2808059"/>
                  <a:pt x="2996911" y="2817187"/>
                </a:cubicBezTo>
                <a:cubicBezTo>
                  <a:pt x="3008421" y="2823140"/>
                  <a:pt x="3017946" y="2833856"/>
                  <a:pt x="3025486" y="2849334"/>
                </a:cubicBezTo>
                <a:cubicBezTo>
                  <a:pt x="3033026" y="2864812"/>
                  <a:pt x="3036797" y="2890609"/>
                  <a:pt x="3036797" y="2926725"/>
                </a:cubicBezTo>
                <a:lnTo>
                  <a:pt x="3036797" y="3255932"/>
                </a:lnTo>
                <a:cubicBezTo>
                  <a:pt x="3036797" y="3341658"/>
                  <a:pt x="3029157" y="3401784"/>
                  <a:pt x="3013877" y="3436312"/>
                </a:cubicBezTo>
                <a:cubicBezTo>
                  <a:pt x="2998598" y="3470840"/>
                  <a:pt x="2975579" y="3497927"/>
                  <a:pt x="2944821" y="3517572"/>
                </a:cubicBezTo>
                <a:cubicBezTo>
                  <a:pt x="2914063" y="3537217"/>
                  <a:pt x="2876857" y="3547040"/>
                  <a:pt x="2833200" y="3547040"/>
                </a:cubicBezTo>
                <a:cubicBezTo>
                  <a:pt x="2795100" y="3547040"/>
                  <a:pt x="2763548" y="3539301"/>
                  <a:pt x="2738545" y="3523823"/>
                </a:cubicBezTo>
                <a:cubicBezTo>
                  <a:pt x="2713542" y="3508345"/>
                  <a:pt x="2695583" y="3488898"/>
                  <a:pt x="2684669" y="3465482"/>
                </a:cubicBezTo>
                <a:cubicBezTo>
                  <a:pt x="2673756" y="3442067"/>
                  <a:pt x="2668298" y="3394243"/>
                  <a:pt x="2668298" y="3322012"/>
                </a:cubicBezTo>
                <a:lnTo>
                  <a:pt x="2668298" y="2926725"/>
                </a:lnTo>
                <a:cubicBezTo>
                  <a:pt x="2668298" y="2880687"/>
                  <a:pt x="2670779" y="2851914"/>
                  <a:pt x="2675740" y="2840404"/>
                </a:cubicBezTo>
                <a:cubicBezTo>
                  <a:pt x="2680701" y="2828895"/>
                  <a:pt x="2689035" y="2819866"/>
                  <a:pt x="2700743" y="2813318"/>
                </a:cubicBezTo>
                <a:cubicBezTo>
                  <a:pt x="2712451" y="2806769"/>
                  <a:pt x="2733981" y="2803495"/>
                  <a:pt x="2765335" y="2803495"/>
                </a:cubicBezTo>
                <a:lnTo>
                  <a:pt x="2786170" y="2803495"/>
                </a:lnTo>
                <a:lnTo>
                  <a:pt x="2786170" y="2781468"/>
                </a:lnTo>
                <a:close/>
                <a:moveTo>
                  <a:pt x="1977736" y="2763014"/>
                </a:moveTo>
                <a:cubicBezTo>
                  <a:pt x="1905901" y="2763014"/>
                  <a:pt x="1846370" y="2785636"/>
                  <a:pt x="1799142" y="2830880"/>
                </a:cubicBezTo>
                <a:cubicBezTo>
                  <a:pt x="1751914" y="2876123"/>
                  <a:pt x="1728300" y="2930892"/>
                  <a:pt x="1728300" y="2995186"/>
                </a:cubicBezTo>
                <a:cubicBezTo>
                  <a:pt x="1728300" y="3032889"/>
                  <a:pt x="1736932" y="3067417"/>
                  <a:pt x="1754196" y="3098770"/>
                </a:cubicBezTo>
                <a:cubicBezTo>
                  <a:pt x="1771460" y="3130123"/>
                  <a:pt x="1796165" y="3158500"/>
                  <a:pt x="1828312" y="3183900"/>
                </a:cubicBezTo>
                <a:cubicBezTo>
                  <a:pt x="1860459" y="3209300"/>
                  <a:pt x="1913244" y="3240057"/>
                  <a:pt x="1986665" y="3276173"/>
                </a:cubicBezTo>
                <a:cubicBezTo>
                  <a:pt x="2039053" y="3301970"/>
                  <a:pt x="2075565" y="3322905"/>
                  <a:pt x="2096203" y="3338979"/>
                </a:cubicBezTo>
                <a:cubicBezTo>
                  <a:pt x="2116841" y="3355052"/>
                  <a:pt x="2132219" y="3372018"/>
                  <a:pt x="2142340" y="3389878"/>
                </a:cubicBezTo>
                <a:cubicBezTo>
                  <a:pt x="2152460" y="3407737"/>
                  <a:pt x="2157520" y="3426192"/>
                  <a:pt x="2157520" y="3445242"/>
                </a:cubicBezTo>
                <a:cubicBezTo>
                  <a:pt x="2157520" y="3477389"/>
                  <a:pt x="2144324" y="3505567"/>
                  <a:pt x="2117932" y="3529776"/>
                </a:cubicBezTo>
                <a:cubicBezTo>
                  <a:pt x="2091540" y="3553986"/>
                  <a:pt x="2056119" y="3566090"/>
                  <a:pt x="2011669" y="3566090"/>
                </a:cubicBezTo>
                <a:cubicBezTo>
                  <a:pt x="1954122" y="3566090"/>
                  <a:pt x="1900444" y="3543568"/>
                  <a:pt x="1850637" y="3498522"/>
                </a:cubicBezTo>
                <a:cubicBezTo>
                  <a:pt x="1800829" y="3453477"/>
                  <a:pt x="1767194" y="3388092"/>
                  <a:pt x="1749731" y="3302367"/>
                </a:cubicBezTo>
                <a:lnTo>
                  <a:pt x="1727705" y="3302367"/>
                </a:lnTo>
                <a:lnTo>
                  <a:pt x="1727705" y="3607167"/>
                </a:lnTo>
                <a:lnTo>
                  <a:pt x="1749731" y="3607167"/>
                </a:lnTo>
                <a:cubicBezTo>
                  <a:pt x="1756875" y="3590895"/>
                  <a:pt x="1766201" y="3578790"/>
                  <a:pt x="1777711" y="3570853"/>
                </a:cubicBezTo>
                <a:cubicBezTo>
                  <a:pt x="1789220" y="3562915"/>
                  <a:pt x="1800134" y="3558946"/>
                  <a:pt x="1810453" y="3558946"/>
                </a:cubicBezTo>
                <a:cubicBezTo>
                  <a:pt x="1822756" y="3558946"/>
                  <a:pt x="1838433" y="3562915"/>
                  <a:pt x="1857483" y="3570853"/>
                </a:cubicBezTo>
                <a:cubicBezTo>
                  <a:pt x="1891614" y="3585140"/>
                  <a:pt x="1919990" y="3594864"/>
                  <a:pt x="1942612" y="3600023"/>
                </a:cubicBezTo>
                <a:cubicBezTo>
                  <a:pt x="1965234" y="3605183"/>
                  <a:pt x="1989245" y="3607762"/>
                  <a:pt x="2014645" y="3607762"/>
                </a:cubicBezTo>
                <a:cubicBezTo>
                  <a:pt x="2095607" y="3607762"/>
                  <a:pt x="2162382" y="3583454"/>
                  <a:pt x="2214968" y="3534836"/>
                </a:cubicBezTo>
                <a:cubicBezTo>
                  <a:pt x="2267554" y="3486219"/>
                  <a:pt x="2293847" y="3428176"/>
                  <a:pt x="2293847" y="3360707"/>
                </a:cubicBezTo>
                <a:cubicBezTo>
                  <a:pt x="2293847" y="3307526"/>
                  <a:pt x="2277575" y="3260298"/>
                  <a:pt x="2245031" y="3219023"/>
                </a:cubicBezTo>
                <a:cubicBezTo>
                  <a:pt x="2212091" y="3177748"/>
                  <a:pt x="2148392" y="3133893"/>
                  <a:pt x="2053936" y="3087459"/>
                </a:cubicBezTo>
                <a:cubicBezTo>
                  <a:pt x="1986467" y="3054122"/>
                  <a:pt x="1943406" y="3030905"/>
                  <a:pt x="1924753" y="3017807"/>
                </a:cubicBezTo>
                <a:cubicBezTo>
                  <a:pt x="1899353" y="2999551"/>
                  <a:pt x="1880898" y="2981097"/>
                  <a:pt x="1869389" y="2962443"/>
                </a:cubicBezTo>
                <a:cubicBezTo>
                  <a:pt x="1861055" y="2948553"/>
                  <a:pt x="1856887" y="2932678"/>
                  <a:pt x="1856887" y="2914819"/>
                </a:cubicBezTo>
                <a:cubicBezTo>
                  <a:pt x="1856887" y="2886640"/>
                  <a:pt x="1868694" y="2861736"/>
                  <a:pt x="1892308" y="2840107"/>
                </a:cubicBezTo>
                <a:cubicBezTo>
                  <a:pt x="1915923" y="2818477"/>
                  <a:pt x="1947970" y="2807662"/>
                  <a:pt x="1988451" y="2807662"/>
                </a:cubicBezTo>
                <a:cubicBezTo>
                  <a:pt x="2040839" y="2807662"/>
                  <a:pt x="2089555" y="2828200"/>
                  <a:pt x="2134601" y="2869277"/>
                </a:cubicBezTo>
                <a:cubicBezTo>
                  <a:pt x="2179646" y="2910354"/>
                  <a:pt x="2207923" y="2964626"/>
                  <a:pt x="2219433" y="3032095"/>
                </a:cubicBezTo>
                <a:lnTo>
                  <a:pt x="2243840" y="3032095"/>
                </a:lnTo>
                <a:lnTo>
                  <a:pt x="2237292" y="2763014"/>
                </a:lnTo>
                <a:lnTo>
                  <a:pt x="2219433" y="2763014"/>
                </a:lnTo>
                <a:cubicBezTo>
                  <a:pt x="2214273" y="2787223"/>
                  <a:pt x="2208717" y="2802503"/>
                  <a:pt x="2202764" y="2808853"/>
                </a:cubicBezTo>
                <a:cubicBezTo>
                  <a:pt x="2196811" y="2815203"/>
                  <a:pt x="2188675" y="2818378"/>
                  <a:pt x="2178356" y="2818378"/>
                </a:cubicBezTo>
                <a:cubicBezTo>
                  <a:pt x="2167641" y="2818378"/>
                  <a:pt x="2148888" y="2811929"/>
                  <a:pt x="2122099" y="2799030"/>
                </a:cubicBezTo>
                <a:cubicBezTo>
                  <a:pt x="2095310" y="2786132"/>
                  <a:pt x="2072589" y="2777301"/>
                  <a:pt x="2053936" y="2772539"/>
                </a:cubicBezTo>
                <a:cubicBezTo>
                  <a:pt x="2029330" y="2766189"/>
                  <a:pt x="2003930" y="2763014"/>
                  <a:pt x="1977736" y="2763014"/>
                </a:cubicBezTo>
                <a:close/>
                <a:moveTo>
                  <a:pt x="5507939" y="1579532"/>
                </a:moveTo>
                <a:lnTo>
                  <a:pt x="5628192" y="1857543"/>
                </a:lnTo>
                <a:lnTo>
                  <a:pt x="5384114" y="1857543"/>
                </a:lnTo>
                <a:close/>
                <a:moveTo>
                  <a:pt x="7941576" y="1367601"/>
                </a:moveTo>
                <a:lnTo>
                  <a:pt x="8005274" y="1367601"/>
                </a:lnTo>
                <a:cubicBezTo>
                  <a:pt x="8069172" y="1367601"/>
                  <a:pt x="8115507" y="1382285"/>
                  <a:pt x="8144280" y="1411654"/>
                </a:cubicBezTo>
                <a:cubicBezTo>
                  <a:pt x="8173054" y="1441023"/>
                  <a:pt x="8187440" y="1486465"/>
                  <a:pt x="8187440" y="1547981"/>
                </a:cubicBezTo>
                <a:cubicBezTo>
                  <a:pt x="8187440" y="1590447"/>
                  <a:pt x="8179602" y="1624875"/>
                  <a:pt x="8163925" y="1651268"/>
                </a:cubicBezTo>
                <a:cubicBezTo>
                  <a:pt x="8148249" y="1677660"/>
                  <a:pt x="8126718" y="1695916"/>
                  <a:pt x="8099334" y="1706036"/>
                </a:cubicBezTo>
                <a:cubicBezTo>
                  <a:pt x="8071949" y="1716157"/>
                  <a:pt x="8030675" y="1721217"/>
                  <a:pt x="7975509" y="1721217"/>
                </a:cubicBezTo>
                <a:lnTo>
                  <a:pt x="7941576" y="1721217"/>
                </a:lnTo>
                <a:close/>
                <a:moveTo>
                  <a:pt x="4588776" y="1367601"/>
                </a:moveTo>
                <a:lnTo>
                  <a:pt x="4652475" y="1367601"/>
                </a:lnTo>
                <a:cubicBezTo>
                  <a:pt x="4716372" y="1367601"/>
                  <a:pt x="4762707" y="1382285"/>
                  <a:pt x="4791480" y="1411654"/>
                </a:cubicBezTo>
                <a:cubicBezTo>
                  <a:pt x="4820254" y="1441023"/>
                  <a:pt x="4834640" y="1486465"/>
                  <a:pt x="4834640" y="1547981"/>
                </a:cubicBezTo>
                <a:cubicBezTo>
                  <a:pt x="4834640" y="1590447"/>
                  <a:pt x="4826802" y="1624875"/>
                  <a:pt x="4811125" y="1651268"/>
                </a:cubicBezTo>
                <a:cubicBezTo>
                  <a:pt x="4795449" y="1677660"/>
                  <a:pt x="4773919" y="1695916"/>
                  <a:pt x="4746534" y="1706036"/>
                </a:cubicBezTo>
                <a:cubicBezTo>
                  <a:pt x="4719150" y="1716157"/>
                  <a:pt x="4677875" y="1721217"/>
                  <a:pt x="4622709" y="1721217"/>
                </a:cubicBezTo>
                <a:lnTo>
                  <a:pt x="4588776" y="1721217"/>
                </a:lnTo>
                <a:close/>
                <a:moveTo>
                  <a:pt x="8518434" y="1324143"/>
                </a:moveTo>
                <a:lnTo>
                  <a:pt x="8518434" y="1346170"/>
                </a:lnTo>
                <a:lnTo>
                  <a:pt x="8545222" y="1346170"/>
                </a:lnTo>
                <a:cubicBezTo>
                  <a:pt x="8571416" y="1346170"/>
                  <a:pt x="8592054" y="1351726"/>
                  <a:pt x="8607135" y="1362839"/>
                </a:cubicBezTo>
                <a:cubicBezTo>
                  <a:pt x="8617851" y="1370379"/>
                  <a:pt x="8625194" y="1381095"/>
                  <a:pt x="8629162" y="1394986"/>
                </a:cubicBezTo>
                <a:cubicBezTo>
                  <a:pt x="8631146" y="1403320"/>
                  <a:pt x="8632138" y="1425743"/>
                  <a:pt x="8632138" y="1462256"/>
                </a:cubicBezTo>
                <a:lnTo>
                  <a:pt x="8632138" y="1993275"/>
                </a:lnTo>
                <a:cubicBezTo>
                  <a:pt x="8632138" y="2033756"/>
                  <a:pt x="8629956" y="2058759"/>
                  <a:pt x="8625590" y="2068284"/>
                </a:cubicBezTo>
                <a:cubicBezTo>
                  <a:pt x="8620034" y="2081778"/>
                  <a:pt x="8612096" y="2091303"/>
                  <a:pt x="8601778" y="2096859"/>
                </a:cubicBezTo>
                <a:cubicBezTo>
                  <a:pt x="8587490" y="2105193"/>
                  <a:pt x="8568638" y="2109361"/>
                  <a:pt x="8545222" y="2109361"/>
                </a:cubicBezTo>
                <a:lnTo>
                  <a:pt x="8518434" y="2109361"/>
                </a:lnTo>
                <a:lnTo>
                  <a:pt x="8518434" y="2131387"/>
                </a:lnTo>
                <a:lnTo>
                  <a:pt x="9216140" y="2131387"/>
                </a:lnTo>
                <a:lnTo>
                  <a:pt x="9252454" y="1874807"/>
                </a:lnTo>
                <a:lnTo>
                  <a:pt x="9230428" y="1874807"/>
                </a:lnTo>
                <a:cubicBezTo>
                  <a:pt x="9210584" y="1946245"/>
                  <a:pt x="9177941" y="1999426"/>
                  <a:pt x="9132498" y="2034351"/>
                </a:cubicBezTo>
                <a:cubicBezTo>
                  <a:pt x="9087056" y="2069276"/>
                  <a:pt x="9026632" y="2086739"/>
                  <a:pt x="8951226" y="2086739"/>
                </a:cubicBezTo>
                <a:lnTo>
                  <a:pt x="8903006" y="2086739"/>
                </a:lnTo>
                <a:cubicBezTo>
                  <a:pt x="8879987" y="2086739"/>
                  <a:pt x="8863318" y="2083564"/>
                  <a:pt x="8852999" y="2077214"/>
                </a:cubicBezTo>
                <a:cubicBezTo>
                  <a:pt x="8842680" y="2070864"/>
                  <a:pt x="8835636" y="2062728"/>
                  <a:pt x="8831866" y="2052806"/>
                </a:cubicBezTo>
                <a:cubicBezTo>
                  <a:pt x="8828096" y="2042884"/>
                  <a:pt x="8826210" y="2015698"/>
                  <a:pt x="8826210" y="1971248"/>
                </a:cubicBezTo>
                <a:lnTo>
                  <a:pt x="8826210" y="1743839"/>
                </a:lnTo>
                <a:cubicBezTo>
                  <a:pt x="8864707" y="1743839"/>
                  <a:pt x="8894076" y="1748899"/>
                  <a:pt x="8914316" y="1759019"/>
                </a:cubicBezTo>
                <a:cubicBezTo>
                  <a:pt x="8934557" y="1769140"/>
                  <a:pt x="8952318" y="1788884"/>
                  <a:pt x="8967597" y="1818253"/>
                </a:cubicBezTo>
                <a:cubicBezTo>
                  <a:pt x="8982876" y="1847622"/>
                  <a:pt x="8992898" y="1885325"/>
                  <a:pt x="8997660" y="1931362"/>
                </a:cubicBezTo>
                <a:lnTo>
                  <a:pt x="9020282" y="1931362"/>
                </a:lnTo>
                <a:lnTo>
                  <a:pt x="9020282" y="1508690"/>
                </a:lnTo>
                <a:lnTo>
                  <a:pt x="8997660" y="1508690"/>
                </a:lnTo>
                <a:cubicBezTo>
                  <a:pt x="8991310" y="1571396"/>
                  <a:pt x="8976626" y="1618823"/>
                  <a:pt x="8953607" y="1650970"/>
                </a:cubicBezTo>
                <a:cubicBezTo>
                  <a:pt x="8930588" y="1683117"/>
                  <a:pt x="8893480" y="1699190"/>
                  <a:pt x="8842284" y="1699190"/>
                </a:cubicBezTo>
                <a:lnTo>
                  <a:pt x="8826210" y="1699190"/>
                </a:lnTo>
                <a:lnTo>
                  <a:pt x="8826210" y="1370578"/>
                </a:lnTo>
                <a:lnTo>
                  <a:pt x="8909554" y="1370578"/>
                </a:lnTo>
                <a:cubicBezTo>
                  <a:pt x="8970673" y="1370578"/>
                  <a:pt x="9012344" y="1374150"/>
                  <a:pt x="9034570" y="1381293"/>
                </a:cubicBezTo>
                <a:cubicBezTo>
                  <a:pt x="9072670" y="1393200"/>
                  <a:pt x="9102138" y="1411853"/>
                  <a:pt x="9122974" y="1437253"/>
                </a:cubicBezTo>
                <a:cubicBezTo>
                  <a:pt x="9143810" y="1462653"/>
                  <a:pt x="9159982" y="1504523"/>
                  <a:pt x="9171492" y="1562864"/>
                </a:cubicBezTo>
                <a:lnTo>
                  <a:pt x="9194114" y="1562864"/>
                </a:lnTo>
                <a:lnTo>
                  <a:pt x="9194114" y="1324143"/>
                </a:lnTo>
                <a:close/>
                <a:moveTo>
                  <a:pt x="7640348" y="1324143"/>
                </a:moveTo>
                <a:lnTo>
                  <a:pt x="7640348" y="1346170"/>
                </a:lnTo>
                <a:cubicBezTo>
                  <a:pt x="7677257" y="1346170"/>
                  <a:pt x="7702459" y="1349543"/>
                  <a:pt x="7715953" y="1356290"/>
                </a:cubicBezTo>
                <a:cubicBezTo>
                  <a:pt x="7729447" y="1363037"/>
                  <a:pt x="7738872" y="1372066"/>
                  <a:pt x="7744230" y="1383377"/>
                </a:cubicBezTo>
                <a:cubicBezTo>
                  <a:pt x="7749588" y="1394688"/>
                  <a:pt x="7752267" y="1422172"/>
                  <a:pt x="7752267" y="1465828"/>
                </a:cubicBezTo>
                <a:lnTo>
                  <a:pt x="7752267" y="1989703"/>
                </a:lnTo>
                <a:cubicBezTo>
                  <a:pt x="7752267" y="2033359"/>
                  <a:pt x="7749588" y="2060743"/>
                  <a:pt x="7744230" y="2071856"/>
                </a:cubicBezTo>
                <a:cubicBezTo>
                  <a:pt x="7738872" y="2082968"/>
                  <a:pt x="7729546" y="2091997"/>
                  <a:pt x="7716250" y="2098943"/>
                </a:cubicBezTo>
                <a:cubicBezTo>
                  <a:pt x="7702955" y="2105888"/>
                  <a:pt x="7677654" y="2109361"/>
                  <a:pt x="7640348" y="2109361"/>
                </a:cubicBezTo>
                <a:lnTo>
                  <a:pt x="7640348" y="2131387"/>
                </a:lnTo>
                <a:lnTo>
                  <a:pt x="8053495" y="2131387"/>
                </a:lnTo>
                <a:lnTo>
                  <a:pt x="8053495" y="2109361"/>
                </a:lnTo>
                <a:cubicBezTo>
                  <a:pt x="8016585" y="2109361"/>
                  <a:pt x="7991384" y="2105987"/>
                  <a:pt x="7977890" y="2099240"/>
                </a:cubicBezTo>
                <a:cubicBezTo>
                  <a:pt x="7964397" y="2092493"/>
                  <a:pt x="7954971" y="2083465"/>
                  <a:pt x="7949613" y="2072154"/>
                </a:cubicBezTo>
                <a:cubicBezTo>
                  <a:pt x="7944255" y="2060843"/>
                  <a:pt x="7941576" y="2033359"/>
                  <a:pt x="7941576" y="1989703"/>
                </a:cubicBezTo>
                <a:lnTo>
                  <a:pt x="7941576" y="1763484"/>
                </a:lnTo>
                <a:lnTo>
                  <a:pt x="7994559" y="1763484"/>
                </a:lnTo>
                <a:lnTo>
                  <a:pt x="8254710" y="2131387"/>
                </a:lnTo>
                <a:lnTo>
                  <a:pt x="8508908" y="2131387"/>
                </a:lnTo>
                <a:lnTo>
                  <a:pt x="8508908" y="2109361"/>
                </a:lnTo>
                <a:cubicBezTo>
                  <a:pt x="8487478" y="2108170"/>
                  <a:pt x="8468626" y="2101423"/>
                  <a:pt x="8452354" y="2089120"/>
                </a:cubicBezTo>
                <a:cubicBezTo>
                  <a:pt x="8441638" y="2080389"/>
                  <a:pt x="8423580" y="2058362"/>
                  <a:pt x="8398180" y="2023040"/>
                </a:cubicBezTo>
                <a:lnTo>
                  <a:pt x="8204109" y="1749792"/>
                </a:lnTo>
                <a:cubicBezTo>
                  <a:pt x="8253322" y="1737489"/>
                  <a:pt x="8291620" y="1719034"/>
                  <a:pt x="8319004" y="1694428"/>
                </a:cubicBezTo>
                <a:cubicBezTo>
                  <a:pt x="8361867" y="1655534"/>
                  <a:pt x="8383298" y="1606322"/>
                  <a:pt x="8383298" y="1546790"/>
                </a:cubicBezTo>
                <a:cubicBezTo>
                  <a:pt x="8383298" y="1497975"/>
                  <a:pt x="8369010" y="1455410"/>
                  <a:pt x="8340435" y="1419096"/>
                </a:cubicBezTo>
                <a:cubicBezTo>
                  <a:pt x="8311860" y="1382782"/>
                  <a:pt x="8274951" y="1357878"/>
                  <a:pt x="8229707" y="1344384"/>
                </a:cubicBezTo>
                <a:cubicBezTo>
                  <a:pt x="8184464" y="1330890"/>
                  <a:pt x="8113026" y="1324143"/>
                  <a:pt x="8015395" y="1324143"/>
                </a:cubicBezTo>
                <a:close/>
                <a:moveTo>
                  <a:pt x="6770001" y="1324143"/>
                </a:moveTo>
                <a:lnTo>
                  <a:pt x="6770001" y="1346170"/>
                </a:lnTo>
                <a:cubicBezTo>
                  <a:pt x="6804133" y="1345773"/>
                  <a:pt x="6827548" y="1348948"/>
                  <a:pt x="6840248" y="1355695"/>
                </a:cubicBezTo>
                <a:cubicBezTo>
                  <a:pt x="6852948" y="1362442"/>
                  <a:pt x="6861878" y="1371471"/>
                  <a:pt x="6867037" y="1382782"/>
                </a:cubicBezTo>
                <a:cubicBezTo>
                  <a:pt x="6872197" y="1394093"/>
                  <a:pt x="6874777" y="1422965"/>
                  <a:pt x="6874777" y="1469400"/>
                </a:cubicBezTo>
                <a:lnTo>
                  <a:pt x="6874777" y="1864687"/>
                </a:lnTo>
                <a:cubicBezTo>
                  <a:pt x="6874777" y="1931759"/>
                  <a:pt x="6885492" y="1985139"/>
                  <a:pt x="6906923" y="2024826"/>
                </a:cubicBezTo>
                <a:cubicBezTo>
                  <a:pt x="6928354" y="2064514"/>
                  <a:pt x="6965065" y="2097057"/>
                  <a:pt x="7017056" y="2122458"/>
                </a:cubicBezTo>
                <a:cubicBezTo>
                  <a:pt x="7055156" y="2141111"/>
                  <a:pt x="7109131" y="2150437"/>
                  <a:pt x="7178981" y="2150437"/>
                </a:cubicBezTo>
                <a:cubicBezTo>
                  <a:pt x="7262722" y="2150437"/>
                  <a:pt x="7328801" y="2132776"/>
                  <a:pt x="7377220" y="2097455"/>
                </a:cubicBezTo>
                <a:cubicBezTo>
                  <a:pt x="7425639" y="2062133"/>
                  <a:pt x="7456099" y="2023437"/>
                  <a:pt x="7468600" y="1981368"/>
                </a:cubicBezTo>
                <a:cubicBezTo>
                  <a:pt x="7481102" y="1939300"/>
                  <a:pt x="7487353" y="1870839"/>
                  <a:pt x="7487353" y="1775986"/>
                </a:cubicBezTo>
                <a:lnTo>
                  <a:pt x="7487353" y="1469400"/>
                </a:lnTo>
                <a:cubicBezTo>
                  <a:pt x="7487353" y="1436459"/>
                  <a:pt x="7489933" y="1413639"/>
                  <a:pt x="7495092" y="1400939"/>
                </a:cubicBezTo>
                <a:cubicBezTo>
                  <a:pt x="7501839" y="1382683"/>
                  <a:pt x="7512753" y="1368990"/>
                  <a:pt x="7527834" y="1359862"/>
                </a:cubicBezTo>
                <a:cubicBezTo>
                  <a:pt x="7542915" y="1350734"/>
                  <a:pt x="7561767" y="1346170"/>
                  <a:pt x="7584389" y="1346170"/>
                </a:cubicBezTo>
                <a:lnTo>
                  <a:pt x="7601057" y="1346170"/>
                </a:lnTo>
                <a:lnTo>
                  <a:pt x="7601057" y="1324143"/>
                </a:lnTo>
                <a:lnTo>
                  <a:pt x="7321856" y="1324143"/>
                </a:lnTo>
                <a:lnTo>
                  <a:pt x="7321856" y="1346170"/>
                </a:lnTo>
                <a:cubicBezTo>
                  <a:pt x="7354400" y="1346170"/>
                  <a:pt x="7379601" y="1350734"/>
                  <a:pt x="7397460" y="1359862"/>
                </a:cubicBezTo>
                <a:cubicBezTo>
                  <a:pt x="7408970" y="1365815"/>
                  <a:pt x="7418495" y="1376531"/>
                  <a:pt x="7426035" y="1392009"/>
                </a:cubicBezTo>
                <a:cubicBezTo>
                  <a:pt x="7433576" y="1407487"/>
                  <a:pt x="7437346" y="1433284"/>
                  <a:pt x="7437346" y="1469400"/>
                </a:cubicBezTo>
                <a:lnTo>
                  <a:pt x="7437346" y="1798607"/>
                </a:lnTo>
                <a:cubicBezTo>
                  <a:pt x="7437346" y="1884332"/>
                  <a:pt x="7429707" y="1944459"/>
                  <a:pt x="7414427" y="1978987"/>
                </a:cubicBezTo>
                <a:cubicBezTo>
                  <a:pt x="7399147" y="2013515"/>
                  <a:pt x="7376129" y="2040602"/>
                  <a:pt x="7345371" y="2060247"/>
                </a:cubicBezTo>
                <a:cubicBezTo>
                  <a:pt x="7314613" y="2079893"/>
                  <a:pt x="7277406" y="2089715"/>
                  <a:pt x="7233749" y="2089715"/>
                </a:cubicBezTo>
                <a:cubicBezTo>
                  <a:pt x="7195649" y="2089715"/>
                  <a:pt x="7164098" y="2081976"/>
                  <a:pt x="7139095" y="2066498"/>
                </a:cubicBezTo>
                <a:cubicBezTo>
                  <a:pt x="7114092" y="2051020"/>
                  <a:pt x="7096133" y="2031573"/>
                  <a:pt x="7085219" y="2008158"/>
                </a:cubicBezTo>
                <a:cubicBezTo>
                  <a:pt x="7074305" y="1984742"/>
                  <a:pt x="7068848" y="1936918"/>
                  <a:pt x="7068848" y="1864687"/>
                </a:cubicBezTo>
                <a:lnTo>
                  <a:pt x="7068848" y="1469400"/>
                </a:lnTo>
                <a:cubicBezTo>
                  <a:pt x="7068848" y="1423362"/>
                  <a:pt x="7071329" y="1394589"/>
                  <a:pt x="7076290" y="1383079"/>
                </a:cubicBezTo>
                <a:cubicBezTo>
                  <a:pt x="7081251" y="1371570"/>
                  <a:pt x="7089585" y="1362541"/>
                  <a:pt x="7101292" y="1355993"/>
                </a:cubicBezTo>
                <a:cubicBezTo>
                  <a:pt x="7113000" y="1349444"/>
                  <a:pt x="7134531" y="1346170"/>
                  <a:pt x="7165884" y="1346170"/>
                </a:cubicBezTo>
                <a:lnTo>
                  <a:pt x="7186720" y="1346170"/>
                </a:lnTo>
                <a:lnTo>
                  <a:pt x="7186720" y="1324143"/>
                </a:lnTo>
                <a:close/>
                <a:moveTo>
                  <a:pt x="5975854" y="1324143"/>
                </a:moveTo>
                <a:lnTo>
                  <a:pt x="5975854" y="1542623"/>
                </a:lnTo>
                <a:lnTo>
                  <a:pt x="5998476" y="1542623"/>
                </a:lnTo>
                <a:cubicBezTo>
                  <a:pt x="6007605" y="1483092"/>
                  <a:pt x="6029433" y="1437253"/>
                  <a:pt x="6063961" y="1405106"/>
                </a:cubicBezTo>
                <a:cubicBezTo>
                  <a:pt x="6088567" y="1382087"/>
                  <a:pt x="6128056" y="1370578"/>
                  <a:pt x="6182428" y="1370578"/>
                </a:cubicBezTo>
                <a:lnTo>
                  <a:pt x="6240769" y="1370578"/>
                </a:lnTo>
                <a:lnTo>
                  <a:pt x="6240769" y="1993275"/>
                </a:lnTo>
                <a:cubicBezTo>
                  <a:pt x="6240769" y="2033756"/>
                  <a:pt x="6238586" y="2058759"/>
                  <a:pt x="6234220" y="2068284"/>
                </a:cubicBezTo>
                <a:cubicBezTo>
                  <a:pt x="6228267" y="2081778"/>
                  <a:pt x="6220131" y="2091303"/>
                  <a:pt x="6209813" y="2096859"/>
                </a:cubicBezTo>
                <a:cubicBezTo>
                  <a:pt x="6195525" y="2105193"/>
                  <a:pt x="6176673" y="2109361"/>
                  <a:pt x="6153258" y="2109361"/>
                </a:cubicBezTo>
                <a:lnTo>
                  <a:pt x="6126468" y="2109361"/>
                </a:lnTo>
                <a:lnTo>
                  <a:pt x="6126468" y="2131387"/>
                </a:lnTo>
                <a:lnTo>
                  <a:pt x="6549141" y="2131387"/>
                </a:lnTo>
                <a:lnTo>
                  <a:pt x="6549141" y="2109361"/>
                </a:lnTo>
                <a:lnTo>
                  <a:pt x="6522351" y="2109361"/>
                </a:lnTo>
                <a:cubicBezTo>
                  <a:pt x="6499333" y="2109361"/>
                  <a:pt x="6481176" y="2105491"/>
                  <a:pt x="6467880" y="2097752"/>
                </a:cubicBezTo>
                <a:cubicBezTo>
                  <a:pt x="6454585" y="2090013"/>
                  <a:pt x="6445655" y="2080984"/>
                  <a:pt x="6441091" y="2070665"/>
                </a:cubicBezTo>
                <a:cubicBezTo>
                  <a:pt x="6436527" y="2060347"/>
                  <a:pt x="6434245" y="2034550"/>
                  <a:pt x="6434245" y="1993275"/>
                </a:cubicBezTo>
                <a:lnTo>
                  <a:pt x="6434245" y="1370578"/>
                </a:lnTo>
                <a:lnTo>
                  <a:pt x="6494371" y="1370578"/>
                </a:lnTo>
                <a:cubicBezTo>
                  <a:pt x="6532075" y="1370578"/>
                  <a:pt x="6558467" y="1374150"/>
                  <a:pt x="6573548" y="1381293"/>
                </a:cubicBezTo>
                <a:cubicBezTo>
                  <a:pt x="6600536" y="1394390"/>
                  <a:pt x="6621768" y="1411952"/>
                  <a:pt x="6637246" y="1433979"/>
                </a:cubicBezTo>
                <a:cubicBezTo>
                  <a:pt x="6652724" y="1456005"/>
                  <a:pt x="6666814" y="1492220"/>
                  <a:pt x="6679514" y="1542623"/>
                </a:cubicBezTo>
                <a:lnTo>
                  <a:pt x="6700945" y="1542623"/>
                </a:lnTo>
                <a:lnTo>
                  <a:pt x="6700945" y="1324143"/>
                </a:lnTo>
                <a:close/>
                <a:moveTo>
                  <a:pt x="3479709" y="1324143"/>
                </a:moveTo>
                <a:lnTo>
                  <a:pt x="3479709" y="1346170"/>
                </a:lnTo>
                <a:lnTo>
                  <a:pt x="3506498" y="1346170"/>
                </a:lnTo>
                <a:cubicBezTo>
                  <a:pt x="3532692" y="1346170"/>
                  <a:pt x="3553330" y="1351726"/>
                  <a:pt x="3568411" y="1362839"/>
                </a:cubicBezTo>
                <a:cubicBezTo>
                  <a:pt x="3579126" y="1370379"/>
                  <a:pt x="3586469" y="1381095"/>
                  <a:pt x="3590438" y="1394986"/>
                </a:cubicBezTo>
                <a:cubicBezTo>
                  <a:pt x="3592422" y="1403320"/>
                  <a:pt x="3593414" y="1425743"/>
                  <a:pt x="3593414" y="1462256"/>
                </a:cubicBezTo>
                <a:lnTo>
                  <a:pt x="3593414" y="1993275"/>
                </a:lnTo>
                <a:cubicBezTo>
                  <a:pt x="3593414" y="2033756"/>
                  <a:pt x="3591231" y="2058759"/>
                  <a:pt x="3586865" y="2068284"/>
                </a:cubicBezTo>
                <a:cubicBezTo>
                  <a:pt x="3581310" y="2081778"/>
                  <a:pt x="3573372" y="2091303"/>
                  <a:pt x="3563053" y="2096859"/>
                </a:cubicBezTo>
                <a:cubicBezTo>
                  <a:pt x="3548766" y="2105193"/>
                  <a:pt x="3529914" y="2109361"/>
                  <a:pt x="3506498" y="2109361"/>
                </a:cubicBezTo>
                <a:lnTo>
                  <a:pt x="3479709" y="2109361"/>
                </a:lnTo>
                <a:lnTo>
                  <a:pt x="3479709" y="2131387"/>
                </a:lnTo>
                <a:lnTo>
                  <a:pt x="4177416" y="2131387"/>
                </a:lnTo>
                <a:lnTo>
                  <a:pt x="4213729" y="1874807"/>
                </a:lnTo>
                <a:lnTo>
                  <a:pt x="4191703" y="1874807"/>
                </a:lnTo>
                <a:cubicBezTo>
                  <a:pt x="4171859" y="1946245"/>
                  <a:pt x="4139217" y="1999426"/>
                  <a:pt x="4093774" y="2034351"/>
                </a:cubicBezTo>
                <a:cubicBezTo>
                  <a:pt x="4048332" y="2069276"/>
                  <a:pt x="3987908" y="2086739"/>
                  <a:pt x="3912501" y="2086739"/>
                </a:cubicBezTo>
                <a:lnTo>
                  <a:pt x="3864281" y="2086739"/>
                </a:lnTo>
                <a:cubicBezTo>
                  <a:pt x="3841263" y="2086739"/>
                  <a:pt x="3824594" y="2083564"/>
                  <a:pt x="3814275" y="2077214"/>
                </a:cubicBezTo>
                <a:cubicBezTo>
                  <a:pt x="3803956" y="2070864"/>
                  <a:pt x="3796911" y="2062728"/>
                  <a:pt x="3793142" y="2052806"/>
                </a:cubicBezTo>
                <a:cubicBezTo>
                  <a:pt x="3789371" y="2042884"/>
                  <a:pt x="3787486" y="2015698"/>
                  <a:pt x="3787486" y="1971248"/>
                </a:cubicBezTo>
                <a:lnTo>
                  <a:pt x="3787486" y="1743839"/>
                </a:lnTo>
                <a:cubicBezTo>
                  <a:pt x="3825983" y="1743839"/>
                  <a:pt x="3855352" y="1748899"/>
                  <a:pt x="3875592" y="1759019"/>
                </a:cubicBezTo>
                <a:cubicBezTo>
                  <a:pt x="3895833" y="1769140"/>
                  <a:pt x="3913593" y="1788884"/>
                  <a:pt x="3928873" y="1818253"/>
                </a:cubicBezTo>
                <a:cubicBezTo>
                  <a:pt x="3944152" y="1847622"/>
                  <a:pt x="3954174" y="1885325"/>
                  <a:pt x="3958936" y="1931362"/>
                </a:cubicBezTo>
                <a:lnTo>
                  <a:pt x="3981558" y="1931362"/>
                </a:lnTo>
                <a:lnTo>
                  <a:pt x="3981558" y="1508690"/>
                </a:lnTo>
                <a:lnTo>
                  <a:pt x="3958936" y="1508690"/>
                </a:lnTo>
                <a:cubicBezTo>
                  <a:pt x="3952586" y="1571396"/>
                  <a:pt x="3937901" y="1618823"/>
                  <a:pt x="3914883" y="1650970"/>
                </a:cubicBezTo>
                <a:cubicBezTo>
                  <a:pt x="3891864" y="1683117"/>
                  <a:pt x="3854756" y="1699190"/>
                  <a:pt x="3803559" y="1699190"/>
                </a:cubicBezTo>
                <a:lnTo>
                  <a:pt x="3787486" y="1699190"/>
                </a:lnTo>
                <a:lnTo>
                  <a:pt x="3787486" y="1370578"/>
                </a:lnTo>
                <a:lnTo>
                  <a:pt x="3870830" y="1370578"/>
                </a:lnTo>
                <a:cubicBezTo>
                  <a:pt x="3931948" y="1370578"/>
                  <a:pt x="3973620" y="1374150"/>
                  <a:pt x="3995845" y="1381293"/>
                </a:cubicBezTo>
                <a:cubicBezTo>
                  <a:pt x="4033945" y="1393200"/>
                  <a:pt x="4063414" y="1411853"/>
                  <a:pt x="4084249" y="1437253"/>
                </a:cubicBezTo>
                <a:cubicBezTo>
                  <a:pt x="4105085" y="1462653"/>
                  <a:pt x="4121258" y="1504523"/>
                  <a:pt x="4132767" y="1562864"/>
                </a:cubicBezTo>
                <a:lnTo>
                  <a:pt x="4155389" y="1562864"/>
                </a:lnTo>
                <a:lnTo>
                  <a:pt x="4155389" y="1324143"/>
                </a:lnTo>
                <a:close/>
                <a:moveTo>
                  <a:pt x="2689730" y="1324143"/>
                </a:moveTo>
                <a:lnTo>
                  <a:pt x="2689730" y="1542623"/>
                </a:lnTo>
                <a:lnTo>
                  <a:pt x="2712351" y="1542623"/>
                </a:lnTo>
                <a:cubicBezTo>
                  <a:pt x="2721480" y="1483092"/>
                  <a:pt x="2743308" y="1437253"/>
                  <a:pt x="2777836" y="1405106"/>
                </a:cubicBezTo>
                <a:cubicBezTo>
                  <a:pt x="2802442" y="1382087"/>
                  <a:pt x="2841931" y="1370578"/>
                  <a:pt x="2896303" y="1370578"/>
                </a:cubicBezTo>
                <a:lnTo>
                  <a:pt x="2954644" y="1370578"/>
                </a:lnTo>
                <a:lnTo>
                  <a:pt x="2954644" y="1993275"/>
                </a:lnTo>
                <a:cubicBezTo>
                  <a:pt x="2954644" y="2033756"/>
                  <a:pt x="2952461" y="2058759"/>
                  <a:pt x="2948095" y="2068284"/>
                </a:cubicBezTo>
                <a:cubicBezTo>
                  <a:pt x="2942142" y="2081778"/>
                  <a:pt x="2934006" y="2091303"/>
                  <a:pt x="2923688" y="2096859"/>
                </a:cubicBezTo>
                <a:cubicBezTo>
                  <a:pt x="2909400" y="2105193"/>
                  <a:pt x="2890548" y="2109361"/>
                  <a:pt x="2867133" y="2109361"/>
                </a:cubicBezTo>
                <a:lnTo>
                  <a:pt x="2840343" y="2109361"/>
                </a:lnTo>
                <a:lnTo>
                  <a:pt x="2840343" y="2131387"/>
                </a:lnTo>
                <a:lnTo>
                  <a:pt x="3263016" y="2131387"/>
                </a:lnTo>
                <a:lnTo>
                  <a:pt x="3263016" y="2109361"/>
                </a:lnTo>
                <a:lnTo>
                  <a:pt x="3236226" y="2109361"/>
                </a:lnTo>
                <a:cubicBezTo>
                  <a:pt x="3213208" y="2109361"/>
                  <a:pt x="3195051" y="2105491"/>
                  <a:pt x="3181756" y="2097752"/>
                </a:cubicBezTo>
                <a:cubicBezTo>
                  <a:pt x="3168460" y="2090013"/>
                  <a:pt x="3159531" y="2080984"/>
                  <a:pt x="3154967" y="2070665"/>
                </a:cubicBezTo>
                <a:cubicBezTo>
                  <a:pt x="3150402" y="2060347"/>
                  <a:pt x="3148120" y="2034550"/>
                  <a:pt x="3148120" y="1993275"/>
                </a:cubicBezTo>
                <a:lnTo>
                  <a:pt x="3148120" y="1370578"/>
                </a:lnTo>
                <a:lnTo>
                  <a:pt x="3208247" y="1370578"/>
                </a:lnTo>
                <a:cubicBezTo>
                  <a:pt x="3245950" y="1370578"/>
                  <a:pt x="3272342" y="1374150"/>
                  <a:pt x="3287423" y="1381293"/>
                </a:cubicBezTo>
                <a:cubicBezTo>
                  <a:pt x="3314411" y="1394390"/>
                  <a:pt x="3335644" y="1411952"/>
                  <a:pt x="3351122" y="1433979"/>
                </a:cubicBezTo>
                <a:cubicBezTo>
                  <a:pt x="3366600" y="1456005"/>
                  <a:pt x="3380689" y="1492220"/>
                  <a:pt x="3393389" y="1542623"/>
                </a:cubicBezTo>
                <a:lnTo>
                  <a:pt x="3414820" y="1542623"/>
                </a:lnTo>
                <a:lnTo>
                  <a:pt x="3414820" y="1324143"/>
                </a:lnTo>
                <a:close/>
                <a:moveTo>
                  <a:pt x="2193834" y="1324143"/>
                </a:moveTo>
                <a:lnTo>
                  <a:pt x="2193834" y="1346170"/>
                </a:lnTo>
                <a:lnTo>
                  <a:pt x="2220623" y="1346170"/>
                </a:lnTo>
                <a:cubicBezTo>
                  <a:pt x="2243245" y="1346170"/>
                  <a:pt x="2261204" y="1350040"/>
                  <a:pt x="2274499" y="1357778"/>
                </a:cubicBezTo>
                <a:cubicBezTo>
                  <a:pt x="2287795" y="1365518"/>
                  <a:pt x="2296625" y="1374547"/>
                  <a:pt x="2300990" y="1384865"/>
                </a:cubicBezTo>
                <a:cubicBezTo>
                  <a:pt x="2305356" y="1395184"/>
                  <a:pt x="2307539" y="1420981"/>
                  <a:pt x="2307539" y="1462256"/>
                </a:cubicBezTo>
                <a:lnTo>
                  <a:pt x="2307539" y="1993275"/>
                </a:lnTo>
                <a:cubicBezTo>
                  <a:pt x="2307539" y="2033756"/>
                  <a:pt x="2305356" y="2058759"/>
                  <a:pt x="2300990" y="2068284"/>
                </a:cubicBezTo>
                <a:cubicBezTo>
                  <a:pt x="2295434" y="2081778"/>
                  <a:pt x="2287497" y="2091303"/>
                  <a:pt x="2277178" y="2096859"/>
                </a:cubicBezTo>
                <a:cubicBezTo>
                  <a:pt x="2262891" y="2105193"/>
                  <a:pt x="2244039" y="2109361"/>
                  <a:pt x="2220623" y="2109361"/>
                </a:cubicBezTo>
                <a:lnTo>
                  <a:pt x="2193834" y="2109361"/>
                </a:lnTo>
                <a:lnTo>
                  <a:pt x="2193834" y="2131387"/>
                </a:lnTo>
                <a:lnTo>
                  <a:pt x="2615911" y="2131387"/>
                </a:lnTo>
                <a:lnTo>
                  <a:pt x="2615911" y="2109361"/>
                </a:lnTo>
                <a:lnTo>
                  <a:pt x="2589122" y="2109361"/>
                </a:lnTo>
                <a:cubicBezTo>
                  <a:pt x="2566500" y="2109361"/>
                  <a:pt x="2548541" y="2105491"/>
                  <a:pt x="2535246" y="2097752"/>
                </a:cubicBezTo>
                <a:cubicBezTo>
                  <a:pt x="2521950" y="2090013"/>
                  <a:pt x="2513021" y="2080984"/>
                  <a:pt x="2508457" y="2070665"/>
                </a:cubicBezTo>
                <a:cubicBezTo>
                  <a:pt x="2503893" y="2060347"/>
                  <a:pt x="2501611" y="2034550"/>
                  <a:pt x="2501611" y="1993275"/>
                </a:cubicBezTo>
                <a:lnTo>
                  <a:pt x="2501611" y="1462256"/>
                </a:lnTo>
                <a:cubicBezTo>
                  <a:pt x="2501611" y="1421775"/>
                  <a:pt x="2503794" y="1396772"/>
                  <a:pt x="2508159" y="1387247"/>
                </a:cubicBezTo>
                <a:cubicBezTo>
                  <a:pt x="2514112" y="1373753"/>
                  <a:pt x="2522248" y="1364228"/>
                  <a:pt x="2532567" y="1358672"/>
                </a:cubicBezTo>
                <a:cubicBezTo>
                  <a:pt x="2546854" y="1350337"/>
                  <a:pt x="2565706" y="1346170"/>
                  <a:pt x="2589122" y="1346170"/>
                </a:cubicBezTo>
                <a:lnTo>
                  <a:pt x="2615911" y="1346170"/>
                </a:lnTo>
                <a:lnTo>
                  <a:pt x="2615911" y="1324143"/>
                </a:lnTo>
                <a:close/>
                <a:moveTo>
                  <a:pt x="1382423" y="1324143"/>
                </a:moveTo>
                <a:lnTo>
                  <a:pt x="1382423" y="1346170"/>
                </a:lnTo>
                <a:lnTo>
                  <a:pt x="1409212" y="1346170"/>
                </a:lnTo>
                <a:cubicBezTo>
                  <a:pt x="1431834" y="1346170"/>
                  <a:pt x="1449793" y="1350040"/>
                  <a:pt x="1463088" y="1357778"/>
                </a:cubicBezTo>
                <a:cubicBezTo>
                  <a:pt x="1476384" y="1365518"/>
                  <a:pt x="1485214" y="1374547"/>
                  <a:pt x="1489580" y="1384865"/>
                </a:cubicBezTo>
                <a:cubicBezTo>
                  <a:pt x="1493945" y="1395184"/>
                  <a:pt x="1496128" y="1420981"/>
                  <a:pt x="1496128" y="1462256"/>
                </a:cubicBezTo>
                <a:lnTo>
                  <a:pt x="1496128" y="1993275"/>
                </a:lnTo>
                <a:cubicBezTo>
                  <a:pt x="1496128" y="2033756"/>
                  <a:pt x="1493945" y="2058759"/>
                  <a:pt x="1489580" y="2068284"/>
                </a:cubicBezTo>
                <a:cubicBezTo>
                  <a:pt x="1484023" y="2081778"/>
                  <a:pt x="1476086" y="2091303"/>
                  <a:pt x="1465767" y="2096859"/>
                </a:cubicBezTo>
                <a:cubicBezTo>
                  <a:pt x="1451480" y="2105193"/>
                  <a:pt x="1432628" y="2109361"/>
                  <a:pt x="1409212" y="2109361"/>
                </a:cubicBezTo>
                <a:lnTo>
                  <a:pt x="1382423" y="2109361"/>
                </a:lnTo>
                <a:lnTo>
                  <a:pt x="1382423" y="2131387"/>
                </a:lnTo>
                <a:lnTo>
                  <a:pt x="2099180" y="2131387"/>
                </a:lnTo>
                <a:lnTo>
                  <a:pt x="2129541" y="1848018"/>
                </a:lnTo>
                <a:lnTo>
                  <a:pt x="2105133" y="1848018"/>
                </a:lnTo>
                <a:cubicBezTo>
                  <a:pt x="2086480" y="1911518"/>
                  <a:pt x="2066735" y="1959540"/>
                  <a:pt x="2045899" y="1992084"/>
                </a:cubicBezTo>
                <a:cubicBezTo>
                  <a:pt x="2025063" y="2024628"/>
                  <a:pt x="2000358" y="2048440"/>
                  <a:pt x="1971783" y="2063522"/>
                </a:cubicBezTo>
                <a:cubicBezTo>
                  <a:pt x="1943208" y="2078603"/>
                  <a:pt x="1907489" y="2086143"/>
                  <a:pt x="1864626" y="2086143"/>
                </a:cubicBezTo>
                <a:lnTo>
                  <a:pt x="1797356" y="2086143"/>
                </a:lnTo>
                <a:cubicBezTo>
                  <a:pt x="1759256" y="2086143"/>
                  <a:pt x="1735245" y="2084358"/>
                  <a:pt x="1725324" y="2080786"/>
                </a:cubicBezTo>
                <a:cubicBezTo>
                  <a:pt x="1711433" y="2075229"/>
                  <a:pt x="1702106" y="2066796"/>
                  <a:pt x="1697344" y="2055485"/>
                </a:cubicBezTo>
                <a:cubicBezTo>
                  <a:pt x="1692581" y="2044174"/>
                  <a:pt x="1690200" y="2017881"/>
                  <a:pt x="1690200" y="1976606"/>
                </a:cubicBezTo>
                <a:lnTo>
                  <a:pt x="1690200" y="1462256"/>
                </a:lnTo>
                <a:cubicBezTo>
                  <a:pt x="1690200" y="1421775"/>
                  <a:pt x="1692383" y="1396772"/>
                  <a:pt x="1696748" y="1387247"/>
                </a:cubicBezTo>
                <a:cubicBezTo>
                  <a:pt x="1702702" y="1373753"/>
                  <a:pt x="1710837" y="1364228"/>
                  <a:pt x="1721156" y="1358672"/>
                </a:cubicBezTo>
                <a:cubicBezTo>
                  <a:pt x="1735444" y="1350337"/>
                  <a:pt x="1754295" y="1346170"/>
                  <a:pt x="1777711" y="1346170"/>
                </a:cubicBezTo>
                <a:lnTo>
                  <a:pt x="1812834" y="1346170"/>
                </a:lnTo>
                <a:lnTo>
                  <a:pt x="1812834" y="1324143"/>
                </a:lnTo>
                <a:close/>
                <a:moveTo>
                  <a:pt x="5579972" y="1307475"/>
                </a:moveTo>
                <a:lnTo>
                  <a:pt x="5291245" y="1951603"/>
                </a:lnTo>
                <a:cubicBezTo>
                  <a:pt x="5263861" y="2013118"/>
                  <a:pt x="5240842" y="2053699"/>
                  <a:pt x="5222189" y="2073344"/>
                </a:cubicBezTo>
                <a:cubicBezTo>
                  <a:pt x="5212862" y="2083167"/>
                  <a:pt x="5202246" y="2091080"/>
                  <a:pt x="5190340" y="2097082"/>
                </a:cubicBezTo>
                <a:lnTo>
                  <a:pt x="5152833" y="2108715"/>
                </a:lnTo>
                <a:lnTo>
                  <a:pt x="5125897" y="2103408"/>
                </a:lnTo>
                <a:cubicBezTo>
                  <a:pt x="5116471" y="2100034"/>
                  <a:pt x="5107690" y="2095272"/>
                  <a:pt x="5099554" y="2089120"/>
                </a:cubicBezTo>
                <a:cubicBezTo>
                  <a:pt x="5088839" y="2080389"/>
                  <a:pt x="5070781" y="2058362"/>
                  <a:pt x="5045381" y="2023040"/>
                </a:cubicBezTo>
                <a:lnTo>
                  <a:pt x="4851310" y="1749792"/>
                </a:lnTo>
                <a:cubicBezTo>
                  <a:pt x="4900521" y="1737489"/>
                  <a:pt x="4938821" y="1719034"/>
                  <a:pt x="4966204" y="1694428"/>
                </a:cubicBezTo>
                <a:cubicBezTo>
                  <a:pt x="5009068" y="1655534"/>
                  <a:pt x="5030498" y="1606322"/>
                  <a:pt x="5030498" y="1546790"/>
                </a:cubicBezTo>
                <a:cubicBezTo>
                  <a:pt x="5030498" y="1497975"/>
                  <a:pt x="5016211" y="1455410"/>
                  <a:pt x="4987636" y="1419096"/>
                </a:cubicBezTo>
                <a:cubicBezTo>
                  <a:pt x="4959061" y="1382782"/>
                  <a:pt x="4922151" y="1357878"/>
                  <a:pt x="4876908" y="1344384"/>
                </a:cubicBezTo>
                <a:cubicBezTo>
                  <a:pt x="4831664" y="1330890"/>
                  <a:pt x="4760226" y="1324143"/>
                  <a:pt x="4662595" y="1324143"/>
                </a:cubicBezTo>
                <a:lnTo>
                  <a:pt x="4287548" y="1324143"/>
                </a:lnTo>
                <a:lnTo>
                  <a:pt x="4287548" y="1346170"/>
                </a:lnTo>
                <a:cubicBezTo>
                  <a:pt x="4324457" y="1346170"/>
                  <a:pt x="4349659" y="1349543"/>
                  <a:pt x="4363153" y="1356290"/>
                </a:cubicBezTo>
                <a:cubicBezTo>
                  <a:pt x="4376646" y="1363037"/>
                  <a:pt x="4386072" y="1372066"/>
                  <a:pt x="4391430" y="1383377"/>
                </a:cubicBezTo>
                <a:cubicBezTo>
                  <a:pt x="4396788" y="1394688"/>
                  <a:pt x="4399467" y="1422172"/>
                  <a:pt x="4399467" y="1465828"/>
                </a:cubicBezTo>
                <a:lnTo>
                  <a:pt x="4399467" y="1989703"/>
                </a:lnTo>
                <a:cubicBezTo>
                  <a:pt x="4399467" y="2033359"/>
                  <a:pt x="4396788" y="2060743"/>
                  <a:pt x="4391430" y="2071856"/>
                </a:cubicBezTo>
                <a:cubicBezTo>
                  <a:pt x="4386072" y="2082968"/>
                  <a:pt x="4376746" y="2091997"/>
                  <a:pt x="4363450" y="2098943"/>
                </a:cubicBezTo>
                <a:cubicBezTo>
                  <a:pt x="4350156" y="2105888"/>
                  <a:pt x="4324854" y="2109361"/>
                  <a:pt x="4287548" y="2109361"/>
                </a:cubicBezTo>
                <a:lnTo>
                  <a:pt x="4287548" y="2131387"/>
                </a:lnTo>
                <a:lnTo>
                  <a:pt x="4700696" y="2131387"/>
                </a:lnTo>
                <a:lnTo>
                  <a:pt x="4700696" y="2109361"/>
                </a:lnTo>
                <a:cubicBezTo>
                  <a:pt x="4663786" y="2109361"/>
                  <a:pt x="4638584" y="2105987"/>
                  <a:pt x="4625090" y="2099240"/>
                </a:cubicBezTo>
                <a:cubicBezTo>
                  <a:pt x="4611597" y="2092493"/>
                  <a:pt x="4602171" y="2083465"/>
                  <a:pt x="4596813" y="2072154"/>
                </a:cubicBezTo>
                <a:cubicBezTo>
                  <a:pt x="4591455" y="2060843"/>
                  <a:pt x="4588776" y="2033359"/>
                  <a:pt x="4588776" y="1989703"/>
                </a:cubicBezTo>
                <a:lnTo>
                  <a:pt x="4588776" y="1763484"/>
                </a:lnTo>
                <a:lnTo>
                  <a:pt x="4641759" y="1763484"/>
                </a:lnTo>
                <a:lnTo>
                  <a:pt x="4901911" y="2131387"/>
                </a:lnTo>
                <a:lnTo>
                  <a:pt x="5150751" y="2131387"/>
                </a:lnTo>
                <a:lnTo>
                  <a:pt x="5156109" y="2131387"/>
                </a:lnTo>
                <a:lnTo>
                  <a:pt x="5419237" y="2131387"/>
                </a:lnTo>
                <a:lnTo>
                  <a:pt x="5419237" y="2109361"/>
                </a:lnTo>
                <a:cubicBezTo>
                  <a:pt x="5377168" y="2106186"/>
                  <a:pt x="5350776" y="2101423"/>
                  <a:pt x="5340061" y="2095073"/>
                </a:cubicBezTo>
                <a:cubicBezTo>
                  <a:pt x="5321804" y="2084358"/>
                  <a:pt x="5312677" y="2067689"/>
                  <a:pt x="5312677" y="2045067"/>
                </a:cubicBezTo>
                <a:cubicBezTo>
                  <a:pt x="5312677" y="2028001"/>
                  <a:pt x="5318233" y="2006372"/>
                  <a:pt x="5329345" y="1980178"/>
                </a:cubicBezTo>
                <a:lnTo>
                  <a:pt x="5363278" y="1901597"/>
                </a:lnTo>
                <a:lnTo>
                  <a:pt x="5648433" y="1901597"/>
                </a:lnTo>
                <a:lnTo>
                  <a:pt x="5691295" y="2002204"/>
                </a:lnTo>
                <a:cubicBezTo>
                  <a:pt x="5702407" y="2028398"/>
                  <a:pt x="5708361" y="2043281"/>
                  <a:pt x="5709154" y="2046853"/>
                </a:cubicBezTo>
                <a:cubicBezTo>
                  <a:pt x="5711536" y="2054393"/>
                  <a:pt x="5712726" y="2061736"/>
                  <a:pt x="5712726" y="2068879"/>
                </a:cubicBezTo>
                <a:cubicBezTo>
                  <a:pt x="5712726" y="2080786"/>
                  <a:pt x="5708361" y="2089914"/>
                  <a:pt x="5699629" y="2096264"/>
                </a:cubicBezTo>
                <a:cubicBezTo>
                  <a:pt x="5686929" y="2104995"/>
                  <a:pt x="5664903" y="2109361"/>
                  <a:pt x="5633550" y="2109361"/>
                </a:cubicBezTo>
                <a:lnTo>
                  <a:pt x="5617476" y="2109361"/>
                </a:lnTo>
                <a:lnTo>
                  <a:pt x="5617476" y="2131387"/>
                </a:lnTo>
                <a:lnTo>
                  <a:pt x="6008001" y="2131387"/>
                </a:lnTo>
                <a:lnTo>
                  <a:pt x="6008001" y="2109361"/>
                </a:lnTo>
                <a:cubicBezTo>
                  <a:pt x="5983395" y="2107376"/>
                  <a:pt x="5964345" y="2100233"/>
                  <a:pt x="5950851" y="2087929"/>
                </a:cubicBezTo>
                <a:cubicBezTo>
                  <a:pt x="5932992" y="2071658"/>
                  <a:pt x="5910172" y="2032168"/>
                  <a:pt x="5882390" y="1969462"/>
                </a:cubicBezTo>
                <a:lnTo>
                  <a:pt x="5591283" y="1307475"/>
                </a:lnTo>
                <a:close/>
                <a:moveTo>
                  <a:pt x="0" y="0"/>
                </a:moveTo>
                <a:lnTo>
                  <a:pt x="12192000" y="0"/>
                </a:lnTo>
                <a:lnTo>
                  <a:pt x="12192000" y="6858000"/>
                </a:lnTo>
                <a:lnTo>
                  <a:pt x="0" y="6858000"/>
                </a:lnTo>
                <a:close/>
              </a:path>
            </a:pathLst>
          </a:custGeom>
          <a:solidFill>
            <a:srgbClr val="FF758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8" name="TextBox 7">
            <a:extLst>
              <a:ext uri="{FF2B5EF4-FFF2-40B4-BE49-F238E27FC236}">
                <a16:creationId xmlns:a16="http://schemas.microsoft.com/office/drawing/2014/main" id="{434DE8D8-6141-496C-E4D6-E617AC004C67}"/>
              </a:ext>
            </a:extLst>
          </p:cNvPr>
          <p:cNvSpPr txBox="1"/>
          <p:nvPr/>
        </p:nvSpPr>
        <p:spPr>
          <a:xfrm>
            <a:off x="3716594" y="1199535"/>
            <a:ext cx="49161" cy="369332"/>
          </a:xfrm>
          <a:prstGeom prst="rect">
            <a:avLst/>
          </a:prstGeom>
          <a:noFill/>
        </p:spPr>
        <p:txBody>
          <a:bodyPr wrap="square" rtlCol="0">
            <a:spAutoFit/>
          </a:bodyPr>
          <a:lstStyle/>
          <a:p>
            <a:endParaRPr lang="en-IN"/>
          </a:p>
        </p:txBody>
      </p:sp>
    </p:spTree>
    <p:extLst>
      <p:ext uri="{BB962C8B-B14F-4D97-AF65-F5344CB8AC3E}">
        <p14:creationId xmlns:p14="http://schemas.microsoft.com/office/powerpoint/2010/main" val="29505270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23F3454-4ADB-5B6D-EABD-E5B205924A99}"/>
              </a:ext>
            </a:extLst>
          </p:cNvPr>
          <p:cNvGraphicFramePr>
            <a:graphicFrameLocks noGrp="1"/>
          </p:cNvGraphicFramePr>
          <p:nvPr>
            <p:extLst>
              <p:ext uri="{D42A27DB-BD31-4B8C-83A1-F6EECF244321}">
                <p14:modId xmlns:p14="http://schemas.microsoft.com/office/powerpoint/2010/main" val="3017654023"/>
              </p:ext>
            </p:extLst>
          </p:nvPr>
        </p:nvGraphicFramePr>
        <p:xfrm>
          <a:off x="1001547" y="0"/>
          <a:ext cx="10188905" cy="6160635"/>
        </p:xfrm>
        <a:graphic>
          <a:graphicData uri="http://schemas.openxmlformats.org/drawingml/2006/table">
            <a:tbl>
              <a:tblPr firstRow="1" bandRow="1">
                <a:tableStyleId>{5C22544A-7EE6-4342-B048-85BDC9FD1C3A}</a:tableStyleId>
              </a:tblPr>
              <a:tblGrid>
                <a:gridCol w="598200">
                  <a:extLst>
                    <a:ext uri="{9D8B030D-6E8A-4147-A177-3AD203B41FA5}">
                      <a16:colId xmlns:a16="http://schemas.microsoft.com/office/drawing/2014/main" val="2076140886"/>
                    </a:ext>
                  </a:extLst>
                </a:gridCol>
                <a:gridCol w="1267992">
                  <a:extLst>
                    <a:ext uri="{9D8B030D-6E8A-4147-A177-3AD203B41FA5}">
                      <a16:colId xmlns:a16="http://schemas.microsoft.com/office/drawing/2014/main" val="3617671582"/>
                    </a:ext>
                  </a:extLst>
                </a:gridCol>
                <a:gridCol w="1248350">
                  <a:extLst>
                    <a:ext uri="{9D8B030D-6E8A-4147-A177-3AD203B41FA5}">
                      <a16:colId xmlns:a16="http://schemas.microsoft.com/office/drawing/2014/main" val="189551559"/>
                    </a:ext>
                  </a:extLst>
                </a:gridCol>
                <a:gridCol w="698042">
                  <a:extLst>
                    <a:ext uri="{9D8B030D-6E8A-4147-A177-3AD203B41FA5}">
                      <a16:colId xmlns:a16="http://schemas.microsoft.com/office/drawing/2014/main" val="2466656034"/>
                    </a:ext>
                  </a:extLst>
                </a:gridCol>
                <a:gridCol w="3248113">
                  <a:extLst>
                    <a:ext uri="{9D8B030D-6E8A-4147-A177-3AD203B41FA5}">
                      <a16:colId xmlns:a16="http://schemas.microsoft.com/office/drawing/2014/main" val="72323785"/>
                    </a:ext>
                  </a:extLst>
                </a:gridCol>
                <a:gridCol w="1568667">
                  <a:extLst>
                    <a:ext uri="{9D8B030D-6E8A-4147-A177-3AD203B41FA5}">
                      <a16:colId xmlns:a16="http://schemas.microsoft.com/office/drawing/2014/main" val="930945724"/>
                    </a:ext>
                  </a:extLst>
                </a:gridCol>
                <a:gridCol w="1559541">
                  <a:extLst>
                    <a:ext uri="{9D8B030D-6E8A-4147-A177-3AD203B41FA5}">
                      <a16:colId xmlns:a16="http://schemas.microsoft.com/office/drawing/2014/main" val="2418902886"/>
                    </a:ext>
                  </a:extLst>
                </a:gridCol>
              </a:tblGrid>
              <a:tr h="857115">
                <a:tc>
                  <a:txBody>
                    <a:bodyPr/>
                    <a:lstStyle/>
                    <a:p>
                      <a:pPr algn="ctr"/>
                      <a:r>
                        <a:rPr lang="en-IN" dirty="0">
                          <a:latin typeface="Times New Roman"/>
                        </a:rPr>
                        <a:t>SL</a:t>
                      </a:r>
                      <a:r>
                        <a:rPr lang="en-IN" dirty="0">
                          <a:latin typeface="Times New Roman"/>
                          <a:cs typeface="Times New Roman"/>
                        </a:rPr>
                        <a:t>.NO</a:t>
                      </a:r>
                    </a:p>
                  </a:txBody>
                  <a:tcPr>
                    <a:solidFill>
                      <a:srgbClr val="FF758F"/>
                    </a:solidFill>
                  </a:tcPr>
                </a:tc>
                <a:tc>
                  <a:txBody>
                    <a:bodyPr/>
                    <a:lstStyle/>
                    <a:p>
                      <a:pPr lvl="0" algn="ctr">
                        <a:buNone/>
                      </a:pPr>
                      <a:r>
                        <a:rPr lang="en-IN" sz="1800" b="1" i="0" u="none" strike="noStrike" noProof="0" dirty="0">
                          <a:solidFill>
                            <a:srgbClr val="FFFFFF"/>
                          </a:solidFill>
                          <a:latin typeface="Times New Roman"/>
                        </a:rPr>
                        <a:t>TITLE</a:t>
                      </a:r>
                      <a:endParaRPr lang="en-US" dirty="0">
                        <a:latin typeface="Times New Roman"/>
                      </a:endParaRPr>
                    </a:p>
                  </a:txBody>
                  <a:tcPr>
                    <a:solidFill>
                      <a:srgbClr val="FF758F"/>
                    </a:solidFill>
                  </a:tcPr>
                </a:tc>
                <a:tc>
                  <a:txBody>
                    <a:bodyPr/>
                    <a:lstStyle/>
                    <a:p>
                      <a:pPr lvl="0" algn="ctr">
                        <a:buNone/>
                      </a:pPr>
                      <a:r>
                        <a:rPr lang="en-IN" sz="1800" b="1" i="0" u="none" strike="noStrike" noProof="0" dirty="0">
                          <a:solidFill>
                            <a:srgbClr val="FFFFFF"/>
                          </a:solidFill>
                          <a:latin typeface="+mn-lt"/>
                        </a:rPr>
                        <a:t>AUTHOR</a:t>
                      </a:r>
                      <a:endParaRPr lang="en-US" dirty="0">
                        <a:latin typeface="+mn-lt"/>
                      </a:endParaRPr>
                    </a:p>
                  </a:txBody>
                  <a:tcPr>
                    <a:solidFill>
                      <a:srgbClr val="FF758F"/>
                    </a:solidFill>
                  </a:tcPr>
                </a:tc>
                <a:tc>
                  <a:txBody>
                    <a:bodyPr/>
                    <a:lstStyle/>
                    <a:p>
                      <a:pPr algn="ctr"/>
                      <a:r>
                        <a:rPr lang="en-IN" dirty="0">
                          <a:latin typeface="+mn-lt"/>
                        </a:rPr>
                        <a:t>PUB YEAR</a:t>
                      </a:r>
                    </a:p>
                  </a:txBody>
                  <a:tcPr>
                    <a:solidFill>
                      <a:srgbClr val="FF758F"/>
                    </a:solidFill>
                  </a:tcPr>
                </a:tc>
                <a:tc>
                  <a:txBody>
                    <a:bodyPr/>
                    <a:lstStyle/>
                    <a:p>
                      <a:pPr algn="ctr"/>
                      <a:r>
                        <a:rPr lang="en-IN" dirty="0">
                          <a:latin typeface="Times New Roman"/>
                        </a:rPr>
                        <a:t>METHODOLOGY</a:t>
                      </a:r>
                    </a:p>
                  </a:txBody>
                  <a:tcPr>
                    <a:solidFill>
                      <a:srgbClr val="FF758F"/>
                    </a:solidFill>
                  </a:tcPr>
                </a:tc>
                <a:tc>
                  <a:txBody>
                    <a:bodyPr/>
                    <a:lstStyle/>
                    <a:p>
                      <a:pPr algn="ctr"/>
                      <a:r>
                        <a:rPr lang="en-IN" dirty="0">
                          <a:latin typeface="+mn-lt"/>
                        </a:rPr>
                        <a:t>ADVANTAGES</a:t>
                      </a:r>
                    </a:p>
                  </a:txBody>
                  <a:tcPr>
                    <a:solidFill>
                      <a:srgbClr val="FF758F"/>
                    </a:solidFill>
                  </a:tcPr>
                </a:tc>
                <a:tc>
                  <a:txBody>
                    <a:bodyPr/>
                    <a:lstStyle/>
                    <a:p>
                      <a:pPr algn="ctr"/>
                      <a:r>
                        <a:rPr lang="en-IN" dirty="0">
                          <a:latin typeface="+mn-lt"/>
                        </a:rPr>
                        <a:t>LIMITATIONS</a:t>
                      </a:r>
                    </a:p>
                  </a:txBody>
                  <a:tcPr>
                    <a:solidFill>
                      <a:srgbClr val="FF758F"/>
                    </a:solidFill>
                  </a:tcPr>
                </a:tc>
                <a:extLst>
                  <a:ext uri="{0D108BD9-81ED-4DB2-BD59-A6C34878D82A}">
                    <a16:rowId xmlns:a16="http://schemas.microsoft.com/office/drawing/2014/main" val="3592391041"/>
                  </a:ext>
                </a:extLst>
              </a:tr>
              <a:tr h="5074238">
                <a:tc>
                  <a:txBody>
                    <a:bodyPr/>
                    <a:lstStyle/>
                    <a:p>
                      <a:pPr algn="ctr"/>
                      <a:r>
                        <a:rPr lang="en-IN" dirty="0">
                          <a:latin typeface="Times New Roman"/>
                        </a:rPr>
                        <a:t>1</a:t>
                      </a:r>
                    </a:p>
                  </a:txBody>
                  <a:tcPr>
                    <a:solidFill>
                      <a:srgbClr val="FFCCD5"/>
                    </a:solidFill>
                  </a:tcPr>
                </a:tc>
                <a:tc>
                  <a:txBody>
                    <a:bodyPr/>
                    <a:lstStyle/>
                    <a:p>
                      <a:pPr lvl="0" algn="just">
                        <a:buNone/>
                      </a:pPr>
                      <a:r>
                        <a:rPr lang="en-IN" sz="1800" b="0" kern="1200" dirty="0">
                          <a:solidFill>
                            <a:schemeClr val="dk1"/>
                          </a:solidFill>
                          <a:effectLst/>
                          <a:latin typeface="Times New Roman"/>
                          <a:ea typeface="+mn-ea"/>
                          <a:cs typeface="+mn-cs"/>
                        </a:rPr>
                        <a:t>T-YOLO:</a:t>
                      </a:r>
                    </a:p>
                    <a:p>
                      <a:pPr lvl="0" algn="just">
                        <a:buNone/>
                      </a:pPr>
                      <a:r>
                        <a:rPr lang="en-IN" sz="1800" b="0" kern="1200" dirty="0">
                          <a:solidFill>
                            <a:schemeClr val="dk1"/>
                          </a:solidFill>
                          <a:effectLst/>
                          <a:latin typeface="Times New Roman"/>
                          <a:ea typeface="+mn-ea"/>
                          <a:cs typeface="+mn-cs"/>
                        </a:rPr>
                        <a:t>Tiny vehicle</a:t>
                      </a:r>
                    </a:p>
                    <a:p>
                      <a:pPr lvl="0" algn="just">
                        <a:buNone/>
                      </a:pPr>
                      <a:r>
                        <a:rPr lang="en-IN" sz="1800" b="0" kern="1200" dirty="0">
                          <a:solidFill>
                            <a:schemeClr val="dk1"/>
                          </a:solidFill>
                          <a:effectLst/>
                          <a:latin typeface="Times New Roman"/>
                          <a:ea typeface="+mn-ea"/>
                          <a:cs typeface="+mn-cs"/>
                        </a:rPr>
                        <a:t>Detection</a:t>
                      </a:r>
                    </a:p>
                    <a:p>
                      <a:pPr lvl="0" algn="just">
                        <a:buNone/>
                      </a:pPr>
                      <a:r>
                        <a:rPr lang="en-IN" sz="1800" b="0" kern="1200" dirty="0">
                          <a:solidFill>
                            <a:schemeClr val="dk1"/>
                          </a:solidFill>
                          <a:effectLst/>
                          <a:latin typeface="Times New Roman"/>
                          <a:ea typeface="+mn-ea"/>
                          <a:cs typeface="+mn-cs"/>
                        </a:rPr>
                        <a:t>Based on</a:t>
                      </a:r>
                    </a:p>
                    <a:p>
                      <a:pPr lvl="0" algn="just">
                        <a:buNone/>
                      </a:pPr>
                      <a:r>
                        <a:rPr lang="en-IN" sz="1800" b="0" kern="1200" dirty="0">
                          <a:solidFill>
                            <a:schemeClr val="dk1"/>
                          </a:solidFill>
                          <a:effectLst/>
                          <a:latin typeface="Times New Roman"/>
                          <a:ea typeface="+mn-ea"/>
                          <a:cs typeface="+mn-cs"/>
                        </a:rPr>
                        <a:t>YOLO and multi scale</a:t>
                      </a:r>
                    </a:p>
                    <a:p>
                      <a:pPr lvl="0" algn="just">
                        <a:buNone/>
                      </a:pPr>
                      <a:r>
                        <a:rPr lang="en-IN" sz="1800" b="0" kern="1200" dirty="0">
                          <a:solidFill>
                            <a:schemeClr val="dk1"/>
                          </a:solidFill>
                          <a:effectLst/>
                          <a:latin typeface="Times New Roman"/>
                          <a:ea typeface="+mn-ea"/>
                          <a:cs typeface="+mn-cs"/>
                        </a:rPr>
                        <a:t>Convolutional neural</a:t>
                      </a:r>
                    </a:p>
                    <a:p>
                      <a:pPr lvl="0" algn="just">
                        <a:buNone/>
                      </a:pPr>
                      <a:r>
                        <a:rPr lang="en-IN" sz="1800" b="0" kern="1200" dirty="0">
                          <a:solidFill>
                            <a:schemeClr val="dk1"/>
                          </a:solidFill>
                          <a:effectLst/>
                          <a:latin typeface="Times New Roman"/>
                          <a:ea typeface="+mn-ea"/>
                          <a:cs typeface="+mn-cs"/>
                        </a:rPr>
                        <a:t>networks</a:t>
                      </a:r>
                    </a:p>
                    <a:p>
                      <a:pPr lvl="0" algn="ctr">
                        <a:buNone/>
                      </a:pPr>
                      <a:endParaRPr lang="en-IN" sz="1800" b="1" i="0" u="none" strike="noStrike" noProof="0">
                        <a:solidFill>
                          <a:srgbClr val="FFFFFF"/>
                        </a:solidFill>
                        <a:latin typeface="Times New Roman"/>
                      </a:endParaRPr>
                    </a:p>
                  </a:txBody>
                  <a:tcPr>
                    <a:solidFill>
                      <a:srgbClr val="FFCCD5"/>
                    </a:solidFill>
                  </a:tcPr>
                </a:tc>
                <a:tc>
                  <a:txBody>
                    <a:bodyPr/>
                    <a:lstStyle/>
                    <a:p>
                      <a:pPr lvl="0" algn="just">
                        <a:lnSpc>
                          <a:spcPct val="100000"/>
                        </a:lnSpc>
                        <a:spcBef>
                          <a:spcPts val="0"/>
                        </a:spcBef>
                        <a:spcAft>
                          <a:spcPts val="0"/>
                        </a:spcAft>
                        <a:buNone/>
                      </a:pPr>
                      <a:r>
                        <a:rPr lang="en-IN" sz="1800" b="0" i="0" u="none" strike="noStrike" noProof="0" dirty="0">
                          <a:solidFill>
                            <a:srgbClr val="000000"/>
                          </a:solidFill>
                          <a:effectLst/>
                          <a:latin typeface="Times New Roman"/>
                        </a:rPr>
                        <a:t>DANIEL PADILLA, HATEM A. RASHWAN </a:t>
                      </a:r>
                      <a:r>
                        <a:rPr lang="en-IN" sz="1800" b="0" i="0" u="none" strike="noStrike" noProof="0" dirty="0" err="1">
                          <a:solidFill>
                            <a:srgbClr val="000000"/>
                          </a:solidFill>
                          <a:effectLst/>
                          <a:latin typeface="Times New Roman"/>
                        </a:rPr>
                        <a:t>et.,at</a:t>
                      </a:r>
                      <a:r>
                        <a:rPr lang="en-IN" sz="1800" b="0" i="0" u="none" strike="noStrike" noProof="0" dirty="0">
                          <a:solidFill>
                            <a:srgbClr val="000000"/>
                          </a:solidFill>
                          <a:effectLst/>
                          <a:latin typeface="Times New Roman"/>
                        </a:rPr>
                        <a:t>.</a:t>
                      </a:r>
                      <a:endParaRPr lang="en-IN" sz="1800" b="1" dirty="0">
                        <a:solidFill>
                          <a:srgbClr val="000000"/>
                        </a:solidFill>
                        <a:effectLst/>
                        <a:latin typeface="Times New Roman"/>
                        <a:ea typeface="Times New Roman" panose="02020603050405020304" pitchFamily="18" charset="0"/>
                        <a:cs typeface="Times New Roman"/>
                      </a:endParaRPr>
                    </a:p>
                  </a:txBody>
                  <a:tcPr marL="68580" marR="68580" marT="0" marB="0">
                    <a:solidFill>
                      <a:srgbClr val="FFCCD5"/>
                    </a:solidFill>
                  </a:tcPr>
                </a:tc>
                <a:tc>
                  <a:txBody>
                    <a:bodyPr/>
                    <a:lstStyle/>
                    <a:p>
                      <a:pPr algn="ctr"/>
                      <a:r>
                        <a:rPr lang="en-IN" dirty="0">
                          <a:latin typeface="Times New Roman"/>
                        </a:rPr>
                        <a:t>2020</a:t>
                      </a:r>
                    </a:p>
                  </a:txBody>
                  <a:tcPr>
                    <a:solidFill>
                      <a:srgbClr val="FFCCD5"/>
                    </a:solidFill>
                  </a:tcPr>
                </a:tc>
                <a:tc>
                  <a:txBody>
                    <a:bodyPr/>
                    <a:lstStyle/>
                    <a:p>
                      <a:pPr algn="just"/>
                      <a:r>
                        <a:rPr lang="en-US" sz="1800" b="1" i="0" kern="1200" dirty="0">
                          <a:solidFill>
                            <a:schemeClr val="dk1"/>
                          </a:solidFill>
                          <a:effectLst/>
                          <a:latin typeface="Times New Roman"/>
                          <a:ea typeface="+mn-ea"/>
                          <a:cs typeface="+mn-cs"/>
                        </a:rPr>
                        <a:t>Dataset Description:</a:t>
                      </a:r>
                      <a:endParaRPr lang="en-US" sz="1800" b="0" i="0" kern="1200" dirty="0">
                        <a:solidFill>
                          <a:schemeClr val="dk1"/>
                        </a:solidFill>
                        <a:effectLst/>
                        <a:latin typeface="Times New Roman"/>
                        <a:ea typeface="+mn-ea"/>
                        <a:cs typeface="+mn-cs"/>
                      </a:endParaRPr>
                    </a:p>
                    <a:p>
                      <a:pPr marL="285750" indent="-285750" algn="just">
                        <a:buFont typeface="Arial" panose="020B0604020202020204" pitchFamily="34" charset="0"/>
                        <a:buChar char="•"/>
                      </a:pPr>
                      <a:r>
                        <a:rPr lang="en-US" sz="1800" b="0" i="0" kern="1200" dirty="0">
                          <a:solidFill>
                            <a:schemeClr val="dk1"/>
                          </a:solidFill>
                          <a:effectLst/>
                          <a:latin typeface="Times New Roman"/>
                          <a:ea typeface="+mn-ea"/>
                          <a:cs typeface="+mn-cs"/>
                        </a:rPr>
                        <a:t>Utilized the PKLot1 dataset for the research.</a:t>
                      </a:r>
                    </a:p>
                    <a:p>
                      <a:pPr algn="just"/>
                      <a:r>
                        <a:rPr lang="en-US" sz="1800" b="1" i="0" kern="1200" dirty="0">
                          <a:solidFill>
                            <a:schemeClr val="dk1"/>
                          </a:solidFill>
                          <a:effectLst/>
                          <a:latin typeface="Times New Roman"/>
                          <a:ea typeface="+mn-ea"/>
                          <a:cs typeface="+mn-cs"/>
                        </a:rPr>
                        <a:t>Dataset Split:</a:t>
                      </a:r>
                    </a:p>
                    <a:p>
                      <a:pPr marL="285750" indent="-285750" algn="just">
                        <a:buFont typeface="Arial"/>
                        <a:buChar char="•"/>
                      </a:pPr>
                      <a:r>
                        <a:rPr lang="en-US" sz="1800" b="1" i="0" kern="1200" dirty="0">
                          <a:solidFill>
                            <a:schemeClr val="dk1"/>
                          </a:solidFill>
                          <a:effectLst/>
                          <a:latin typeface="Times New Roman"/>
                          <a:ea typeface="+mn-ea"/>
                          <a:cs typeface="+mn-cs"/>
                        </a:rPr>
                        <a:t>80% </a:t>
                      </a:r>
                      <a:r>
                        <a:rPr lang="en-US" sz="1800" b="0" i="0" kern="1200" dirty="0">
                          <a:solidFill>
                            <a:schemeClr val="dk1"/>
                          </a:solidFill>
                          <a:effectLst/>
                          <a:latin typeface="Times New Roman"/>
                          <a:ea typeface="+mn-ea"/>
                          <a:cs typeface="+mn-cs"/>
                        </a:rPr>
                        <a:t>of dataset for training and 20% of dataset for testing</a:t>
                      </a:r>
                    </a:p>
                    <a:p>
                      <a:pPr algn="just"/>
                      <a:r>
                        <a:rPr lang="en-US" sz="1800" b="1" i="0" kern="1200" dirty="0">
                          <a:solidFill>
                            <a:schemeClr val="dk1"/>
                          </a:solidFill>
                          <a:effectLst/>
                          <a:latin typeface="Times New Roman"/>
                          <a:ea typeface="+mn-ea"/>
                          <a:cs typeface="+mn-cs"/>
                        </a:rPr>
                        <a:t>Baseline Model:</a:t>
                      </a:r>
                      <a:endParaRPr lang="en-US" sz="1800" b="0" i="0" kern="1200" dirty="0">
                        <a:solidFill>
                          <a:schemeClr val="dk1"/>
                        </a:solidFill>
                        <a:effectLst/>
                        <a:latin typeface="Times New Roman"/>
                        <a:ea typeface="+mn-ea"/>
                        <a:cs typeface="+mn-cs"/>
                      </a:endParaRPr>
                    </a:p>
                    <a:p>
                      <a:pPr marL="285750" indent="-285750" algn="just">
                        <a:buFont typeface="Arial" panose="020B0604020202020204" pitchFamily="34" charset="0"/>
                        <a:buChar char="•"/>
                      </a:pPr>
                      <a:r>
                        <a:rPr lang="en-US" sz="1800" b="0" i="0" kern="1200" dirty="0">
                          <a:solidFill>
                            <a:schemeClr val="dk1"/>
                          </a:solidFill>
                          <a:effectLst/>
                          <a:latin typeface="Times New Roman"/>
                          <a:ea typeface="+mn-ea"/>
                          <a:cs typeface="+mn-cs"/>
                        </a:rPr>
                        <a:t>The baseline model used in the study is YOLO v5.</a:t>
                      </a:r>
                    </a:p>
                    <a:p>
                      <a:pPr algn="l"/>
                      <a:r>
                        <a:rPr lang="en-IN" sz="1800" b="1" i="0" kern="1200" dirty="0">
                          <a:solidFill>
                            <a:schemeClr val="dk1"/>
                          </a:solidFill>
                          <a:effectLst/>
                          <a:latin typeface="Times New Roman"/>
                          <a:ea typeface="+mn-ea"/>
                          <a:cs typeface="+mn-cs"/>
                        </a:rPr>
                        <a:t>Data Augmentation Techniques:</a:t>
                      </a:r>
                      <a:endParaRPr lang="en-IN" sz="1800" b="0" i="0" kern="1200" dirty="0">
                        <a:solidFill>
                          <a:schemeClr val="dk1"/>
                        </a:solidFill>
                        <a:effectLst/>
                        <a:latin typeface="Times New Roman"/>
                        <a:ea typeface="+mn-ea"/>
                        <a:cs typeface="+mn-cs"/>
                      </a:endParaRPr>
                    </a:p>
                    <a:p>
                      <a:pPr marL="285750" indent="-285750" algn="just">
                        <a:buFont typeface="Arial" panose="020B0604020202020204" pitchFamily="34" charset="0"/>
                        <a:buChar char="•"/>
                      </a:pPr>
                      <a:r>
                        <a:rPr lang="en-IN" sz="1800" b="0" i="0" kern="1200" dirty="0">
                          <a:solidFill>
                            <a:schemeClr val="dk1"/>
                          </a:solidFill>
                          <a:effectLst/>
                          <a:latin typeface="Times New Roman"/>
                          <a:ea typeface="+mn-ea"/>
                          <a:cs typeface="Times New Roman"/>
                        </a:rPr>
                        <a:t>Applied mosaic/</a:t>
                      </a:r>
                      <a:r>
                        <a:rPr lang="en-IN" sz="1800" b="0" i="0" kern="1200" dirty="0" err="1">
                          <a:solidFill>
                            <a:schemeClr val="dk1"/>
                          </a:solidFill>
                          <a:effectLst/>
                          <a:latin typeface="Times New Roman"/>
                          <a:ea typeface="+mn-ea"/>
                          <a:cs typeface="Times New Roman"/>
                        </a:rPr>
                        <a:t>mixup</a:t>
                      </a:r>
                      <a:r>
                        <a:rPr lang="en-IN" sz="1800" b="0" i="0" kern="1200" dirty="0">
                          <a:solidFill>
                            <a:schemeClr val="dk1"/>
                          </a:solidFill>
                          <a:effectLst/>
                          <a:latin typeface="Times New Roman"/>
                          <a:ea typeface="+mn-ea"/>
                          <a:cs typeface="Times New Roman"/>
                        </a:rPr>
                        <a:t> to enhance diversity in the dataset.</a:t>
                      </a:r>
                    </a:p>
                    <a:p>
                      <a:pPr marL="285750" indent="-285750" algn="just">
                        <a:buFont typeface="Arial" panose="020B0604020202020204" pitchFamily="34" charset="0"/>
                        <a:buChar char="•"/>
                      </a:pPr>
                      <a:r>
                        <a:rPr lang="en-IN" sz="1800" b="0" i="0" kern="1200" dirty="0">
                          <a:solidFill>
                            <a:schemeClr val="dk1"/>
                          </a:solidFill>
                          <a:effectLst/>
                          <a:latin typeface="Times New Roman"/>
                          <a:ea typeface="+mn-ea"/>
                          <a:cs typeface="Times New Roman"/>
                        </a:rPr>
                        <a:t>Utilized letterbox technique for resizing  aspect ratio.</a:t>
                      </a:r>
                    </a:p>
                    <a:p>
                      <a:pPr marL="0" indent="0">
                        <a:buFont typeface="Arial" panose="020B0604020202020204" pitchFamily="34" charset="0"/>
                        <a:buNone/>
                      </a:pPr>
                      <a:endParaRPr lang="en-US" sz="1800" b="0" i="0" kern="1200" dirty="0">
                        <a:solidFill>
                          <a:schemeClr val="dk1"/>
                        </a:solidFill>
                        <a:effectLst/>
                        <a:latin typeface="Times New Roman"/>
                        <a:ea typeface="+mn-ea"/>
                        <a:cs typeface="+mn-cs"/>
                      </a:endParaRPr>
                    </a:p>
                    <a:p>
                      <a:pPr marL="0" indent="0">
                        <a:buFont typeface="Arial" panose="020B0604020202020204" pitchFamily="34" charset="0"/>
                        <a:buNone/>
                      </a:pPr>
                      <a:endParaRPr lang="en-US" sz="1800" b="0" i="0" kern="1200" dirty="0">
                        <a:solidFill>
                          <a:schemeClr val="dk1"/>
                        </a:solidFill>
                        <a:effectLst/>
                        <a:latin typeface="Times New Roman"/>
                        <a:ea typeface="+mn-ea"/>
                        <a:cs typeface="+mn-cs"/>
                      </a:endParaRPr>
                    </a:p>
                    <a:p>
                      <a:pPr algn="l"/>
                      <a:endParaRPr lang="en-IN" dirty="0">
                        <a:latin typeface="Times New Roman"/>
                      </a:endParaRPr>
                    </a:p>
                  </a:txBody>
                  <a:tcPr>
                    <a:solidFill>
                      <a:srgbClr val="FFCCD5"/>
                    </a:solidFill>
                  </a:tcPr>
                </a:tc>
                <a:tc>
                  <a:txBody>
                    <a:bodyPr/>
                    <a:lstStyle/>
                    <a:p>
                      <a:pPr marL="285750" indent="-285750" algn="l">
                        <a:buFont typeface="Arial" panose="020B0604020202020204" pitchFamily="34" charset="0"/>
                        <a:buChar char="•"/>
                      </a:pPr>
                      <a:r>
                        <a:rPr lang="en-US" sz="1800" b="0" i="0" kern="1200" dirty="0">
                          <a:solidFill>
                            <a:schemeClr val="dk1"/>
                          </a:solidFill>
                          <a:effectLst/>
                          <a:latin typeface="Times New Roman"/>
                          <a:ea typeface="+mn-ea"/>
                          <a:cs typeface="Times New Roman"/>
                        </a:rPr>
                        <a:t>improved performance in  vehicle detection</a:t>
                      </a:r>
                    </a:p>
                    <a:p>
                      <a:pPr marL="285750" indent="-285750" algn="l">
                        <a:buFont typeface="Arial" panose="020B0604020202020204" pitchFamily="34" charset="0"/>
                        <a:buChar char="•"/>
                      </a:pPr>
                      <a:r>
                        <a:rPr lang="en-IN" sz="1800" b="0" i="0" kern="1200" dirty="0">
                          <a:solidFill>
                            <a:schemeClr val="dk1"/>
                          </a:solidFill>
                          <a:effectLst/>
                          <a:latin typeface="Times New Roman"/>
                          <a:ea typeface="+mn-ea"/>
                          <a:cs typeface="Times New Roman"/>
                        </a:rPr>
                        <a:t>provides high precision value </a:t>
                      </a:r>
                      <a:endParaRPr lang="en-US" sz="1800" b="0" i="0" kern="1200" dirty="0">
                        <a:solidFill>
                          <a:schemeClr val="dk1"/>
                        </a:solidFill>
                        <a:effectLst/>
                        <a:latin typeface="Times New Roman"/>
                        <a:ea typeface="+mn-ea"/>
                        <a:cs typeface="Times New Roman"/>
                      </a:endParaRPr>
                    </a:p>
                  </a:txBody>
                  <a:tcPr>
                    <a:solidFill>
                      <a:srgbClr val="FFCCD5"/>
                    </a:solidFill>
                  </a:tcPr>
                </a:tc>
                <a:tc>
                  <a:txBody>
                    <a:bodyPr/>
                    <a:lstStyle/>
                    <a:p>
                      <a:pPr marL="285750" indent="-285750" algn="l">
                        <a:buFont typeface="Arial"/>
                        <a:buChar char="•"/>
                      </a:pPr>
                      <a:r>
                        <a:rPr lang="en-IN" dirty="0">
                          <a:latin typeface="Times New Roman"/>
                        </a:rPr>
                        <a:t>The adapted variation yields a decrease in speed</a:t>
                      </a:r>
                    </a:p>
                  </a:txBody>
                  <a:tcPr>
                    <a:solidFill>
                      <a:srgbClr val="FFCCD5"/>
                    </a:solidFill>
                  </a:tcPr>
                </a:tc>
                <a:extLst>
                  <a:ext uri="{0D108BD9-81ED-4DB2-BD59-A6C34878D82A}">
                    <a16:rowId xmlns:a16="http://schemas.microsoft.com/office/drawing/2014/main" val="2427677523"/>
                  </a:ext>
                </a:extLst>
              </a:tr>
            </a:tbl>
          </a:graphicData>
        </a:graphic>
      </p:graphicFrame>
    </p:spTree>
    <p:extLst>
      <p:ext uri="{BB962C8B-B14F-4D97-AF65-F5344CB8AC3E}">
        <p14:creationId xmlns:p14="http://schemas.microsoft.com/office/powerpoint/2010/main" val="242647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23F3454-4ADB-5B6D-EABD-E5B205924A99}"/>
              </a:ext>
            </a:extLst>
          </p:cNvPr>
          <p:cNvGraphicFramePr>
            <a:graphicFrameLocks noGrp="1"/>
          </p:cNvGraphicFramePr>
          <p:nvPr>
            <p:extLst>
              <p:ext uri="{D42A27DB-BD31-4B8C-83A1-F6EECF244321}">
                <p14:modId xmlns:p14="http://schemas.microsoft.com/office/powerpoint/2010/main" val="251166441"/>
              </p:ext>
            </p:extLst>
          </p:nvPr>
        </p:nvGraphicFramePr>
        <p:xfrm>
          <a:off x="1120776" y="252941"/>
          <a:ext cx="10080624" cy="6205009"/>
        </p:xfrm>
        <a:graphic>
          <a:graphicData uri="http://schemas.openxmlformats.org/drawingml/2006/table">
            <a:tbl>
              <a:tblPr firstRow="1" bandRow="1">
                <a:tableStyleId>{5C22544A-7EE6-4342-B048-85BDC9FD1C3A}</a:tableStyleId>
              </a:tblPr>
              <a:tblGrid>
                <a:gridCol w="591842">
                  <a:extLst>
                    <a:ext uri="{9D8B030D-6E8A-4147-A177-3AD203B41FA5}">
                      <a16:colId xmlns:a16="http://schemas.microsoft.com/office/drawing/2014/main" val="2076140886"/>
                    </a:ext>
                  </a:extLst>
                </a:gridCol>
                <a:gridCol w="1350946">
                  <a:extLst>
                    <a:ext uri="{9D8B030D-6E8A-4147-A177-3AD203B41FA5}">
                      <a16:colId xmlns:a16="http://schemas.microsoft.com/office/drawing/2014/main" val="3617671582"/>
                    </a:ext>
                  </a:extLst>
                </a:gridCol>
                <a:gridCol w="1138654">
                  <a:extLst>
                    <a:ext uri="{9D8B030D-6E8A-4147-A177-3AD203B41FA5}">
                      <a16:colId xmlns:a16="http://schemas.microsoft.com/office/drawing/2014/main" val="189551559"/>
                    </a:ext>
                  </a:extLst>
                </a:gridCol>
                <a:gridCol w="704422">
                  <a:extLst>
                    <a:ext uri="{9D8B030D-6E8A-4147-A177-3AD203B41FA5}">
                      <a16:colId xmlns:a16="http://schemas.microsoft.com/office/drawing/2014/main" val="2466656034"/>
                    </a:ext>
                  </a:extLst>
                </a:gridCol>
                <a:gridCol w="3208824">
                  <a:extLst>
                    <a:ext uri="{9D8B030D-6E8A-4147-A177-3AD203B41FA5}">
                      <a16:colId xmlns:a16="http://schemas.microsoft.com/office/drawing/2014/main" val="72323785"/>
                    </a:ext>
                  </a:extLst>
                </a:gridCol>
                <a:gridCol w="1542968">
                  <a:extLst>
                    <a:ext uri="{9D8B030D-6E8A-4147-A177-3AD203B41FA5}">
                      <a16:colId xmlns:a16="http://schemas.microsoft.com/office/drawing/2014/main" val="930945724"/>
                    </a:ext>
                  </a:extLst>
                </a:gridCol>
                <a:gridCol w="1542968">
                  <a:extLst>
                    <a:ext uri="{9D8B030D-6E8A-4147-A177-3AD203B41FA5}">
                      <a16:colId xmlns:a16="http://schemas.microsoft.com/office/drawing/2014/main" val="2418902886"/>
                    </a:ext>
                  </a:extLst>
                </a:gridCol>
              </a:tblGrid>
              <a:tr h="904522">
                <a:tc>
                  <a:txBody>
                    <a:bodyPr/>
                    <a:lstStyle/>
                    <a:p>
                      <a:pPr algn="ctr"/>
                      <a:r>
                        <a:rPr lang="en-IN"/>
                        <a:t>SL</a:t>
                      </a:r>
                      <a:r>
                        <a:rPr lang="en-IN">
                          <a:latin typeface="Times New Roman" panose="02020603050405020304" pitchFamily="18" charset="0"/>
                          <a:cs typeface="Times New Roman" panose="02020603050405020304" pitchFamily="18" charset="0"/>
                        </a:rPr>
                        <a:t>.NO</a:t>
                      </a:r>
                      <a:endParaRPr lang="en-IN"/>
                    </a:p>
                  </a:txBody>
                  <a:tcPr>
                    <a:solidFill>
                      <a:srgbClr val="FF758F"/>
                    </a:solidFill>
                  </a:tcPr>
                </a:tc>
                <a:tc>
                  <a:txBody>
                    <a:bodyPr/>
                    <a:lstStyle/>
                    <a:p>
                      <a:pPr algn="ctr"/>
                      <a:r>
                        <a:rPr lang="en-IN"/>
                        <a:t>TITLE</a:t>
                      </a:r>
                    </a:p>
                  </a:txBody>
                  <a:tcPr>
                    <a:solidFill>
                      <a:srgbClr val="FF758F"/>
                    </a:solidFill>
                  </a:tcPr>
                </a:tc>
                <a:tc>
                  <a:txBody>
                    <a:bodyPr/>
                    <a:lstStyle/>
                    <a:p>
                      <a:pPr algn="ctr"/>
                      <a:r>
                        <a:rPr lang="en-IN"/>
                        <a:t>AUTHOR</a:t>
                      </a:r>
                    </a:p>
                  </a:txBody>
                  <a:tcPr>
                    <a:solidFill>
                      <a:srgbClr val="FF758F"/>
                    </a:solidFill>
                  </a:tcPr>
                </a:tc>
                <a:tc>
                  <a:txBody>
                    <a:bodyPr/>
                    <a:lstStyle/>
                    <a:p>
                      <a:pPr algn="ctr"/>
                      <a:r>
                        <a:rPr lang="en-IN"/>
                        <a:t>PUB YEAR</a:t>
                      </a:r>
                    </a:p>
                  </a:txBody>
                  <a:tcPr>
                    <a:solidFill>
                      <a:srgbClr val="FF758F"/>
                    </a:solidFill>
                  </a:tcPr>
                </a:tc>
                <a:tc>
                  <a:txBody>
                    <a:bodyPr/>
                    <a:lstStyle/>
                    <a:p>
                      <a:pPr algn="ctr"/>
                      <a:r>
                        <a:rPr lang="en-IN"/>
                        <a:t>METHODOLOGY</a:t>
                      </a:r>
                    </a:p>
                  </a:txBody>
                  <a:tcPr>
                    <a:solidFill>
                      <a:srgbClr val="FF758F"/>
                    </a:solidFill>
                  </a:tcPr>
                </a:tc>
                <a:tc>
                  <a:txBody>
                    <a:bodyPr/>
                    <a:lstStyle/>
                    <a:p>
                      <a:pPr algn="ctr"/>
                      <a:r>
                        <a:rPr lang="en-IN"/>
                        <a:t>ADVANTAGES</a:t>
                      </a:r>
                    </a:p>
                  </a:txBody>
                  <a:tcPr>
                    <a:solidFill>
                      <a:srgbClr val="FF758F"/>
                    </a:solidFill>
                  </a:tcPr>
                </a:tc>
                <a:tc>
                  <a:txBody>
                    <a:bodyPr/>
                    <a:lstStyle/>
                    <a:p>
                      <a:pPr marL="0" indent="0" algn="ctr">
                        <a:buFont typeface="Arial" panose="020B0604020202020204" pitchFamily="34" charset="0"/>
                        <a:buNone/>
                      </a:pPr>
                      <a:r>
                        <a:rPr lang="en-IN"/>
                        <a:t>LIMITATIONS</a:t>
                      </a:r>
                    </a:p>
                  </a:txBody>
                  <a:tcPr>
                    <a:solidFill>
                      <a:srgbClr val="FF758F"/>
                    </a:solidFill>
                  </a:tcPr>
                </a:tc>
                <a:extLst>
                  <a:ext uri="{0D108BD9-81ED-4DB2-BD59-A6C34878D82A}">
                    <a16:rowId xmlns:a16="http://schemas.microsoft.com/office/drawing/2014/main" val="3592391041"/>
                  </a:ext>
                </a:extLst>
              </a:tr>
              <a:tr h="5300487">
                <a:tc>
                  <a:txBody>
                    <a:bodyPr/>
                    <a:lstStyle/>
                    <a:p>
                      <a:pPr algn="ctr"/>
                      <a:r>
                        <a:rPr lang="en-IN"/>
                        <a:t>2</a:t>
                      </a:r>
                    </a:p>
                  </a:txBody>
                  <a:tcPr>
                    <a:solidFill>
                      <a:srgbClr val="FFCCD5"/>
                    </a:solidFill>
                  </a:tcPr>
                </a:tc>
                <a:tc>
                  <a:txBody>
                    <a:bodyPr/>
                    <a:lstStyle/>
                    <a:p>
                      <a:pPr algn="just"/>
                      <a:r>
                        <a:rPr lang="en-IN" sz="1800" b="0" kern="1200">
                          <a:solidFill>
                            <a:schemeClr val="dk1"/>
                          </a:solidFill>
                          <a:effectLst/>
                          <a:latin typeface="Times New Roman" panose="02020603050405020304" pitchFamily="18" charset="0"/>
                          <a:ea typeface="+mn-ea"/>
                          <a:cs typeface="Times New Roman" panose="02020603050405020304" pitchFamily="18" charset="0"/>
                        </a:rPr>
                        <a:t>Car Detection Based Algorithm for Automatic Parking Space Detection</a:t>
                      </a:r>
                      <a:endParaRPr lang="en-IN" b="0">
                        <a:latin typeface="Times New Roman" panose="02020603050405020304" pitchFamily="18" charset="0"/>
                        <a:cs typeface="Times New Roman" panose="02020603050405020304" pitchFamily="18" charset="0"/>
                      </a:endParaRPr>
                    </a:p>
                  </a:txBody>
                  <a:tcPr>
                    <a:solidFill>
                      <a:srgbClr val="FFCCD5"/>
                    </a:solidFill>
                  </a:tcPr>
                </a:tc>
                <a:tc>
                  <a:txBody>
                    <a:bodyPr/>
                    <a:lstStyle/>
                    <a:p>
                      <a:pPr algn="just"/>
                      <a:r>
                        <a:rPr lang="en-IN" sz="1800" kern="1200">
                          <a:solidFill>
                            <a:schemeClr val="dk1"/>
                          </a:solidFill>
                          <a:effectLst/>
                          <a:latin typeface="Times New Roman" panose="02020603050405020304" pitchFamily="18" charset="0"/>
                          <a:ea typeface="+mn-ea"/>
                          <a:cs typeface="Times New Roman" panose="02020603050405020304" pitchFamily="18" charset="0"/>
                        </a:rPr>
                        <a:t>Raj Patel and Praveen </a:t>
                      </a:r>
                      <a:r>
                        <a:rPr lang="en-IN" sz="1800" kern="1200" err="1">
                          <a:solidFill>
                            <a:schemeClr val="dk1"/>
                          </a:solidFill>
                          <a:effectLst/>
                          <a:latin typeface="Times New Roman" panose="02020603050405020304" pitchFamily="18" charset="0"/>
                          <a:ea typeface="+mn-ea"/>
                          <a:cs typeface="Times New Roman" panose="02020603050405020304" pitchFamily="18" charset="0"/>
                        </a:rPr>
                        <a:t>Meduri</a:t>
                      </a:r>
                      <a:r>
                        <a:rPr lang="en-IN" sz="1800" kern="1200">
                          <a:solidFill>
                            <a:schemeClr val="dk1"/>
                          </a:solidFill>
                          <a:effectLst/>
                          <a:latin typeface="Times New Roman" panose="02020603050405020304" pitchFamily="18" charset="0"/>
                          <a:ea typeface="+mn-ea"/>
                          <a:cs typeface="Times New Roman" panose="02020603050405020304" pitchFamily="18" charset="0"/>
                        </a:rPr>
                        <a:t> </a:t>
                      </a:r>
                      <a:endParaRPr lang="en-IN">
                        <a:latin typeface="Times New Roman" panose="02020603050405020304" pitchFamily="18" charset="0"/>
                        <a:cs typeface="Times New Roman" panose="02020603050405020304" pitchFamily="18" charset="0"/>
                      </a:endParaRPr>
                    </a:p>
                  </a:txBody>
                  <a:tcPr>
                    <a:solidFill>
                      <a:srgbClr val="FFCCD5"/>
                    </a:solidFill>
                  </a:tcPr>
                </a:tc>
                <a:tc>
                  <a:txBody>
                    <a:bodyPr/>
                    <a:lstStyle/>
                    <a:p>
                      <a:pPr algn="ctr"/>
                      <a:r>
                        <a:rPr lang="en-IN"/>
                        <a:t>2020</a:t>
                      </a:r>
                    </a:p>
                  </a:txBody>
                  <a:tcPr>
                    <a:solidFill>
                      <a:srgbClr val="FFCCD5"/>
                    </a:solidFill>
                  </a:tcPr>
                </a:tc>
                <a:tc>
                  <a:txBody>
                    <a:bodyPr/>
                    <a:lstStyle/>
                    <a:p>
                      <a:pPr algn="just"/>
                      <a:r>
                        <a:rPr lang="en-IN" sz="1800" b="1" i="0" kern="1200">
                          <a:solidFill>
                            <a:schemeClr val="dk1"/>
                          </a:solidFill>
                          <a:effectLst/>
                          <a:latin typeface="Times New Roman" panose="02020603050405020304" pitchFamily="18" charset="0"/>
                          <a:ea typeface="+mn-ea"/>
                          <a:cs typeface="Times New Roman" panose="02020603050405020304" pitchFamily="18" charset="0"/>
                        </a:rPr>
                        <a:t>Car Detection Model</a:t>
                      </a:r>
                      <a:r>
                        <a:rPr lang="en-IN" sz="1800" b="0" i="0" kern="1200">
                          <a:solidFill>
                            <a:schemeClr val="dk1"/>
                          </a:solidFill>
                          <a:effectLst/>
                          <a:latin typeface="+mn-lt"/>
                          <a:ea typeface="+mn-ea"/>
                          <a:cs typeface="+mn-cs"/>
                        </a:rPr>
                        <a:t>:</a:t>
                      </a:r>
                    </a:p>
                    <a:p>
                      <a:pPr marL="285750" indent="-285750" algn="l">
                        <a:buFont typeface="Arial" panose="020B0604020202020204" pitchFamily="34" charset="0"/>
                        <a:buChar char="•"/>
                      </a:pPr>
                      <a:r>
                        <a:rPr lang="en-IN" sz="1800" b="0" i="0" kern="1200">
                          <a:solidFill>
                            <a:schemeClr val="dk1"/>
                          </a:solidFill>
                          <a:effectLst/>
                          <a:latin typeface="Times New Roman" panose="02020603050405020304" pitchFamily="18" charset="0"/>
                          <a:ea typeface="+mn-ea"/>
                          <a:cs typeface="Times New Roman" panose="02020603050405020304" pitchFamily="18" charset="0"/>
                        </a:rPr>
                        <a:t>Used CARPK dataset</a:t>
                      </a:r>
                    </a:p>
                    <a:p>
                      <a:pPr marL="285750" indent="-285750" algn="l">
                        <a:buFont typeface="Arial" panose="020B0604020202020204" pitchFamily="34" charset="0"/>
                        <a:buChar char="•"/>
                      </a:pPr>
                      <a:r>
                        <a:rPr lang="en-IN" sz="1800" b="0" i="0" kern="1200">
                          <a:solidFill>
                            <a:schemeClr val="dk1"/>
                          </a:solidFill>
                          <a:effectLst/>
                          <a:latin typeface="Times New Roman" panose="02020603050405020304" pitchFamily="18" charset="0"/>
                          <a:ea typeface="+mn-ea"/>
                          <a:cs typeface="Times New Roman" panose="02020603050405020304" pitchFamily="18" charset="0"/>
                        </a:rPr>
                        <a:t>MAP(Mean Average Precision)was used to quantify the model performance.</a:t>
                      </a:r>
                    </a:p>
                    <a:p>
                      <a:pPr marL="285750" indent="-285750" algn="l">
                        <a:buFont typeface="Arial" panose="020B0604020202020204" pitchFamily="34" charset="0"/>
                        <a:buChar char="•"/>
                      </a:pPr>
                      <a:r>
                        <a:rPr lang="en-US" sz="1800" b="0" i="0" kern="1200">
                          <a:solidFill>
                            <a:schemeClr val="dk1"/>
                          </a:solidFill>
                          <a:effectLst/>
                          <a:latin typeface="Times New Roman" panose="02020603050405020304" pitchFamily="18" charset="0"/>
                          <a:ea typeface="+mn-ea"/>
                          <a:cs typeface="Times New Roman" panose="02020603050405020304" pitchFamily="18" charset="0"/>
                        </a:rPr>
                        <a:t>YOLOv4 model trained on MS COCO is tested on CARPK as a baseline</a:t>
                      </a:r>
                    </a:p>
                    <a:p>
                      <a:pPr marL="0" indent="0" algn="just">
                        <a:buFont typeface="Arial" panose="020B0604020202020204" pitchFamily="34" charset="0"/>
                        <a:buNone/>
                      </a:pPr>
                      <a:r>
                        <a:rPr lang="en-IN" sz="1800" b="1" i="0" kern="1200">
                          <a:solidFill>
                            <a:schemeClr val="dk1"/>
                          </a:solidFill>
                          <a:effectLst/>
                          <a:latin typeface="Times New Roman" panose="02020603050405020304" pitchFamily="18" charset="0"/>
                          <a:ea typeface="+mn-ea"/>
                          <a:cs typeface="Times New Roman" panose="02020603050405020304" pitchFamily="18" charset="0"/>
                        </a:rPr>
                        <a:t>Car Tracking</a:t>
                      </a:r>
                      <a:r>
                        <a:rPr lang="en-IN" sz="1800" b="0" i="0" kern="1200">
                          <a:solidFill>
                            <a:schemeClr val="dk1"/>
                          </a:solidFill>
                          <a:effectLst/>
                          <a:latin typeface="+mn-lt"/>
                          <a:ea typeface="+mn-ea"/>
                          <a:cs typeface="+mn-cs"/>
                        </a:rPr>
                        <a:t>:</a:t>
                      </a:r>
                    </a:p>
                    <a:p>
                      <a:pPr marL="285750" indent="-285750" algn="l">
                        <a:buFont typeface="Arial" panose="020B0604020202020204" pitchFamily="34" charset="0"/>
                        <a:buChar char="•"/>
                      </a:pPr>
                      <a:r>
                        <a:rPr lang="en-US" sz="1800" b="0" i="0" kern="1200" err="1">
                          <a:solidFill>
                            <a:schemeClr val="dk1"/>
                          </a:solidFill>
                          <a:effectLst/>
                          <a:latin typeface="Times New Roman" panose="02020603050405020304" pitchFamily="18" charset="0"/>
                          <a:ea typeface="+mn-ea"/>
                          <a:cs typeface="Times New Roman" panose="02020603050405020304" pitchFamily="18" charset="0"/>
                        </a:rPr>
                        <a:t>CNRPark+EXT</a:t>
                      </a:r>
                      <a:r>
                        <a:rPr lang="en-US" sz="1800" b="0" i="0" kern="1200">
                          <a:solidFill>
                            <a:schemeClr val="dk1"/>
                          </a:solidFill>
                          <a:effectLst/>
                          <a:latin typeface="Times New Roman" panose="02020603050405020304" pitchFamily="18" charset="0"/>
                          <a:ea typeface="+mn-ea"/>
                          <a:cs typeface="Times New Roman" panose="02020603050405020304" pitchFamily="18" charset="0"/>
                        </a:rPr>
                        <a:t> [14] dataset was used to evaluate the tracking algorithm.</a:t>
                      </a:r>
                    </a:p>
                    <a:p>
                      <a:pPr marL="285750" indent="-285750" algn="l">
                        <a:buFont typeface="Arial" panose="020B0604020202020204" pitchFamily="34" charset="0"/>
                        <a:buChar char="•"/>
                      </a:pPr>
                      <a:r>
                        <a:rPr lang="en-US" sz="1800" b="0" i="0" kern="1200" err="1">
                          <a:solidFill>
                            <a:schemeClr val="dk1"/>
                          </a:solidFill>
                          <a:effectLst/>
                          <a:latin typeface="Times New Roman" panose="02020603050405020304" pitchFamily="18" charset="0"/>
                          <a:ea typeface="+mn-ea"/>
                          <a:cs typeface="Times New Roman" panose="02020603050405020304" pitchFamily="18" charset="0"/>
                        </a:rPr>
                        <a:t>IoU</a:t>
                      </a:r>
                      <a:r>
                        <a:rPr lang="en-US" sz="1800" b="0" i="0" kern="1200">
                          <a:solidFill>
                            <a:schemeClr val="dk1"/>
                          </a:solidFill>
                          <a:effectLst/>
                          <a:latin typeface="Times New Roman" panose="02020603050405020304" pitchFamily="18" charset="0"/>
                          <a:ea typeface="+mn-ea"/>
                          <a:cs typeface="Times New Roman" panose="02020603050405020304" pitchFamily="18" charset="0"/>
                        </a:rPr>
                        <a:t>(Intersection of Union)ratio is used to identify car state</a:t>
                      </a:r>
                    </a:p>
                  </a:txBody>
                  <a:tcPr>
                    <a:solidFill>
                      <a:srgbClr val="FFCCD5"/>
                    </a:solidFill>
                  </a:tcPr>
                </a:tc>
                <a:tc>
                  <a:txBody>
                    <a:bodyPr/>
                    <a:lstStyle/>
                    <a:p>
                      <a:pPr marL="285750" indent="-28575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Increased Efficiency</a:t>
                      </a:r>
                    </a:p>
                    <a:p>
                      <a:pPr marL="285750" indent="-28575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 Real-time Updates</a:t>
                      </a:r>
                    </a:p>
                    <a:p>
                      <a:pPr marL="285750" indent="-28575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Enhanced User Experience</a:t>
                      </a:r>
                    </a:p>
                  </a:txBody>
                  <a:tcPr>
                    <a:solidFill>
                      <a:srgbClr val="FFCCD5"/>
                    </a:solidFill>
                  </a:tcPr>
                </a:tc>
                <a:tc>
                  <a:txBody>
                    <a:bodyPr/>
                    <a:lstStyle/>
                    <a:p>
                      <a:pPr marL="285750" indent="-28575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Not completely automatic need human interaction</a:t>
                      </a:r>
                    </a:p>
                    <a:p>
                      <a:pPr marL="285750" indent="-28575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Complex Environments</a:t>
                      </a:r>
                    </a:p>
                    <a:p>
                      <a:pPr marL="285750" indent="-285750" algn="just">
                        <a:buFont typeface="Arial" panose="020B0604020202020204" pitchFamily="34" charset="0"/>
                        <a:buChar char="•"/>
                      </a:pPr>
                      <a:r>
                        <a:rPr lang="en-US">
                          <a:latin typeface="Times New Roman" panose="02020603050405020304" pitchFamily="18" charset="0"/>
                          <a:cs typeface="Times New Roman" panose="02020603050405020304" pitchFamily="18" charset="0"/>
                        </a:rPr>
                        <a:t>Variable Vehicle Shapes and Sizes</a:t>
                      </a:r>
                      <a:endParaRPr lang="en-IN">
                        <a:latin typeface="Times New Roman" panose="02020603050405020304" pitchFamily="18" charset="0"/>
                        <a:cs typeface="Times New Roman" panose="02020603050405020304" pitchFamily="18" charset="0"/>
                      </a:endParaRPr>
                    </a:p>
                  </a:txBody>
                  <a:tcPr>
                    <a:solidFill>
                      <a:srgbClr val="FFCCD5"/>
                    </a:solidFill>
                  </a:tcPr>
                </a:tc>
                <a:extLst>
                  <a:ext uri="{0D108BD9-81ED-4DB2-BD59-A6C34878D82A}">
                    <a16:rowId xmlns:a16="http://schemas.microsoft.com/office/drawing/2014/main" val="2427677523"/>
                  </a:ext>
                </a:extLst>
              </a:tr>
            </a:tbl>
          </a:graphicData>
        </a:graphic>
      </p:graphicFrame>
    </p:spTree>
    <p:extLst>
      <p:ext uri="{BB962C8B-B14F-4D97-AF65-F5344CB8AC3E}">
        <p14:creationId xmlns:p14="http://schemas.microsoft.com/office/powerpoint/2010/main" val="1498542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23F3454-4ADB-5B6D-EABD-E5B205924A99}"/>
              </a:ext>
            </a:extLst>
          </p:cNvPr>
          <p:cNvGraphicFramePr>
            <a:graphicFrameLocks noGrp="1"/>
          </p:cNvGraphicFramePr>
          <p:nvPr>
            <p:extLst>
              <p:ext uri="{D42A27DB-BD31-4B8C-83A1-F6EECF244321}">
                <p14:modId xmlns:p14="http://schemas.microsoft.com/office/powerpoint/2010/main" val="2224032355"/>
              </p:ext>
            </p:extLst>
          </p:nvPr>
        </p:nvGraphicFramePr>
        <p:xfrm>
          <a:off x="1120776" y="252941"/>
          <a:ext cx="10080624" cy="6205009"/>
        </p:xfrm>
        <a:graphic>
          <a:graphicData uri="http://schemas.openxmlformats.org/drawingml/2006/table">
            <a:tbl>
              <a:tblPr firstRow="1" bandRow="1">
                <a:tableStyleId>{5C22544A-7EE6-4342-B048-85BDC9FD1C3A}</a:tableStyleId>
              </a:tblPr>
              <a:tblGrid>
                <a:gridCol w="591842">
                  <a:extLst>
                    <a:ext uri="{9D8B030D-6E8A-4147-A177-3AD203B41FA5}">
                      <a16:colId xmlns:a16="http://schemas.microsoft.com/office/drawing/2014/main" val="2076140886"/>
                    </a:ext>
                  </a:extLst>
                </a:gridCol>
                <a:gridCol w="1350946">
                  <a:extLst>
                    <a:ext uri="{9D8B030D-6E8A-4147-A177-3AD203B41FA5}">
                      <a16:colId xmlns:a16="http://schemas.microsoft.com/office/drawing/2014/main" val="3617671582"/>
                    </a:ext>
                  </a:extLst>
                </a:gridCol>
                <a:gridCol w="1138654">
                  <a:extLst>
                    <a:ext uri="{9D8B030D-6E8A-4147-A177-3AD203B41FA5}">
                      <a16:colId xmlns:a16="http://schemas.microsoft.com/office/drawing/2014/main" val="189551559"/>
                    </a:ext>
                  </a:extLst>
                </a:gridCol>
                <a:gridCol w="704422">
                  <a:extLst>
                    <a:ext uri="{9D8B030D-6E8A-4147-A177-3AD203B41FA5}">
                      <a16:colId xmlns:a16="http://schemas.microsoft.com/office/drawing/2014/main" val="2466656034"/>
                    </a:ext>
                  </a:extLst>
                </a:gridCol>
                <a:gridCol w="3210665">
                  <a:extLst>
                    <a:ext uri="{9D8B030D-6E8A-4147-A177-3AD203B41FA5}">
                      <a16:colId xmlns:a16="http://schemas.microsoft.com/office/drawing/2014/main" val="72323785"/>
                    </a:ext>
                  </a:extLst>
                </a:gridCol>
                <a:gridCol w="1541127">
                  <a:extLst>
                    <a:ext uri="{9D8B030D-6E8A-4147-A177-3AD203B41FA5}">
                      <a16:colId xmlns:a16="http://schemas.microsoft.com/office/drawing/2014/main" val="930945724"/>
                    </a:ext>
                  </a:extLst>
                </a:gridCol>
                <a:gridCol w="1542968">
                  <a:extLst>
                    <a:ext uri="{9D8B030D-6E8A-4147-A177-3AD203B41FA5}">
                      <a16:colId xmlns:a16="http://schemas.microsoft.com/office/drawing/2014/main" val="2418902886"/>
                    </a:ext>
                  </a:extLst>
                </a:gridCol>
              </a:tblGrid>
              <a:tr h="904522">
                <a:tc>
                  <a:txBody>
                    <a:bodyPr/>
                    <a:lstStyle/>
                    <a:p>
                      <a:pPr algn="ctr"/>
                      <a:r>
                        <a:rPr lang="en-IN" dirty="0"/>
                        <a:t>SL</a:t>
                      </a:r>
                      <a:r>
                        <a:rPr lang="en-IN" dirty="0">
                          <a:latin typeface="Times New Roman"/>
                          <a:cs typeface="Times New Roman"/>
                        </a:rPr>
                        <a:t>.NO</a:t>
                      </a:r>
                    </a:p>
                  </a:txBody>
                  <a:tcPr>
                    <a:solidFill>
                      <a:srgbClr val="FF758F"/>
                    </a:solidFill>
                  </a:tcPr>
                </a:tc>
                <a:tc>
                  <a:txBody>
                    <a:bodyPr/>
                    <a:lstStyle/>
                    <a:p>
                      <a:pPr algn="ctr"/>
                      <a:r>
                        <a:rPr lang="en-IN" dirty="0"/>
                        <a:t>TITLE</a:t>
                      </a:r>
                    </a:p>
                  </a:txBody>
                  <a:tcPr>
                    <a:solidFill>
                      <a:srgbClr val="FF758F"/>
                    </a:solidFill>
                  </a:tcPr>
                </a:tc>
                <a:tc>
                  <a:txBody>
                    <a:bodyPr/>
                    <a:lstStyle/>
                    <a:p>
                      <a:pPr algn="ctr"/>
                      <a:r>
                        <a:rPr lang="en-IN" dirty="0"/>
                        <a:t>AUTHOR</a:t>
                      </a:r>
                    </a:p>
                  </a:txBody>
                  <a:tcPr>
                    <a:solidFill>
                      <a:srgbClr val="FF758F"/>
                    </a:solidFill>
                  </a:tcPr>
                </a:tc>
                <a:tc>
                  <a:txBody>
                    <a:bodyPr/>
                    <a:lstStyle/>
                    <a:p>
                      <a:pPr algn="ctr"/>
                      <a:r>
                        <a:rPr lang="en-IN" dirty="0"/>
                        <a:t>PUB YEAR</a:t>
                      </a:r>
                    </a:p>
                  </a:txBody>
                  <a:tcPr>
                    <a:solidFill>
                      <a:srgbClr val="FF758F"/>
                    </a:solidFill>
                  </a:tcPr>
                </a:tc>
                <a:tc>
                  <a:txBody>
                    <a:bodyPr/>
                    <a:lstStyle/>
                    <a:p>
                      <a:pPr algn="ctr"/>
                      <a:r>
                        <a:rPr lang="en-IN" dirty="0"/>
                        <a:t>METHODOLOGY</a:t>
                      </a:r>
                    </a:p>
                  </a:txBody>
                  <a:tcPr>
                    <a:solidFill>
                      <a:srgbClr val="FF758F"/>
                    </a:solidFill>
                  </a:tcPr>
                </a:tc>
                <a:tc>
                  <a:txBody>
                    <a:bodyPr/>
                    <a:lstStyle/>
                    <a:p>
                      <a:pPr algn="ctr"/>
                      <a:r>
                        <a:rPr lang="en-IN" dirty="0"/>
                        <a:t>ADVANTAGES</a:t>
                      </a:r>
                    </a:p>
                  </a:txBody>
                  <a:tcPr>
                    <a:solidFill>
                      <a:srgbClr val="FF758F"/>
                    </a:solidFill>
                  </a:tcPr>
                </a:tc>
                <a:tc>
                  <a:txBody>
                    <a:bodyPr/>
                    <a:lstStyle/>
                    <a:p>
                      <a:pPr algn="ctr"/>
                      <a:r>
                        <a:rPr lang="en-IN" dirty="0"/>
                        <a:t>LIMITATIONS</a:t>
                      </a:r>
                    </a:p>
                  </a:txBody>
                  <a:tcPr>
                    <a:solidFill>
                      <a:srgbClr val="FF758F"/>
                    </a:solidFill>
                  </a:tcPr>
                </a:tc>
                <a:extLst>
                  <a:ext uri="{0D108BD9-81ED-4DB2-BD59-A6C34878D82A}">
                    <a16:rowId xmlns:a16="http://schemas.microsoft.com/office/drawing/2014/main" val="3592391041"/>
                  </a:ext>
                </a:extLst>
              </a:tr>
              <a:tr h="5300487">
                <a:tc>
                  <a:txBody>
                    <a:bodyPr/>
                    <a:lstStyle/>
                    <a:p>
                      <a:pPr algn="ctr"/>
                      <a:r>
                        <a:rPr lang="en-IN" dirty="0">
                          <a:latin typeface="Times New Roman"/>
                          <a:cs typeface="Times New Roman"/>
                        </a:rPr>
                        <a:t>3</a:t>
                      </a:r>
                    </a:p>
                  </a:txBody>
                  <a:tcPr>
                    <a:solidFill>
                      <a:srgbClr val="FFCCD5"/>
                    </a:solidFill>
                  </a:tcPr>
                </a:tc>
                <a:tc>
                  <a:txBody>
                    <a:bodyPr/>
                    <a:lstStyle/>
                    <a:p>
                      <a:pPr lvl="0" algn="just">
                        <a:buNone/>
                      </a:pPr>
                      <a:r>
                        <a:rPr lang="en-IN" sz="1800" b="0" i="0" u="none" strike="noStrike" kern="1200" noProof="0" dirty="0">
                          <a:solidFill>
                            <a:schemeClr val="dk1"/>
                          </a:solidFill>
                          <a:effectLst/>
                          <a:latin typeface="Times New Roman"/>
                        </a:rPr>
                        <a:t>Automated Vehicle Parking slot </a:t>
                      </a:r>
                      <a:endParaRPr lang="en-IN" sz="1800" b="0" i="0" u="none" strike="noStrike" kern="1200" noProof="0" dirty="0">
                        <a:solidFill>
                          <a:srgbClr val="000000"/>
                        </a:solidFill>
                        <a:effectLst/>
                        <a:latin typeface="Times New Roman"/>
                      </a:endParaRPr>
                    </a:p>
                    <a:p>
                      <a:pPr lvl="0" algn="just">
                        <a:buNone/>
                      </a:pPr>
                      <a:r>
                        <a:rPr lang="en-IN" sz="1800" b="0" i="0" u="none" strike="noStrike" kern="1200" noProof="0" dirty="0">
                          <a:solidFill>
                            <a:schemeClr val="dk1"/>
                          </a:solidFill>
                          <a:effectLst/>
                          <a:latin typeface="Times New Roman"/>
                        </a:rPr>
                        <a:t>Detection  system</a:t>
                      </a:r>
                      <a:endParaRPr lang="en-US" sz="1800" b="0" i="0" u="none" strike="noStrike" kern="1200" noProof="0" dirty="0">
                        <a:solidFill>
                          <a:srgbClr val="000000"/>
                        </a:solidFill>
                        <a:effectLst/>
                        <a:latin typeface="Times New Roman"/>
                      </a:endParaRPr>
                    </a:p>
                    <a:p>
                      <a:pPr lvl="0" algn="just">
                        <a:buNone/>
                      </a:pPr>
                      <a:r>
                        <a:rPr lang="en-IN" sz="1800" b="0" i="0" u="none" strike="noStrike" kern="1200" noProof="0" dirty="0">
                          <a:solidFill>
                            <a:schemeClr val="dk1"/>
                          </a:solidFill>
                          <a:effectLst/>
                          <a:latin typeface="Times New Roman"/>
                        </a:rPr>
                        <a:t>using deep  learning</a:t>
                      </a:r>
                      <a:endParaRPr lang="en-PH" b="0" dirty="0">
                        <a:latin typeface="Times New Roman"/>
                      </a:endParaRPr>
                    </a:p>
                  </a:txBody>
                  <a:tcPr>
                    <a:solidFill>
                      <a:srgbClr val="FFCCD5"/>
                    </a:solidFill>
                  </a:tcPr>
                </a:tc>
                <a:tc>
                  <a:txBody>
                    <a:bodyPr/>
                    <a:lstStyle/>
                    <a:p>
                      <a:pPr lvl="0" algn="just">
                        <a:buNone/>
                      </a:pPr>
                      <a:r>
                        <a:rPr lang="en-IN" sz="1800" b="0" i="0" u="none" strike="noStrike" kern="1200" noProof="0" dirty="0">
                          <a:solidFill>
                            <a:schemeClr val="dk1"/>
                          </a:solidFill>
                          <a:effectLst/>
                          <a:latin typeface="Times New Roman"/>
                          <a:cs typeface="Times New Roman"/>
                        </a:rPr>
                        <a:t>BANDI SAIRAM</a:t>
                      </a:r>
                      <a:endParaRPr lang="en-US" dirty="0"/>
                    </a:p>
                    <a:p>
                      <a:pPr lvl="0" algn="just">
                        <a:buNone/>
                      </a:pPr>
                      <a:r>
                        <a:rPr lang="en-IN" sz="1800" b="0" i="0" u="none" strike="noStrike" kern="1200" noProof="0" dirty="0">
                          <a:solidFill>
                            <a:schemeClr val="dk1"/>
                          </a:solidFill>
                          <a:effectLst/>
                          <a:latin typeface="Times New Roman"/>
                          <a:cs typeface="Times New Roman"/>
                        </a:rPr>
                        <a:t>and</a:t>
                      </a:r>
                    </a:p>
                    <a:p>
                      <a:pPr lvl="0" algn="just">
                        <a:buNone/>
                      </a:pPr>
                      <a:r>
                        <a:rPr lang="en-IN" sz="1800" b="0" i="0" u="none" strike="noStrike" kern="1200" noProof="0" dirty="0">
                          <a:solidFill>
                            <a:schemeClr val="dk1"/>
                          </a:solidFill>
                          <a:effectLst/>
                          <a:latin typeface="Times New Roman"/>
                          <a:cs typeface="Times New Roman"/>
                        </a:rPr>
                        <a:t>ADITI AGRAWAL</a:t>
                      </a:r>
                      <a:endParaRPr lang="en-IN"/>
                    </a:p>
                  </a:txBody>
                  <a:tcPr>
                    <a:solidFill>
                      <a:srgbClr val="FFCCD5"/>
                    </a:solidFill>
                  </a:tcPr>
                </a:tc>
                <a:tc>
                  <a:txBody>
                    <a:bodyPr/>
                    <a:lstStyle/>
                    <a:p>
                      <a:pPr algn="ctr"/>
                      <a:r>
                        <a:rPr lang="en-IN" dirty="0"/>
                        <a:t>2020</a:t>
                      </a:r>
                    </a:p>
                  </a:txBody>
                  <a:tcPr>
                    <a:solidFill>
                      <a:srgbClr val="FFCCD5"/>
                    </a:solidFill>
                  </a:tcPr>
                </a:tc>
                <a:tc>
                  <a:txBody>
                    <a:bodyPr/>
                    <a:lstStyle/>
                    <a:p>
                      <a:pPr algn="just"/>
                      <a:r>
                        <a:rPr lang="en-US" sz="1800" b="1" i="0" kern="1200" dirty="0">
                          <a:solidFill>
                            <a:schemeClr val="dk1"/>
                          </a:solidFill>
                          <a:effectLst/>
                          <a:latin typeface="Times New Roman"/>
                          <a:ea typeface="+mn-ea"/>
                          <a:cs typeface="Times New Roman"/>
                        </a:rPr>
                        <a:t>Initial Setup:</a:t>
                      </a:r>
                    </a:p>
                    <a:p>
                      <a:pPr marL="285750" indent="-285750" algn="just">
                        <a:buFont typeface="Arial" panose="020B0604020202020204" pitchFamily="34" charset="0"/>
                        <a:buChar char="•"/>
                      </a:pPr>
                      <a:r>
                        <a:rPr lang="en-US" sz="1800" b="0" i="0" kern="1200" dirty="0">
                          <a:solidFill>
                            <a:schemeClr val="dk1"/>
                          </a:solidFill>
                          <a:effectLst/>
                          <a:latin typeface="Times New Roman"/>
                          <a:ea typeface="+mn-ea"/>
                          <a:cs typeface="Times New Roman"/>
                        </a:rPr>
                        <a:t>Manually segment the parking slots based on live video streams from surveillance cameras.</a:t>
                      </a:r>
                    </a:p>
                    <a:p>
                      <a:pPr marL="285750" indent="-285750" algn="just">
                        <a:buFont typeface="Arial" panose="020B0604020202020204" pitchFamily="34" charset="0"/>
                        <a:buChar char="•"/>
                      </a:pPr>
                      <a:r>
                        <a:rPr lang="en-US" sz="1800" b="0" i="0" kern="1200" dirty="0">
                          <a:solidFill>
                            <a:schemeClr val="dk1"/>
                          </a:solidFill>
                          <a:effectLst/>
                          <a:latin typeface="Times New Roman"/>
                          <a:ea typeface="+mn-ea"/>
                          <a:cs typeface="Times New Roman"/>
                        </a:rPr>
                        <a:t>Assign an ID to each parking slot and geo-tag and map each slot alongside its ID.</a:t>
                      </a:r>
                    </a:p>
                    <a:p>
                      <a:pPr marL="0" indent="0" algn="just">
                        <a:buFont typeface="Arial" panose="020B0604020202020204" pitchFamily="34" charset="0"/>
                        <a:buNone/>
                      </a:pPr>
                      <a:r>
                        <a:rPr lang="en-US" sz="1800" b="1" i="0" kern="1200" dirty="0">
                          <a:solidFill>
                            <a:schemeClr val="dk1"/>
                          </a:solidFill>
                          <a:effectLst/>
                          <a:latin typeface="Times New Roman"/>
                          <a:ea typeface="+mn-ea"/>
                          <a:cs typeface="Times New Roman"/>
                        </a:rPr>
                        <a:t>Live Video Stream Processing:</a:t>
                      </a:r>
                    </a:p>
                    <a:p>
                      <a:pPr marL="285750" indent="-285750" algn="just">
                        <a:buFont typeface="Arial" panose="020B0604020202020204" pitchFamily="34" charset="0"/>
                        <a:buChar char="•"/>
                      </a:pPr>
                      <a:r>
                        <a:rPr lang="en-US" sz="1800" b="0" i="0" kern="1200" dirty="0">
                          <a:solidFill>
                            <a:schemeClr val="dk1"/>
                          </a:solidFill>
                          <a:effectLst/>
                          <a:latin typeface="Times New Roman"/>
                          <a:ea typeface="+mn-ea"/>
                          <a:cs typeface="Times New Roman"/>
                        </a:rPr>
                        <a:t>Mask R-CNN model is used to detect vacant slots.</a:t>
                      </a:r>
                    </a:p>
                    <a:p>
                      <a:pPr algn="just"/>
                      <a:r>
                        <a:rPr lang="en-US" sz="1800" b="1" i="0" kern="1200" dirty="0">
                          <a:solidFill>
                            <a:schemeClr val="dk1"/>
                          </a:solidFill>
                          <a:effectLst/>
                          <a:latin typeface="Times New Roman"/>
                          <a:ea typeface="+mn-ea"/>
                          <a:cs typeface="Times New Roman"/>
                        </a:rPr>
                        <a:t>Parking Slot Detection:</a:t>
                      </a:r>
                    </a:p>
                    <a:p>
                      <a:pPr marL="285750" indent="-285750" algn="just">
                        <a:buFont typeface="Arial" panose="020B0604020202020204" pitchFamily="34" charset="0"/>
                        <a:buChar char="•"/>
                      </a:pPr>
                      <a:r>
                        <a:rPr lang="en-US" sz="1800" b="0" i="0" kern="1200" dirty="0">
                          <a:solidFill>
                            <a:schemeClr val="dk1"/>
                          </a:solidFill>
                          <a:effectLst/>
                          <a:latin typeface="Times New Roman"/>
                          <a:ea typeface="+mn-ea"/>
                          <a:cs typeface="Times New Roman"/>
                        </a:rPr>
                        <a:t>Detect marking points and the type of parking slot.</a:t>
                      </a:r>
                    </a:p>
                    <a:p>
                      <a:pPr marL="285750" indent="-285750" algn="just">
                        <a:buFont typeface="Arial" panose="020B0604020202020204" pitchFamily="34" charset="0"/>
                        <a:buChar char="•"/>
                      </a:pPr>
                      <a:r>
                        <a:rPr lang="en-US" sz="1800" b="0" i="0" kern="1200" dirty="0">
                          <a:solidFill>
                            <a:schemeClr val="dk1"/>
                          </a:solidFill>
                          <a:effectLst/>
                          <a:latin typeface="Times New Roman"/>
                          <a:ea typeface="+mn-ea"/>
                          <a:cs typeface="Times New Roman"/>
                        </a:rPr>
                        <a:t>Use sensors to find free space between two vehicles</a:t>
                      </a:r>
                    </a:p>
                    <a:p>
                      <a:pPr marL="285750" indent="-285750" algn="just">
                        <a:buFont typeface="Arial" panose="020B0604020202020204" pitchFamily="34" charset="0"/>
                        <a:buChar char="•"/>
                      </a:pPr>
                      <a:endParaRPr lang="en-US" sz="1800" b="0" i="0" kern="1200">
                        <a:solidFill>
                          <a:schemeClr val="dk1"/>
                        </a:solidFill>
                        <a:effectLst/>
                        <a:latin typeface="Times New Roman" panose="02020603050405020304" pitchFamily="18" charset="0"/>
                        <a:ea typeface="+mn-ea"/>
                        <a:cs typeface="Times New Roman" panose="02020603050405020304" pitchFamily="18" charset="0"/>
                      </a:endParaRPr>
                    </a:p>
                    <a:p>
                      <a:pPr algn="just"/>
                      <a:endParaRPr lang="en-IN"/>
                    </a:p>
                  </a:txBody>
                  <a:tcPr>
                    <a:solidFill>
                      <a:srgbClr val="FFCCD5"/>
                    </a:solidFill>
                  </a:tcPr>
                </a:tc>
                <a:tc>
                  <a:txBody>
                    <a:bodyPr/>
                    <a:lstStyle/>
                    <a:p>
                      <a:pPr marL="285750" indent="-285750" algn="just">
                        <a:buFont typeface="Arial" panose="020B0604020202020204" pitchFamily="34" charset="0"/>
                        <a:buChar char="•"/>
                      </a:pPr>
                      <a:r>
                        <a:rPr lang="en-IN" sz="1800" b="0" i="0" kern="1200" dirty="0">
                          <a:solidFill>
                            <a:schemeClr val="dk1"/>
                          </a:solidFill>
                          <a:effectLst/>
                          <a:latin typeface="Times New Roman"/>
                          <a:ea typeface="+mn-ea"/>
                          <a:cs typeface="+mn-cs"/>
                        </a:rPr>
                        <a:t>Fuel Savings</a:t>
                      </a:r>
                    </a:p>
                    <a:p>
                      <a:pPr marL="285750" indent="-285750" algn="just">
                        <a:buFont typeface="Arial" panose="020B0604020202020204" pitchFamily="34" charset="0"/>
                        <a:buChar char="•"/>
                      </a:pPr>
                      <a:r>
                        <a:rPr lang="en-IN" sz="1800" b="0" i="0" kern="1200" dirty="0">
                          <a:solidFill>
                            <a:schemeClr val="dk1"/>
                          </a:solidFill>
                          <a:effectLst/>
                          <a:latin typeface="Times New Roman"/>
                          <a:ea typeface="+mn-ea"/>
                          <a:cs typeface="+mn-cs"/>
                        </a:rPr>
                        <a:t>Urban Planning Benefits</a:t>
                      </a:r>
                    </a:p>
                    <a:p>
                      <a:pPr marL="285750" indent="-285750" algn="just">
                        <a:buFont typeface="Arial" panose="020B0604020202020204" pitchFamily="34" charset="0"/>
                        <a:buChar char="•"/>
                      </a:pPr>
                      <a:r>
                        <a:rPr lang="en-IN" sz="1800" b="0" i="0" kern="1200" dirty="0">
                          <a:solidFill>
                            <a:schemeClr val="dk1"/>
                          </a:solidFill>
                          <a:effectLst/>
                          <a:latin typeface="Times New Roman"/>
                          <a:ea typeface="+mn-ea"/>
                          <a:cs typeface="+mn-cs"/>
                        </a:rPr>
                        <a:t>Improved Efficiency</a:t>
                      </a:r>
                      <a:endParaRPr lang="en-IN" dirty="0">
                        <a:latin typeface="Times New Roman"/>
                      </a:endParaRPr>
                    </a:p>
                  </a:txBody>
                  <a:tcPr>
                    <a:solidFill>
                      <a:srgbClr val="FFCCD5"/>
                    </a:solidFill>
                  </a:tcPr>
                </a:tc>
                <a:tc>
                  <a:txBody>
                    <a:bodyPr/>
                    <a:lstStyle/>
                    <a:p>
                      <a:pPr marL="285750" indent="-285750" algn="just">
                        <a:buFont typeface="Arial" panose="020B0604020202020204" pitchFamily="34" charset="0"/>
                        <a:buChar char="•"/>
                      </a:pPr>
                      <a:r>
                        <a:rPr lang="en-IN" dirty="0">
                          <a:latin typeface="Times New Roman"/>
                          <a:cs typeface="Times New Roman"/>
                        </a:rPr>
                        <a:t>Difficulty in maintain sensor</a:t>
                      </a:r>
                    </a:p>
                    <a:p>
                      <a:pPr marL="285750" indent="-285750" algn="just">
                        <a:buFont typeface="Arial" panose="020B0604020202020204" pitchFamily="34" charset="0"/>
                        <a:buChar char="•"/>
                      </a:pPr>
                      <a:r>
                        <a:rPr lang="en-US" sz="1800" b="0" i="0" kern="1200" dirty="0">
                          <a:solidFill>
                            <a:schemeClr val="dk1"/>
                          </a:solidFill>
                          <a:effectLst/>
                          <a:latin typeface="Times New Roman"/>
                          <a:ea typeface="+mn-ea"/>
                          <a:cs typeface="Times New Roman"/>
                        </a:rPr>
                        <a:t>method is not completely automatic as it requires a car to be manually parked in the slot to start working.</a:t>
                      </a:r>
                      <a:endParaRPr lang="en-IN" dirty="0">
                        <a:latin typeface="Times New Roman"/>
                        <a:cs typeface="Times New Roman"/>
                      </a:endParaRPr>
                    </a:p>
                    <a:p>
                      <a:pPr marL="0" indent="0" algn="just">
                        <a:buFont typeface="Arial" panose="020B0604020202020204" pitchFamily="34" charset="0"/>
                        <a:buNone/>
                      </a:pPr>
                      <a:endParaRPr lang="en-IN">
                        <a:latin typeface="Times New Roman" panose="02020603050405020304" pitchFamily="18" charset="0"/>
                        <a:cs typeface="Times New Roman" panose="02020603050405020304" pitchFamily="18" charset="0"/>
                      </a:endParaRPr>
                    </a:p>
                  </a:txBody>
                  <a:tcPr>
                    <a:solidFill>
                      <a:srgbClr val="FFCCD5"/>
                    </a:solidFill>
                  </a:tcPr>
                </a:tc>
                <a:extLst>
                  <a:ext uri="{0D108BD9-81ED-4DB2-BD59-A6C34878D82A}">
                    <a16:rowId xmlns:a16="http://schemas.microsoft.com/office/drawing/2014/main" val="2427677523"/>
                  </a:ext>
                </a:extLst>
              </a:tr>
            </a:tbl>
          </a:graphicData>
        </a:graphic>
      </p:graphicFrame>
    </p:spTree>
    <p:extLst>
      <p:ext uri="{BB962C8B-B14F-4D97-AF65-F5344CB8AC3E}">
        <p14:creationId xmlns:p14="http://schemas.microsoft.com/office/powerpoint/2010/main" val="37437364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23F3454-4ADB-5B6D-EABD-E5B205924A99}"/>
              </a:ext>
            </a:extLst>
          </p:cNvPr>
          <p:cNvGraphicFramePr>
            <a:graphicFrameLocks noGrp="1"/>
          </p:cNvGraphicFramePr>
          <p:nvPr>
            <p:extLst>
              <p:ext uri="{D42A27DB-BD31-4B8C-83A1-F6EECF244321}">
                <p14:modId xmlns:p14="http://schemas.microsoft.com/office/powerpoint/2010/main" val="3282424235"/>
              </p:ext>
            </p:extLst>
          </p:nvPr>
        </p:nvGraphicFramePr>
        <p:xfrm>
          <a:off x="1120776" y="252941"/>
          <a:ext cx="10080624" cy="6205009"/>
        </p:xfrm>
        <a:graphic>
          <a:graphicData uri="http://schemas.openxmlformats.org/drawingml/2006/table">
            <a:tbl>
              <a:tblPr firstRow="1" bandRow="1">
                <a:tableStyleId>{5C22544A-7EE6-4342-B048-85BDC9FD1C3A}</a:tableStyleId>
              </a:tblPr>
              <a:tblGrid>
                <a:gridCol w="591842">
                  <a:extLst>
                    <a:ext uri="{9D8B030D-6E8A-4147-A177-3AD203B41FA5}">
                      <a16:colId xmlns:a16="http://schemas.microsoft.com/office/drawing/2014/main" val="2076140886"/>
                    </a:ext>
                  </a:extLst>
                </a:gridCol>
                <a:gridCol w="1350946">
                  <a:extLst>
                    <a:ext uri="{9D8B030D-6E8A-4147-A177-3AD203B41FA5}">
                      <a16:colId xmlns:a16="http://schemas.microsoft.com/office/drawing/2014/main" val="3617671582"/>
                    </a:ext>
                  </a:extLst>
                </a:gridCol>
                <a:gridCol w="1138654">
                  <a:extLst>
                    <a:ext uri="{9D8B030D-6E8A-4147-A177-3AD203B41FA5}">
                      <a16:colId xmlns:a16="http://schemas.microsoft.com/office/drawing/2014/main" val="189551559"/>
                    </a:ext>
                  </a:extLst>
                </a:gridCol>
                <a:gridCol w="704422">
                  <a:extLst>
                    <a:ext uri="{9D8B030D-6E8A-4147-A177-3AD203B41FA5}">
                      <a16:colId xmlns:a16="http://schemas.microsoft.com/office/drawing/2014/main" val="2466656034"/>
                    </a:ext>
                  </a:extLst>
                </a:gridCol>
                <a:gridCol w="3208824">
                  <a:extLst>
                    <a:ext uri="{9D8B030D-6E8A-4147-A177-3AD203B41FA5}">
                      <a16:colId xmlns:a16="http://schemas.microsoft.com/office/drawing/2014/main" val="72323785"/>
                    </a:ext>
                  </a:extLst>
                </a:gridCol>
                <a:gridCol w="1542968">
                  <a:extLst>
                    <a:ext uri="{9D8B030D-6E8A-4147-A177-3AD203B41FA5}">
                      <a16:colId xmlns:a16="http://schemas.microsoft.com/office/drawing/2014/main" val="930945724"/>
                    </a:ext>
                  </a:extLst>
                </a:gridCol>
                <a:gridCol w="1542968">
                  <a:extLst>
                    <a:ext uri="{9D8B030D-6E8A-4147-A177-3AD203B41FA5}">
                      <a16:colId xmlns:a16="http://schemas.microsoft.com/office/drawing/2014/main" val="2418902886"/>
                    </a:ext>
                  </a:extLst>
                </a:gridCol>
              </a:tblGrid>
              <a:tr h="904522">
                <a:tc>
                  <a:txBody>
                    <a:bodyPr/>
                    <a:lstStyle/>
                    <a:p>
                      <a:pPr algn="ctr"/>
                      <a:r>
                        <a:rPr lang="en-IN" dirty="0"/>
                        <a:t>SL</a:t>
                      </a:r>
                      <a:r>
                        <a:rPr lang="en-IN" dirty="0">
                          <a:latin typeface="Times New Roman"/>
                          <a:cs typeface="Times New Roman"/>
                        </a:rPr>
                        <a:t>.NO</a:t>
                      </a:r>
                    </a:p>
                  </a:txBody>
                  <a:tcPr>
                    <a:solidFill>
                      <a:srgbClr val="FF758F"/>
                    </a:solidFill>
                  </a:tcPr>
                </a:tc>
                <a:tc>
                  <a:txBody>
                    <a:bodyPr/>
                    <a:lstStyle/>
                    <a:p>
                      <a:pPr algn="ctr"/>
                      <a:r>
                        <a:rPr lang="en-IN" dirty="0"/>
                        <a:t>TITLE</a:t>
                      </a:r>
                    </a:p>
                  </a:txBody>
                  <a:tcPr>
                    <a:solidFill>
                      <a:srgbClr val="FF758F"/>
                    </a:solidFill>
                  </a:tcPr>
                </a:tc>
                <a:tc>
                  <a:txBody>
                    <a:bodyPr/>
                    <a:lstStyle/>
                    <a:p>
                      <a:pPr algn="ctr"/>
                      <a:r>
                        <a:rPr lang="en-IN" dirty="0"/>
                        <a:t>AUTHOR</a:t>
                      </a:r>
                    </a:p>
                  </a:txBody>
                  <a:tcPr>
                    <a:solidFill>
                      <a:srgbClr val="FF758F"/>
                    </a:solidFill>
                  </a:tcPr>
                </a:tc>
                <a:tc>
                  <a:txBody>
                    <a:bodyPr/>
                    <a:lstStyle/>
                    <a:p>
                      <a:pPr algn="ctr"/>
                      <a:r>
                        <a:rPr lang="en-IN" dirty="0"/>
                        <a:t>PUB YEAR</a:t>
                      </a:r>
                    </a:p>
                  </a:txBody>
                  <a:tcPr>
                    <a:solidFill>
                      <a:srgbClr val="FF758F"/>
                    </a:solidFill>
                  </a:tcPr>
                </a:tc>
                <a:tc>
                  <a:txBody>
                    <a:bodyPr/>
                    <a:lstStyle/>
                    <a:p>
                      <a:pPr algn="ctr"/>
                      <a:r>
                        <a:rPr lang="en-IN" dirty="0"/>
                        <a:t>METHODOLOGY</a:t>
                      </a:r>
                    </a:p>
                  </a:txBody>
                  <a:tcPr>
                    <a:solidFill>
                      <a:srgbClr val="FF758F"/>
                    </a:solidFill>
                  </a:tcPr>
                </a:tc>
                <a:tc>
                  <a:txBody>
                    <a:bodyPr/>
                    <a:lstStyle/>
                    <a:p>
                      <a:pPr algn="ctr"/>
                      <a:r>
                        <a:rPr lang="en-IN" dirty="0"/>
                        <a:t>ADVANTAGES</a:t>
                      </a:r>
                    </a:p>
                  </a:txBody>
                  <a:tcPr>
                    <a:solidFill>
                      <a:srgbClr val="FF758F"/>
                    </a:solidFill>
                  </a:tcPr>
                </a:tc>
                <a:tc>
                  <a:txBody>
                    <a:bodyPr/>
                    <a:lstStyle/>
                    <a:p>
                      <a:pPr algn="ctr"/>
                      <a:r>
                        <a:rPr lang="en-IN" dirty="0"/>
                        <a:t>LIMITATIONS</a:t>
                      </a:r>
                    </a:p>
                  </a:txBody>
                  <a:tcPr>
                    <a:solidFill>
                      <a:srgbClr val="FF758F"/>
                    </a:solidFill>
                  </a:tcPr>
                </a:tc>
                <a:extLst>
                  <a:ext uri="{0D108BD9-81ED-4DB2-BD59-A6C34878D82A}">
                    <a16:rowId xmlns:a16="http://schemas.microsoft.com/office/drawing/2014/main" val="3592391041"/>
                  </a:ext>
                </a:extLst>
              </a:tr>
              <a:tr h="5300487">
                <a:tc>
                  <a:txBody>
                    <a:bodyPr/>
                    <a:lstStyle/>
                    <a:p>
                      <a:pPr algn="ctr"/>
                      <a:r>
                        <a:rPr lang="en-IN" dirty="0"/>
                        <a:t>4</a:t>
                      </a:r>
                    </a:p>
                  </a:txBody>
                  <a:tcPr>
                    <a:solidFill>
                      <a:srgbClr val="FFCCD5"/>
                    </a:solidFill>
                  </a:tcPr>
                </a:tc>
                <a:tc>
                  <a:txBody>
                    <a:bodyPr/>
                    <a:lstStyle/>
                    <a:p>
                      <a:pPr algn="just"/>
                      <a:r>
                        <a:rPr lang="en-IN" sz="1800" b="0" kern="1200" dirty="0">
                          <a:solidFill>
                            <a:schemeClr val="dk1"/>
                          </a:solidFill>
                          <a:effectLst/>
                          <a:latin typeface="Times New Roman"/>
                          <a:ea typeface="+mn-ea"/>
                          <a:cs typeface="+mn-cs"/>
                        </a:rPr>
                        <a:t>Method for judging parking status based on yolov2 target detection algorithm</a:t>
                      </a:r>
                      <a:endParaRPr lang="en-IN" b="0" dirty="0">
                        <a:latin typeface="Times New Roman"/>
                        <a:cs typeface="Times New Roman" panose="02020603050405020304" pitchFamily="18" charset="0"/>
                      </a:endParaRPr>
                    </a:p>
                  </a:txBody>
                  <a:tcPr>
                    <a:solidFill>
                      <a:srgbClr val="FFCCD5"/>
                    </a:solidFill>
                  </a:tcPr>
                </a:tc>
                <a:tc>
                  <a:txBody>
                    <a:bodyPr/>
                    <a:lstStyle/>
                    <a:p>
                      <a:pPr algn="just"/>
                      <a:r>
                        <a:rPr lang="en-IN" sz="1800" kern="1200" dirty="0">
                          <a:solidFill>
                            <a:schemeClr val="dk1"/>
                          </a:solidFill>
                          <a:effectLst/>
                          <a:latin typeface="Times New Roman"/>
                          <a:ea typeface="+mn-ea"/>
                          <a:cs typeface="Times New Roman"/>
                        </a:rPr>
                        <a:t>Hanbo </a:t>
                      </a:r>
                      <a:r>
                        <a:rPr lang="en-IN" sz="1800" kern="1200" err="1">
                          <a:solidFill>
                            <a:schemeClr val="dk1"/>
                          </a:solidFill>
                          <a:effectLst/>
                          <a:latin typeface="Times New Roman"/>
                          <a:ea typeface="+mn-ea"/>
                          <a:cs typeface="Times New Roman"/>
                        </a:rPr>
                        <a:t>Zhoua</a:t>
                      </a:r>
                      <a:r>
                        <a:rPr lang="en-IN" sz="1800" kern="1200" dirty="0">
                          <a:solidFill>
                            <a:schemeClr val="dk1"/>
                          </a:solidFill>
                          <a:effectLst/>
                          <a:latin typeface="Times New Roman"/>
                          <a:ea typeface="+mn-ea"/>
                          <a:cs typeface="Times New Roman"/>
                        </a:rPr>
                        <a:t> and </a:t>
                      </a:r>
                      <a:endParaRPr lang="en-IN" dirty="0">
                        <a:latin typeface="Times New Roman"/>
                        <a:cs typeface="Times New Roman"/>
                      </a:endParaRPr>
                    </a:p>
                    <a:p>
                      <a:pPr lvl="0" algn="just">
                        <a:buNone/>
                      </a:pPr>
                      <a:r>
                        <a:rPr lang="en-IN" sz="1800" kern="1200" dirty="0">
                          <a:solidFill>
                            <a:schemeClr val="dk1"/>
                          </a:solidFill>
                          <a:effectLst/>
                          <a:latin typeface="Times New Roman"/>
                          <a:ea typeface="+mn-ea"/>
                          <a:cs typeface="Times New Roman"/>
                        </a:rPr>
                        <a:t>Wei </a:t>
                      </a:r>
                      <a:r>
                        <a:rPr lang="en-IN" sz="1800" kern="1200" dirty="0" err="1">
                          <a:solidFill>
                            <a:schemeClr val="dk1"/>
                          </a:solidFill>
                          <a:effectLst/>
                          <a:latin typeface="Times New Roman"/>
                          <a:ea typeface="+mn-ea"/>
                          <a:cs typeface="Times New Roman"/>
                        </a:rPr>
                        <a:t>Xiangc</a:t>
                      </a:r>
                      <a:r>
                        <a:rPr lang="en-IN" sz="1800" kern="1200" dirty="0">
                          <a:solidFill>
                            <a:schemeClr val="dk1"/>
                          </a:solidFill>
                          <a:effectLst/>
                          <a:latin typeface="Times New Roman"/>
                          <a:ea typeface="+mn-ea"/>
                          <a:cs typeface="Times New Roman"/>
                        </a:rPr>
                        <a:t> </a:t>
                      </a:r>
                      <a:endParaRPr lang="en-IN">
                        <a:latin typeface="Times New Roman"/>
                        <a:cs typeface="Times New Roman"/>
                      </a:endParaRPr>
                    </a:p>
                  </a:txBody>
                  <a:tcPr>
                    <a:solidFill>
                      <a:srgbClr val="FFCCD5"/>
                    </a:solidFill>
                  </a:tcPr>
                </a:tc>
                <a:tc>
                  <a:txBody>
                    <a:bodyPr/>
                    <a:lstStyle/>
                    <a:p>
                      <a:pPr algn="ctr"/>
                      <a:r>
                        <a:rPr lang="en-IN" dirty="0"/>
                        <a:t>2022</a:t>
                      </a:r>
                    </a:p>
                  </a:txBody>
                  <a:tcPr>
                    <a:solidFill>
                      <a:srgbClr val="FFCCD5"/>
                    </a:solidFill>
                  </a:tcPr>
                </a:tc>
                <a:tc>
                  <a:txBody>
                    <a:bodyPr/>
                    <a:lstStyle/>
                    <a:p>
                      <a:pPr marL="0" indent="0" algn="just">
                        <a:buFont typeface="Arial" panose="020B0604020202020204" pitchFamily="34" charset="0"/>
                        <a:buNone/>
                      </a:pPr>
                      <a:r>
                        <a:rPr lang="en-US" sz="1800" b="1" i="0" kern="1200" dirty="0">
                          <a:solidFill>
                            <a:schemeClr val="dk1"/>
                          </a:solidFill>
                          <a:effectLst/>
                          <a:latin typeface="Times New Roman"/>
                          <a:ea typeface="+mn-ea"/>
                          <a:cs typeface="+mn-cs"/>
                        </a:rPr>
                        <a:t>Utilization of Public Parking Space Resources: </a:t>
                      </a:r>
                    </a:p>
                    <a:p>
                      <a:pPr marL="285750" indent="-285750" algn="just">
                        <a:buFont typeface="Arial" panose="020B0604020202020204" pitchFamily="34" charset="0"/>
                        <a:buChar char="•"/>
                      </a:pPr>
                      <a:r>
                        <a:rPr lang="en-US" sz="1800" b="0" i="0" kern="1200" dirty="0">
                          <a:solidFill>
                            <a:schemeClr val="dk1"/>
                          </a:solidFill>
                          <a:effectLst/>
                          <a:latin typeface="Times New Roman"/>
                          <a:ea typeface="+mn-ea"/>
                          <a:cs typeface="+mn-cs"/>
                        </a:rPr>
                        <a:t> Utilize public parking space resources on the roadside.</a:t>
                      </a:r>
                    </a:p>
                    <a:p>
                      <a:pPr marL="0" lvl="0" indent="0" algn="just">
                        <a:buFont typeface="Arial" panose="020B0604020202020204" pitchFamily="34" charset="0"/>
                        <a:buNone/>
                      </a:pPr>
                      <a:r>
                        <a:rPr lang="en-US" sz="1800" b="1" i="0" kern="1200" dirty="0">
                          <a:solidFill>
                            <a:schemeClr val="dk1"/>
                          </a:solidFill>
                          <a:effectLst/>
                          <a:latin typeface="Times New Roman"/>
                          <a:ea typeface="+mn-ea"/>
                          <a:cs typeface="+mn-cs"/>
                        </a:rPr>
                        <a:t>Data Augmentation:</a:t>
                      </a:r>
                      <a:endParaRPr lang="en-US" sz="1800" b="0" i="0" kern="1200" dirty="0">
                        <a:solidFill>
                          <a:schemeClr val="dk1"/>
                        </a:solidFill>
                        <a:effectLst/>
                        <a:latin typeface="Times New Roman"/>
                        <a:ea typeface="+mn-ea"/>
                        <a:cs typeface="+mn-cs"/>
                      </a:endParaRPr>
                    </a:p>
                    <a:p>
                      <a:pPr marL="285750" indent="-285750" algn="just">
                        <a:buFont typeface="Arial" panose="020B0604020202020204" pitchFamily="34" charset="0"/>
                        <a:buChar char="•"/>
                      </a:pPr>
                      <a:r>
                        <a:rPr lang="en-US" sz="1800" b="0" i="0" kern="1200" dirty="0">
                          <a:solidFill>
                            <a:schemeClr val="dk1"/>
                          </a:solidFill>
                          <a:effectLst/>
                          <a:latin typeface="Times New Roman"/>
                          <a:ea typeface="+mn-ea"/>
                          <a:cs typeface="+mn-cs"/>
                        </a:rPr>
                        <a:t> To get accuracy of dataset flipping, zooming of the </a:t>
                      </a:r>
                      <a:r>
                        <a:rPr lang="en-US" sz="1800" b="0" i="0" kern="1200" dirty="0">
                          <a:solidFill>
                            <a:schemeClr val="dk1"/>
                          </a:solidFill>
                          <a:effectLst/>
                          <a:latin typeface="Times New Roman"/>
                          <a:ea typeface="+mn-ea"/>
                          <a:cs typeface="Times New Roman"/>
                        </a:rPr>
                        <a:t>dataset is done.</a:t>
                      </a:r>
                    </a:p>
                    <a:p>
                      <a:pPr marL="0" indent="0" algn="just">
                        <a:buFont typeface="Arial" panose="020B0604020202020204" pitchFamily="34" charset="0"/>
                        <a:buNone/>
                      </a:pPr>
                      <a:r>
                        <a:rPr lang="en-US" sz="1800" b="1" i="0" kern="1200" dirty="0">
                          <a:solidFill>
                            <a:schemeClr val="dk1"/>
                          </a:solidFill>
                          <a:effectLst/>
                          <a:latin typeface="Times New Roman"/>
                          <a:ea typeface="+mn-ea"/>
                          <a:cs typeface="Times New Roman"/>
                        </a:rPr>
                        <a:t>Machine Vision-Based Approach: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dk1"/>
                          </a:solidFill>
                          <a:effectLst/>
                          <a:latin typeface="Times New Roman"/>
                          <a:ea typeface="+mn-ea"/>
                          <a:cs typeface="Times New Roman"/>
                        </a:rPr>
                        <a:t>The method proposes the use of a machine vision-based approach for distinguishing parking spaces.</a:t>
                      </a:r>
                    </a:p>
                    <a:p>
                      <a:pPr marL="0" indent="0" algn="just">
                        <a:buFont typeface="Arial" panose="020B0604020202020204" pitchFamily="34" charset="0"/>
                        <a:buNone/>
                      </a:pPr>
                      <a:endParaRPr lang="en-US" sz="1800" b="0" i="0" kern="1200" dirty="0">
                        <a:solidFill>
                          <a:schemeClr val="dk1"/>
                        </a:solidFill>
                        <a:effectLst/>
                        <a:latin typeface="Times New Roman" panose="02020603050405020304" pitchFamily="18" charset="0"/>
                        <a:ea typeface="+mn-ea"/>
                        <a:cs typeface="Times New Roman" panose="02020603050405020304" pitchFamily="18" charset="0"/>
                      </a:endParaRPr>
                    </a:p>
                    <a:p>
                      <a:pPr marL="285750" indent="-285750" algn="just">
                        <a:buFont typeface="Arial" panose="020B0604020202020204" pitchFamily="34" charset="0"/>
                        <a:buChar char="•"/>
                      </a:pPr>
                      <a:endParaRPr lang="en-IN" dirty="0"/>
                    </a:p>
                  </a:txBody>
                  <a:tcPr>
                    <a:solidFill>
                      <a:srgbClr val="FFCCD5"/>
                    </a:solidFill>
                  </a:tcPr>
                </a:tc>
                <a:tc>
                  <a:txBody>
                    <a:bodyPr/>
                    <a:lstStyle/>
                    <a:p>
                      <a:pPr marL="285750" indent="-285750" algn="just">
                        <a:buFont typeface="Arial" panose="020B0604020202020204" pitchFamily="34" charset="0"/>
                        <a:buChar char="•"/>
                      </a:pPr>
                      <a:r>
                        <a:rPr lang="en-IN" sz="1800" b="0" i="0" kern="1200" dirty="0">
                          <a:solidFill>
                            <a:schemeClr val="dk1"/>
                          </a:solidFill>
                          <a:effectLst/>
                          <a:latin typeface="Times New Roman"/>
                          <a:ea typeface="+mn-ea"/>
                          <a:cs typeface="+mn-cs"/>
                        </a:rPr>
                        <a:t>Real-time Parking Information:</a:t>
                      </a:r>
                    </a:p>
                    <a:p>
                      <a:pPr marL="285750" indent="-285750" algn="just">
                        <a:buFont typeface="Arial" panose="020B0604020202020204" pitchFamily="34" charset="0"/>
                        <a:buChar char="•"/>
                      </a:pPr>
                      <a:r>
                        <a:rPr lang="en-IN" sz="1800" b="0" i="0" kern="1200" dirty="0">
                          <a:solidFill>
                            <a:schemeClr val="dk1"/>
                          </a:solidFill>
                          <a:effectLst/>
                          <a:latin typeface="Times New Roman"/>
                          <a:ea typeface="+mn-ea"/>
                          <a:cs typeface="+mn-cs"/>
                        </a:rPr>
                        <a:t>Convenience and Efficiency</a:t>
                      </a:r>
                    </a:p>
                    <a:p>
                      <a:pPr marL="0" indent="0" algn="just">
                        <a:buFont typeface="Arial" panose="020B0604020202020204" pitchFamily="34" charset="0"/>
                        <a:buNone/>
                      </a:pPr>
                      <a:r>
                        <a:rPr lang="en-IN" sz="1800" b="0" i="0" kern="1200" dirty="0">
                          <a:solidFill>
                            <a:schemeClr val="dk1"/>
                          </a:solidFill>
                          <a:effectLst/>
                          <a:latin typeface="Times New Roman"/>
                          <a:ea typeface="+mn-ea"/>
                          <a:cs typeface="+mn-cs"/>
                        </a:rPr>
                        <a:t>Environmental</a:t>
                      </a:r>
                    </a:p>
                  </a:txBody>
                  <a:tcPr>
                    <a:solidFill>
                      <a:srgbClr val="FFCCD5"/>
                    </a:solidFill>
                  </a:tcPr>
                </a:tc>
                <a:tc>
                  <a:txBody>
                    <a:bodyPr/>
                    <a:lstStyle/>
                    <a:p>
                      <a:pPr marL="171450" lvl="0" indent="-171450" algn="just">
                        <a:buFont typeface="Arial"/>
                        <a:buChar char="•"/>
                      </a:pPr>
                      <a:r>
                        <a:rPr lang="en-IN" sz="1800" b="0" i="0" u="none" strike="noStrike" noProof="0" dirty="0" err="1">
                          <a:solidFill>
                            <a:srgbClr val="0F172A"/>
                          </a:solidFill>
                          <a:latin typeface="Times New Roman"/>
                        </a:rPr>
                        <a:t>Accessibiliy</a:t>
                      </a:r>
                      <a:r>
                        <a:rPr lang="en-IN" sz="1800" b="0" i="0" u="none" strike="noStrike" noProof="0" dirty="0">
                          <a:solidFill>
                            <a:srgbClr val="0F172A"/>
                          </a:solidFill>
                          <a:latin typeface="Times New Roman"/>
                        </a:rPr>
                        <a:t> , equity and security.</a:t>
                      </a:r>
                      <a:endParaRPr lang="en-US" sz="1800" dirty="0">
                        <a:latin typeface="Times New Roman"/>
                      </a:endParaRPr>
                    </a:p>
                  </a:txBody>
                  <a:tcPr>
                    <a:solidFill>
                      <a:srgbClr val="FFCCD5"/>
                    </a:solidFill>
                  </a:tcPr>
                </a:tc>
                <a:extLst>
                  <a:ext uri="{0D108BD9-81ED-4DB2-BD59-A6C34878D82A}">
                    <a16:rowId xmlns:a16="http://schemas.microsoft.com/office/drawing/2014/main" val="2427677523"/>
                  </a:ext>
                </a:extLst>
              </a:tr>
            </a:tbl>
          </a:graphicData>
        </a:graphic>
      </p:graphicFrame>
    </p:spTree>
    <p:extLst>
      <p:ext uri="{BB962C8B-B14F-4D97-AF65-F5344CB8AC3E}">
        <p14:creationId xmlns:p14="http://schemas.microsoft.com/office/powerpoint/2010/main" val="2631693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23F3454-4ADB-5B6D-EABD-E5B205924A99}"/>
              </a:ext>
            </a:extLst>
          </p:cNvPr>
          <p:cNvGraphicFramePr>
            <a:graphicFrameLocks noGrp="1"/>
          </p:cNvGraphicFramePr>
          <p:nvPr>
            <p:extLst>
              <p:ext uri="{D42A27DB-BD31-4B8C-83A1-F6EECF244321}">
                <p14:modId xmlns:p14="http://schemas.microsoft.com/office/powerpoint/2010/main" val="127683052"/>
              </p:ext>
            </p:extLst>
          </p:nvPr>
        </p:nvGraphicFramePr>
        <p:xfrm>
          <a:off x="1120776" y="252941"/>
          <a:ext cx="10080624" cy="6205009"/>
        </p:xfrm>
        <a:graphic>
          <a:graphicData uri="http://schemas.openxmlformats.org/drawingml/2006/table">
            <a:tbl>
              <a:tblPr firstRow="1" bandRow="1">
                <a:tableStyleId>{5C22544A-7EE6-4342-B048-85BDC9FD1C3A}</a:tableStyleId>
              </a:tblPr>
              <a:tblGrid>
                <a:gridCol w="591842">
                  <a:extLst>
                    <a:ext uri="{9D8B030D-6E8A-4147-A177-3AD203B41FA5}">
                      <a16:colId xmlns:a16="http://schemas.microsoft.com/office/drawing/2014/main" val="2076140886"/>
                    </a:ext>
                  </a:extLst>
                </a:gridCol>
                <a:gridCol w="1350946">
                  <a:extLst>
                    <a:ext uri="{9D8B030D-6E8A-4147-A177-3AD203B41FA5}">
                      <a16:colId xmlns:a16="http://schemas.microsoft.com/office/drawing/2014/main" val="3617671582"/>
                    </a:ext>
                  </a:extLst>
                </a:gridCol>
                <a:gridCol w="1138654">
                  <a:extLst>
                    <a:ext uri="{9D8B030D-6E8A-4147-A177-3AD203B41FA5}">
                      <a16:colId xmlns:a16="http://schemas.microsoft.com/office/drawing/2014/main" val="189551559"/>
                    </a:ext>
                  </a:extLst>
                </a:gridCol>
                <a:gridCol w="704422">
                  <a:extLst>
                    <a:ext uri="{9D8B030D-6E8A-4147-A177-3AD203B41FA5}">
                      <a16:colId xmlns:a16="http://schemas.microsoft.com/office/drawing/2014/main" val="2466656034"/>
                    </a:ext>
                  </a:extLst>
                </a:gridCol>
                <a:gridCol w="3208824">
                  <a:extLst>
                    <a:ext uri="{9D8B030D-6E8A-4147-A177-3AD203B41FA5}">
                      <a16:colId xmlns:a16="http://schemas.microsoft.com/office/drawing/2014/main" val="72323785"/>
                    </a:ext>
                  </a:extLst>
                </a:gridCol>
                <a:gridCol w="1542968">
                  <a:extLst>
                    <a:ext uri="{9D8B030D-6E8A-4147-A177-3AD203B41FA5}">
                      <a16:colId xmlns:a16="http://schemas.microsoft.com/office/drawing/2014/main" val="930945724"/>
                    </a:ext>
                  </a:extLst>
                </a:gridCol>
                <a:gridCol w="1542968">
                  <a:extLst>
                    <a:ext uri="{9D8B030D-6E8A-4147-A177-3AD203B41FA5}">
                      <a16:colId xmlns:a16="http://schemas.microsoft.com/office/drawing/2014/main" val="2418902886"/>
                    </a:ext>
                  </a:extLst>
                </a:gridCol>
              </a:tblGrid>
              <a:tr h="904522">
                <a:tc>
                  <a:txBody>
                    <a:bodyPr/>
                    <a:lstStyle/>
                    <a:p>
                      <a:pPr algn="ctr"/>
                      <a:r>
                        <a:rPr lang="en-IN" dirty="0"/>
                        <a:t>SL</a:t>
                      </a:r>
                      <a:r>
                        <a:rPr lang="en-IN" dirty="0">
                          <a:latin typeface="Times New Roman"/>
                          <a:cs typeface="Times New Roman"/>
                        </a:rPr>
                        <a:t>.NO</a:t>
                      </a:r>
                    </a:p>
                  </a:txBody>
                  <a:tcPr>
                    <a:solidFill>
                      <a:srgbClr val="FF758F"/>
                    </a:solidFill>
                  </a:tcPr>
                </a:tc>
                <a:tc>
                  <a:txBody>
                    <a:bodyPr/>
                    <a:lstStyle/>
                    <a:p>
                      <a:pPr algn="ctr"/>
                      <a:r>
                        <a:rPr lang="en-IN" dirty="0"/>
                        <a:t>TITLE</a:t>
                      </a:r>
                    </a:p>
                  </a:txBody>
                  <a:tcPr>
                    <a:solidFill>
                      <a:srgbClr val="FF758F"/>
                    </a:solidFill>
                  </a:tcPr>
                </a:tc>
                <a:tc>
                  <a:txBody>
                    <a:bodyPr/>
                    <a:lstStyle/>
                    <a:p>
                      <a:pPr algn="ctr"/>
                      <a:r>
                        <a:rPr lang="en-IN" dirty="0"/>
                        <a:t>AUTHOR</a:t>
                      </a:r>
                    </a:p>
                  </a:txBody>
                  <a:tcPr>
                    <a:solidFill>
                      <a:srgbClr val="FF758F"/>
                    </a:solidFill>
                  </a:tcPr>
                </a:tc>
                <a:tc>
                  <a:txBody>
                    <a:bodyPr/>
                    <a:lstStyle/>
                    <a:p>
                      <a:pPr algn="ctr"/>
                      <a:r>
                        <a:rPr lang="en-IN" dirty="0"/>
                        <a:t>PUB YEAR</a:t>
                      </a:r>
                    </a:p>
                  </a:txBody>
                  <a:tcPr>
                    <a:solidFill>
                      <a:srgbClr val="FF758F"/>
                    </a:solidFill>
                  </a:tcPr>
                </a:tc>
                <a:tc>
                  <a:txBody>
                    <a:bodyPr/>
                    <a:lstStyle/>
                    <a:p>
                      <a:pPr algn="ctr"/>
                      <a:r>
                        <a:rPr lang="en-IN" dirty="0"/>
                        <a:t>METHODOLOGY</a:t>
                      </a:r>
                    </a:p>
                  </a:txBody>
                  <a:tcPr>
                    <a:solidFill>
                      <a:srgbClr val="FF758F"/>
                    </a:solidFill>
                  </a:tcPr>
                </a:tc>
                <a:tc>
                  <a:txBody>
                    <a:bodyPr/>
                    <a:lstStyle/>
                    <a:p>
                      <a:pPr algn="ctr"/>
                      <a:r>
                        <a:rPr lang="en-IN" sz="1800" b="1" dirty="0">
                          <a:latin typeface="+mn-lt"/>
                          <a:cs typeface="Times New Roman"/>
                        </a:rPr>
                        <a:t>ADVANTAGES</a:t>
                      </a:r>
                    </a:p>
                  </a:txBody>
                  <a:tcPr>
                    <a:solidFill>
                      <a:srgbClr val="FF758F"/>
                    </a:solidFill>
                  </a:tcPr>
                </a:tc>
                <a:tc>
                  <a:txBody>
                    <a:bodyPr/>
                    <a:lstStyle/>
                    <a:p>
                      <a:pPr algn="ctr"/>
                      <a:r>
                        <a:rPr lang="en-IN" dirty="0"/>
                        <a:t>LIMITATIONS</a:t>
                      </a:r>
                    </a:p>
                  </a:txBody>
                  <a:tcPr>
                    <a:solidFill>
                      <a:srgbClr val="FF758F"/>
                    </a:solidFill>
                  </a:tcPr>
                </a:tc>
                <a:extLst>
                  <a:ext uri="{0D108BD9-81ED-4DB2-BD59-A6C34878D82A}">
                    <a16:rowId xmlns:a16="http://schemas.microsoft.com/office/drawing/2014/main" val="3592391041"/>
                  </a:ext>
                </a:extLst>
              </a:tr>
              <a:tr h="5300487">
                <a:tc>
                  <a:txBody>
                    <a:bodyPr/>
                    <a:lstStyle/>
                    <a:p>
                      <a:pPr algn="ctr"/>
                      <a:r>
                        <a:rPr lang="en-IN" dirty="0"/>
                        <a:t>5</a:t>
                      </a:r>
                    </a:p>
                  </a:txBody>
                  <a:tcPr>
                    <a:solidFill>
                      <a:srgbClr val="FFCCD5"/>
                    </a:solidFill>
                  </a:tcPr>
                </a:tc>
                <a:tc>
                  <a:txBody>
                    <a:bodyPr/>
                    <a:lstStyle/>
                    <a:p>
                      <a:pPr marL="6350" indent="-6350" algn="just">
                        <a:lnSpc>
                          <a:spcPct val="107000"/>
                        </a:lnSpc>
                        <a:spcAft>
                          <a:spcPts val="75"/>
                        </a:spcAft>
                      </a:pPr>
                      <a:r>
                        <a:rPr lang="en-IN" sz="1800" b="0" dirty="0">
                          <a:solidFill>
                            <a:srgbClr val="000000"/>
                          </a:solidFill>
                          <a:effectLst/>
                          <a:latin typeface="Times New Roman"/>
                          <a:ea typeface="Times New Roman" panose="02020603050405020304" pitchFamily="18" charset="0"/>
                          <a:cs typeface="Times New Roman"/>
                        </a:rPr>
                        <a:t>A Review: Object Detection Models.</a:t>
                      </a:r>
                    </a:p>
                    <a:p>
                      <a:pPr marL="6350" indent="-6350" algn="l">
                        <a:lnSpc>
                          <a:spcPct val="103000"/>
                        </a:lnSpc>
                        <a:spcAft>
                          <a:spcPts val="75"/>
                        </a:spcAft>
                      </a:pPr>
                      <a:endParaRPr lang="en-IN" sz="1800">
                        <a:solidFill>
                          <a:srgbClr val="000000"/>
                        </a:solidFill>
                        <a:effectLst/>
                        <a:latin typeface="Times New Roman"/>
                        <a:ea typeface="Times New Roman" panose="02020603050405020304" pitchFamily="18" charset="0"/>
                        <a:cs typeface="Times New Roman"/>
                      </a:endParaRPr>
                    </a:p>
                  </a:txBody>
                  <a:tcPr marL="68580" marR="68580" marT="0" marB="0">
                    <a:solidFill>
                      <a:srgbClr val="FFCCD5"/>
                    </a:solidFill>
                  </a:tcPr>
                </a:tc>
                <a:tc>
                  <a:txBody>
                    <a:bodyPr/>
                    <a:lstStyle/>
                    <a:p>
                      <a:pPr algn="just"/>
                      <a:r>
                        <a:rPr lang="en-PH" sz="1800" kern="1200" dirty="0">
                          <a:solidFill>
                            <a:schemeClr val="dk1"/>
                          </a:solidFill>
                          <a:effectLst/>
                          <a:latin typeface="Times New Roman"/>
                          <a:ea typeface="+mn-ea"/>
                          <a:cs typeface="Times New Roman"/>
                        </a:rPr>
                        <a:t>AAKASH K. SHETTY, ISHANI SAHA </a:t>
                      </a:r>
                      <a:r>
                        <a:rPr lang="en-PH" sz="1800" kern="1200" dirty="0" err="1">
                          <a:solidFill>
                            <a:schemeClr val="dk1"/>
                          </a:solidFill>
                          <a:effectLst/>
                          <a:latin typeface="Times New Roman"/>
                          <a:ea typeface="+mn-ea"/>
                          <a:cs typeface="Times New Roman"/>
                        </a:rPr>
                        <a:t>et.,at</a:t>
                      </a:r>
                      <a:r>
                        <a:rPr lang="en-PH" sz="1800" kern="1200" dirty="0">
                          <a:solidFill>
                            <a:schemeClr val="dk1"/>
                          </a:solidFill>
                          <a:effectLst/>
                          <a:latin typeface="Times New Roman"/>
                          <a:ea typeface="+mn-ea"/>
                          <a:cs typeface="Times New Roman"/>
                        </a:rPr>
                        <a:t>.</a:t>
                      </a:r>
                      <a:endParaRPr lang="en-IN" dirty="0">
                        <a:latin typeface="Times New Roman"/>
                        <a:cs typeface="Times New Roman"/>
                      </a:endParaRPr>
                    </a:p>
                  </a:txBody>
                  <a:tcPr>
                    <a:solidFill>
                      <a:srgbClr val="FFCCD5"/>
                    </a:solidFill>
                  </a:tcPr>
                </a:tc>
                <a:tc>
                  <a:txBody>
                    <a:bodyPr/>
                    <a:lstStyle/>
                    <a:p>
                      <a:pPr algn="ctr"/>
                      <a:r>
                        <a:rPr lang="en-IN" dirty="0"/>
                        <a:t>2021</a:t>
                      </a:r>
                    </a:p>
                  </a:txBody>
                  <a:tcPr>
                    <a:solidFill>
                      <a:srgbClr val="FFCCD5"/>
                    </a:solidFill>
                  </a:tcPr>
                </a:tc>
                <a:tc>
                  <a:txBody>
                    <a:bodyPr/>
                    <a:lstStyle/>
                    <a:p>
                      <a:pPr marL="0" marR="0" lvl="0" indent="0" algn="just" rtl="0" eaLnBrk="1" fontAlgn="auto" latinLnBrk="0" hangingPunct="1">
                        <a:lnSpc>
                          <a:spcPct val="100000"/>
                        </a:lnSpc>
                        <a:spcBef>
                          <a:spcPts val="0"/>
                        </a:spcBef>
                        <a:spcAft>
                          <a:spcPts val="0"/>
                        </a:spcAft>
                        <a:buClrTx/>
                        <a:buSzTx/>
                        <a:buFont typeface="Arial" panose="020B0604020202020204" pitchFamily="34" charset="0"/>
                        <a:buNone/>
                      </a:pPr>
                      <a:r>
                        <a:rPr lang="en-US" sz="1800" b="1" i="0" kern="1200" dirty="0">
                          <a:solidFill>
                            <a:schemeClr val="dk1"/>
                          </a:solidFill>
                          <a:effectLst/>
                          <a:latin typeface="Times New Roman"/>
                          <a:ea typeface="+mn-ea"/>
                          <a:cs typeface="+mn-cs"/>
                        </a:rPr>
                        <a:t>Data Augmentation</a:t>
                      </a:r>
                      <a:r>
                        <a:rPr lang="en-US" sz="1800" b="0" i="0" kern="1200" dirty="0">
                          <a:solidFill>
                            <a:schemeClr val="dk1"/>
                          </a:solidFill>
                          <a:effectLst/>
                          <a:latin typeface="Times New Roman"/>
                          <a:ea typeface="+mn-ea"/>
                          <a:cs typeface="+mn-cs"/>
                        </a:rPr>
                        <a:t>: </a:t>
                      </a:r>
                    </a:p>
                    <a:p>
                      <a:pPr marL="285750" marR="0" lvl="0" indent="-285750" algn="just" rtl="0" eaLnBrk="1" fontAlgn="auto" latinLnBrk="0" hangingPunct="1">
                        <a:lnSpc>
                          <a:spcPct val="100000"/>
                        </a:lnSpc>
                        <a:spcBef>
                          <a:spcPts val="0"/>
                        </a:spcBef>
                        <a:spcAft>
                          <a:spcPts val="0"/>
                        </a:spcAft>
                        <a:buClrTx/>
                        <a:buSzTx/>
                        <a:buFont typeface="Arial" panose="020B0604020202020204" pitchFamily="34" charset="0"/>
                        <a:buChar char="•"/>
                      </a:pPr>
                      <a:r>
                        <a:rPr lang="en-US" sz="1800" b="0" i="0" kern="1200" dirty="0">
                          <a:solidFill>
                            <a:schemeClr val="dk1"/>
                          </a:solidFill>
                          <a:effectLst/>
                          <a:latin typeface="Times New Roman"/>
                          <a:ea typeface="+mn-ea"/>
                          <a:cs typeface="+mn-cs"/>
                        </a:rPr>
                        <a:t> increase image variability and robustness</a:t>
                      </a:r>
                    </a:p>
                    <a:p>
                      <a:pPr marL="0" marR="0" lvl="0" indent="0" algn="just" rtl="0" eaLnBrk="1" fontAlgn="auto" latinLnBrk="0" hangingPunct="1">
                        <a:lnSpc>
                          <a:spcPct val="100000"/>
                        </a:lnSpc>
                        <a:spcBef>
                          <a:spcPts val="0"/>
                        </a:spcBef>
                        <a:spcAft>
                          <a:spcPts val="0"/>
                        </a:spcAft>
                        <a:buClrTx/>
                        <a:buSzTx/>
                        <a:buFont typeface="Arial" panose="020B0604020202020204" pitchFamily="34" charset="0"/>
                        <a:buNone/>
                      </a:pPr>
                      <a:r>
                        <a:rPr lang="en-US" sz="1800" b="1" i="0" kern="1200" dirty="0">
                          <a:solidFill>
                            <a:schemeClr val="dk1"/>
                          </a:solidFill>
                          <a:effectLst/>
                          <a:latin typeface="Times New Roman"/>
                          <a:ea typeface="+mn-ea"/>
                          <a:cs typeface="+mn-cs"/>
                        </a:rPr>
                        <a:t>Training Optimization</a:t>
                      </a:r>
                      <a:r>
                        <a:rPr lang="en-US" sz="1800" b="0" i="0" kern="1200" dirty="0">
                          <a:solidFill>
                            <a:schemeClr val="dk1"/>
                          </a:solidFill>
                          <a:effectLst/>
                          <a:latin typeface="Times New Roman"/>
                          <a:ea typeface="+mn-ea"/>
                          <a:cs typeface="+mn-cs"/>
                        </a:rPr>
                        <a:t>: </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dk1"/>
                          </a:solidFill>
                          <a:effectLst/>
                          <a:latin typeface="Times New Roman"/>
                          <a:ea typeface="+mn-ea"/>
                          <a:cs typeface="+mn-cs"/>
                        </a:rPr>
                        <a:t>achieve greater precision without increasing the cost of inference.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kern="1200" dirty="0">
                          <a:solidFill>
                            <a:schemeClr val="dk1"/>
                          </a:solidFill>
                          <a:effectLst/>
                          <a:latin typeface="Times New Roman"/>
                          <a:ea typeface="+mn-ea"/>
                          <a:cs typeface="+mn-cs"/>
                        </a:rPr>
                        <a:t>Anchor Boxes</a:t>
                      </a:r>
                      <a:r>
                        <a:rPr lang="en-US" sz="1800" b="0" i="0" kern="1200" dirty="0">
                          <a:solidFill>
                            <a:schemeClr val="dk1"/>
                          </a:solidFill>
                          <a:effectLst/>
                          <a:latin typeface="Times New Roman"/>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dk1"/>
                          </a:solidFill>
                          <a:effectLst/>
                          <a:latin typeface="Times New Roman"/>
                          <a:ea typeface="+mn-ea"/>
                          <a:cs typeface="+mn-cs"/>
                        </a:rPr>
                        <a:t> Use of anchor boxes for multi-class identification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i="0" kern="1200" dirty="0">
                          <a:solidFill>
                            <a:schemeClr val="dk1"/>
                          </a:solidFill>
                          <a:effectLst/>
                          <a:latin typeface="Times New Roman"/>
                          <a:ea typeface="+mn-ea"/>
                          <a:cs typeface="+mn-cs"/>
                        </a:rPr>
                        <a:t>Dimension Clustering</a:t>
                      </a:r>
                      <a:r>
                        <a:rPr lang="en-US" sz="1800" b="0" i="0" kern="1200" dirty="0">
                          <a:solidFill>
                            <a:schemeClr val="dk1"/>
                          </a:solidFill>
                          <a:effectLst/>
                          <a:latin typeface="Times New Roman"/>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dk1"/>
                          </a:solidFill>
                          <a:effectLst/>
                          <a:latin typeface="Times New Roman"/>
                          <a:ea typeface="+mn-ea"/>
                          <a:cs typeface="+mn-cs"/>
                        </a:rPr>
                        <a:t>Achievement of dimension clustering using k-means clustering for constructing bounding boxes.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IN" dirty="0">
                        <a:latin typeface="Times New Roman"/>
                      </a:endParaRPr>
                    </a:p>
                  </a:txBody>
                  <a:tcPr>
                    <a:solidFill>
                      <a:srgbClr val="FFCCD5"/>
                    </a:solidFill>
                  </a:tcPr>
                </a:tc>
                <a:tc>
                  <a:txBody>
                    <a:bodyPr/>
                    <a:lstStyle/>
                    <a:p>
                      <a:pPr marL="285750" indent="-285750" algn="just">
                        <a:buFont typeface="Arial" panose="020B0604020202020204" pitchFamily="34" charset="0"/>
                        <a:buChar char="•"/>
                      </a:pPr>
                      <a:r>
                        <a:rPr lang="en-IN" sz="1800" b="0" i="0" kern="1200" dirty="0">
                          <a:solidFill>
                            <a:schemeClr val="dk1"/>
                          </a:solidFill>
                          <a:effectLst/>
                          <a:latin typeface="Times New Roman"/>
                          <a:ea typeface="+mn-ea"/>
                          <a:cs typeface="+mn-cs"/>
                        </a:rPr>
                        <a:t>High-Resolution Classifier</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b="0" i="0" kern="1200" dirty="0">
                          <a:solidFill>
                            <a:schemeClr val="dk1"/>
                          </a:solidFill>
                          <a:effectLst/>
                          <a:latin typeface="Times New Roman"/>
                          <a:ea typeface="+mn-ea"/>
                          <a:cs typeface="+mn-cs"/>
                        </a:rPr>
                        <a:t>Improved Efficiency</a:t>
                      </a:r>
                      <a:endParaRPr lang="en-IN" dirty="0">
                        <a:latin typeface="Times New Roman"/>
                      </a:endParaRPr>
                    </a:p>
                    <a:p>
                      <a:pPr algn="just"/>
                      <a:endParaRPr lang="en-IN">
                        <a:latin typeface="Times New Roman"/>
                      </a:endParaRPr>
                    </a:p>
                  </a:txBody>
                  <a:tcPr>
                    <a:solidFill>
                      <a:srgbClr val="FFCCD5"/>
                    </a:solidFill>
                  </a:tcPr>
                </a:tc>
                <a:tc>
                  <a:txBody>
                    <a:bodyPr/>
                    <a:lstStyle/>
                    <a:p>
                      <a:pPr marL="285750" indent="-285750" algn="just">
                        <a:buFont typeface="Arial" panose="020B0604020202020204" pitchFamily="34" charset="0"/>
                        <a:buChar char="•"/>
                      </a:pPr>
                      <a:r>
                        <a:rPr lang="en-PH" sz="1800" kern="1200" dirty="0">
                          <a:solidFill>
                            <a:schemeClr val="dk1"/>
                          </a:solidFill>
                          <a:effectLst/>
                          <a:latin typeface="Times New Roman"/>
                          <a:ea typeface="+mn-ea"/>
                          <a:cs typeface="+mn-cs"/>
                        </a:rPr>
                        <a:t>Cannot be used for real-time </a:t>
                      </a:r>
                    </a:p>
                    <a:p>
                      <a:pPr marL="285750" indent="-285750" algn="just">
                        <a:buFont typeface="Arial" panose="020B0604020202020204" pitchFamily="34" charset="0"/>
                        <a:buChar char="•"/>
                      </a:pPr>
                      <a:r>
                        <a:rPr lang="en-IN" sz="1800" kern="1200" dirty="0">
                          <a:solidFill>
                            <a:schemeClr val="dk1"/>
                          </a:solidFill>
                          <a:effectLst/>
                          <a:latin typeface="Times New Roman"/>
                          <a:ea typeface="+mn-ea"/>
                          <a:cs typeface="+mn-cs"/>
                        </a:rPr>
                        <a:t>Training, it  requires lot of time as multiple stages are involved</a:t>
                      </a:r>
                      <a:endParaRPr lang="en-IN" dirty="0">
                        <a:latin typeface="Times New Roman"/>
                        <a:cs typeface="Times New Roman"/>
                      </a:endParaRPr>
                    </a:p>
                  </a:txBody>
                  <a:tcPr>
                    <a:solidFill>
                      <a:srgbClr val="FFCCD5"/>
                    </a:solidFill>
                  </a:tcPr>
                </a:tc>
                <a:extLst>
                  <a:ext uri="{0D108BD9-81ED-4DB2-BD59-A6C34878D82A}">
                    <a16:rowId xmlns:a16="http://schemas.microsoft.com/office/drawing/2014/main" val="2427677523"/>
                  </a:ext>
                </a:extLst>
              </a:tr>
            </a:tbl>
          </a:graphicData>
        </a:graphic>
      </p:graphicFrame>
    </p:spTree>
    <p:extLst>
      <p:ext uri="{BB962C8B-B14F-4D97-AF65-F5344CB8AC3E}">
        <p14:creationId xmlns:p14="http://schemas.microsoft.com/office/powerpoint/2010/main" val="2433988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23F3454-4ADB-5B6D-EABD-E5B205924A99}"/>
              </a:ext>
            </a:extLst>
          </p:cNvPr>
          <p:cNvGraphicFramePr>
            <a:graphicFrameLocks noGrp="1"/>
          </p:cNvGraphicFramePr>
          <p:nvPr>
            <p:extLst>
              <p:ext uri="{D42A27DB-BD31-4B8C-83A1-F6EECF244321}">
                <p14:modId xmlns:p14="http://schemas.microsoft.com/office/powerpoint/2010/main" val="1159745065"/>
              </p:ext>
            </p:extLst>
          </p:nvPr>
        </p:nvGraphicFramePr>
        <p:xfrm>
          <a:off x="1120776" y="252941"/>
          <a:ext cx="10080624" cy="6208042"/>
        </p:xfrm>
        <a:graphic>
          <a:graphicData uri="http://schemas.openxmlformats.org/drawingml/2006/table">
            <a:tbl>
              <a:tblPr firstRow="1" bandRow="1">
                <a:tableStyleId>{5C22544A-7EE6-4342-B048-85BDC9FD1C3A}</a:tableStyleId>
              </a:tblPr>
              <a:tblGrid>
                <a:gridCol w="591842">
                  <a:extLst>
                    <a:ext uri="{9D8B030D-6E8A-4147-A177-3AD203B41FA5}">
                      <a16:colId xmlns:a16="http://schemas.microsoft.com/office/drawing/2014/main" val="2076140886"/>
                    </a:ext>
                  </a:extLst>
                </a:gridCol>
                <a:gridCol w="1350946">
                  <a:extLst>
                    <a:ext uri="{9D8B030D-6E8A-4147-A177-3AD203B41FA5}">
                      <a16:colId xmlns:a16="http://schemas.microsoft.com/office/drawing/2014/main" val="3617671582"/>
                    </a:ext>
                  </a:extLst>
                </a:gridCol>
                <a:gridCol w="1138654">
                  <a:extLst>
                    <a:ext uri="{9D8B030D-6E8A-4147-A177-3AD203B41FA5}">
                      <a16:colId xmlns:a16="http://schemas.microsoft.com/office/drawing/2014/main" val="189551559"/>
                    </a:ext>
                  </a:extLst>
                </a:gridCol>
                <a:gridCol w="704422">
                  <a:extLst>
                    <a:ext uri="{9D8B030D-6E8A-4147-A177-3AD203B41FA5}">
                      <a16:colId xmlns:a16="http://schemas.microsoft.com/office/drawing/2014/main" val="2466656034"/>
                    </a:ext>
                  </a:extLst>
                </a:gridCol>
                <a:gridCol w="3208824">
                  <a:extLst>
                    <a:ext uri="{9D8B030D-6E8A-4147-A177-3AD203B41FA5}">
                      <a16:colId xmlns:a16="http://schemas.microsoft.com/office/drawing/2014/main" val="72323785"/>
                    </a:ext>
                  </a:extLst>
                </a:gridCol>
                <a:gridCol w="1542968">
                  <a:extLst>
                    <a:ext uri="{9D8B030D-6E8A-4147-A177-3AD203B41FA5}">
                      <a16:colId xmlns:a16="http://schemas.microsoft.com/office/drawing/2014/main" val="930945724"/>
                    </a:ext>
                  </a:extLst>
                </a:gridCol>
                <a:gridCol w="1542968">
                  <a:extLst>
                    <a:ext uri="{9D8B030D-6E8A-4147-A177-3AD203B41FA5}">
                      <a16:colId xmlns:a16="http://schemas.microsoft.com/office/drawing/2014/main" val="2418902886"/>
                    </a:ext>
                  </a:extLst>
                </a:gridCol>
              </a:tblGrid>
              <a:tr h="904522">
                <a:tc>
                  <a:txBody>
                    <a:bodyPr/>
                    <a:lstStyle/>
                    <a:p>
                      <a:pPr algn="ctr"/>
                      <a:r>
                        <a:rPr lang="en-IN" dirty="0"/>
                        <a:t>SL</a:t>
                      </a:r>
                      <a:r>
                        <a:rPr lang="en-IN" dirty="0">
                          <a:latin typeface="Times New Roman"/>
                          <a:cs typeface="Times New Roman"/>
                        </a:rPr>
                        <a:t>.NO</a:t>
                      </a:r>
                    </a:p>
                  </a:txBody>
                  <a:tcPr>
                    <a:solidFill>
                      <a:srgbClr val="FF758F"/>
                    </a:solidFill>
                  </a:tcPr>
                </a:tc>
                <a:tc>
                  <a:txBody>
                    <a:bodyPr/>
                    <a:lstStyle/>
                    <a:p>
                      <a:pPr algn="ctr"/>
                      <a:r>
                        <a:rPr lang="en-IN" dirty="0"/>
                        <a:t>TITLE</a:t>
                      </a:r>
                    </a:p>
                  </a:txBody>
                  <a:tcPr>
                    <a:solidFill>
                      <a:srgbClr val="FF758F"/>
                    </a:solidFill>
                  </a:tcPr>
                </a:tc>
                <a:tc>
                  <a:txBody>
                    <a:bodyPr/>
                    <a:lstStyle/>
                    <a:p>
                      <a:pPr algn="ctr"/>
                      <a:r>
                        <a:rPr lang="en-IN" dirty="0"/>
                        <a:t>AUTHOR</a:t>
                      </a:r>
                    </a:p>
                  </a:txBody>
                  <a:tcPr>
                    <a:solidFill>
                      <a:srgbClr val="FF758F"/>
                    </a:solidFill>
                  </a:tcPr>
                </a:tc>
                <a:tc>
                  <a:txBody>
                    <a:bodyPr/>
                    <a:lstStyle/>
                    <a:p>
                      <a:pPr algn="ctr"/>
                      <a:r>
                        <a:rPr lang="en-IN" dirty="0"/>
                        <a:t>PUB YEAR</a:t>
                      </a:r>
                    </a:p>
                  </a:txBody>
                  <a:tcPr>
                    <a:solidFill>
                      <a:srgbClr val="FF758F"/>
                    </a:solidFill>
                  </a:tcPr>
                </a:tc>
                <a:tc>
                  <a:txBody>
                    <a:bodyPr/>
                    <a:lstStyle/>
                    <a:p>
                      <a:pPr algn="ctr"/>
                      <a:r>
                        <a:rPr lang="en-IN" dirty="0">
                          <a:latin typeface="Times New Roman"/>
                          <a:cs typeface="Times New Roman"/>
                        </a:rPr>
                        <a:t>METHODOLOGY</a:t>
                      </a:r>
                    </a:p>
                  </a:txBody>
                  <a:tcPr>
                    <a:solidFill>
                      <a:srgbClr val="FF758F"/>
                    </a:solidFill>
                  </a:tcPr>
                </a:tc>
                <a:tc>
                  <a:txBody>
                    <a:bodyPr/>
                    <a:lstStyle/>
                    <a:p>
                      <a:pPr algn="ctr"/>
                      <a:r>
                        <a:rPr lang="en-US" dirty="0">
                          <a:latin typeface="+mn-lt"/>
                          <a:cs typeface="Times New Roman"/>
                        </a:rPr>
                        <a:t>ADVANTAGES</a:t>
                      </a:r>
                      <a:endParaRPr lang="en-IN" dirty="0">
                        <a:latin typeface="+mn-lt"/>
                        <a:cs typeface="Times New Roman"/>
                      </a:endParaRPr>
                    </a:p>
                  </a:txBody>
                  <a:tcPr>
                    <a:solidFill>
                      <a:srgbClr val="FF758F"/>
                    </a:solidFill>
                  </a:tcPr>
                </a:tc>
                <a:tc>
                  <a:txBody>
                    <a:bodyPr/>
                    <a:lstStyle/>
                    <a:p>
                      <a:pPr algn="ctr"/>
                      <a:r>
                        <a:rPr lang="en-US" dirty="0"/>
                        <a:t>LIMITATIONS</a:t>
                      </a:r>
                    </a:p>
                    <a:p>
                      <a:pPr algn="ctr"/>
                      <a:endParaRPr lang="en-IN"/>
                    </a:p>
                  </a:txBody>
                  <a:tcPr>
                    <a:solidFill>
                      <a:srgbClr val="FF758F"/>
                    </a:solidFill>
                  </a:tcPr>
                </a:tc>
                <a:extLst>
                  <a:ext uri="{0D108BD9-81ED-4DB2-BD59-A6C34878D82A}">
                    <a16:rowId xmlns:a16="http://schemas.microsoft.com/office/drawing/2014/main" val="3592391041"/>
                  </a:ext>
                </a:extLst>
              </a:tr>
              <a:tr h="5300487">
                <a:tc>
                  <a:txBody>
                    <a:bodyPr/>
                    <a:lstStyle/>
                    <a:p>
                      <a:pPr algn="ctr"/>
                      <a:r>
                        <a:rPr lang="en-US" dirty="0"/>
                        <a:t>6</a:t>
                      </a:r>
                      <a:endParaRPr lang="en-IN" dirty="0"/>
                    </a:p>
                  </a:txBody>
                  <a:tcPr>
                    <a:solidFill>
                      <a:srgbClr val="FFCCD5"/>
                    </a:solidFill>
                  </a:tcPr>
                </a:tc>
                <a:tc>
                  <a:txBody>
                    <a:bodyPr/>
                    <a:lstStyle/>
                    <a:p>
                      <a:pPr algn="just"/>
                      <a:r>
                        <a:rPr lang="en-US" dirty="0">
                          <a:latin typeface="Times New Roman"/>
                        </a:rPr>
                        <a:t>Vehicle and Parking Space Detection Based on Improved YOLO Network Model </a:t>
                      </a:r>
                      <a:endParaRPr lang="en-IN" dirty="0">
                        <a:latin typeface="Times New Roman" panose="02020603050405020304" pitchFamily="18" charset="0"/>
                        <a:cs typeface="Times New Roman" panose="02020603050405020304" pitchFamily="18" charset="0"/>
                      </a:endParaRPr>
                    </a:p>
                  </a:txBody>
                  <a:tcPr>
                    <a:solidFill>
                      <a:srgbClr val="FFCCD5"/>
                    </a:solidFill>
                  </a:tcPr>
                </a:tc>
                <a:tc>
                  <a:txBody>
                    <a:bodyPr/>
                    <a:lstStyle/>
                    <a:p>
                      <a:pPr algn="ctr"/>
                      <a:r>
                        <a:rPr lang="en-IN" dirty="0" err="1">
                          <a:latin typeface="Times New Roman"/>
                        </a:rPr>
                        <a:t>Xiangwu</a:t>
                      </a:r>
                      <a:r>
                        <a:rPr lang="en-IN" dirty="0">
                          <a:latin typeface="Times New Roman"/>
                        </a:rPr>
                        <a:t> Ding , </a:t>
                      </a:r>
                      <a:r>
                        <a:rPr lang="en-IN" dirty="0" err="1">
                          <a:latin typeface="Times New Roman"/>
                        </a:rPr>
                        <a:t>Ruidi</a:t>
                      </a:r>
                      <a:r>
                        <a:rPr lang="en-IN" dirty="0">
                          <a:latin typeface="Times New Roman"/>
                        </a:rPr>
                        <a:t> Yang</a:t>
                      </a:r>
                    </a:p>
                  </a:txBody>
                  <a:tcPr>
                    <a:solidFill>
                      <a:srgbClr val="FFCCD5"/>
                    </a:solidFill>
                  </a:tcPr>
                </a:tc>
                <a:tc>
                  <a:txBody>
                    <a:bodyPr/>
                    <a:lstStyle/>
                    <a:p>
                      <a:pPr algn="ctr"/>
                      <a:r>
                        <a:rPr lang="en-US" dirty="0">
                          <a:latin typeface="Times New Roman"/>
                        </a:rPr>
                        <a:t>2020</a:t>
                      </a:r>
                      <a:endParaRPr lang="en-IN" dirty="0">
                        <a:latin typeface="Times New Roman"/>
                      </a:endParaRPr>
                    </a:p>
                  </a:txBody>
                  <a:tcPr>
                    <a:solidFill>
                      <a:srgbClr val="FFCCD5"/>
                    </a:solidFill>
                  </a:tcPr>
                </a:tc>
                <a:tc>
                  <a:txBody>
                    <a:bodyPr/>
                    <a:lstStyle/>
                    <a:p>
                      <a:pPr marL="0" indent="0" algn="just">
                        <a:buFont typeface="Arial" panose="020B0604020202020204" pitchFamily="34" charset="0"/>
                        <a:buNone/>
                      </a:pPr>
                      <a:r>
                        <a:rPr lang="en-US" sz="1800" b="1" i="0" kern="1200" dirty="0">
                          <a:solidFill>
                            <a:schemeClr val="dk1"/>
                          </a:solidFill>
                          <a:effectLst/>
                          <a:latin typeface="Times New Roman"/>
                          <a:ea typeface="+mn-ea"/>
                          <a:cs typeface="Times New Roman"/>
                        </a:rPr>
                        <a:t>YOLO V3 Network Structure:</a:t>
                      </a:r>
                      <a:endParaRPr lang="en-US" sz="1800" b="0" i="0" kern="1200" dirty="0">
                        <a:solidFill>
                          <a:schemeClr val="dk1"/>
                        </a:solidFill>
                        <a:effectLst/>
                        <a:latin typeface="Times New Roman"/>
                        <a:ea typeface="+mn-ea"/>
                        <a:cs typeface="Times New Roman"/>
                      </a:endParaRPr>
                    </a:p>
                    <a:p>
                      <a:pPr marL="285750" indent="-285750" algn="just">
                        <a:buFont typeface="Arial" panose="020B0604020202020204" pitchFamily="34" charset="0"/>
                        <a:buChar char="•"/>
                      </a:pPr>
                      <a:r>
                        <a:rPr lang="en-US" sz="1800" b="0" i="0" kern="1200" dirty="0">
                          <a:solidFill>
                            <a:schemeClr val="dk1"/>
                          </a:solidFill>
                          <a:effectLst/>
                          <a:latin typeface="Times New Roman"/>
                          <a:ea typeface="+mn-ea"/>
                          <a:cs typeface="Times New Roman"/>
                        </a:rPr>
                        <a:t>YOLO V3 uses Darknet53 as its base network structure </a:t>
                      </a:r>
                    </a:p>
                    <a:p>
                      <a:pPr marL="0" indent="0" algn="just">
                        <a:buFont typeface="Arial" panose="020B0604020202020204" pitchFamily="34" charset="0"/>
                        <a:buNone/>
                      </a:pPr>
                      <a:r>
                        <a:rPr lang="en-US" sz="1800" b="1" i="0" kern="1200" dirty="0">
                          <a:solidFill>
                            <a:schemeClr val="dk1"/>
                          </a:solidFill>
                          <a:effectLst/>
                          <a:latin typeface="Times New Roman"/>
                          <a:ea typeface="+mn-ea"/>
                          <a:cs typeface="Times New Roman"/>
                        </a:rPr>
                        <a:t>Data Sets:</a:t>
                      </a:r>
                      <a:endParaRPr lang="en-US" sz="1800" b="0" i="0" kern="1200" dirty="0">
                        <a:solidFill>
                          <a:schemeClr val="dk1"/>
                        </a:solidFill>
                        <a:effectLst/>
                        <a:latin typeface="Times New Roman"/>
                        <a:ea typeface="+mn-ea"/>
                        <a:cs typeface="Times New Roman"/>
                      </a:endParaRPr>
                    </a:p>
                    <a:p>
                      <a:pPr marL="285750" indent="-285750" algn="just">
                        <a:buFont typeface="Arial" panose="020B0604020202020204" pitchFamily="34" charset="0"/>
                        <a:buChar char="•"/>
                      </a:pPr>
                      <a:r>
                        <a:rPr lang="en-US" sz="1800" b="0" i="0" kern="1200" dirty="0">
                          <a:solidFill>
                            <a:schemeClr val="dk1"/>
                          </a:solidFill>
                          <a:effectLst/>
                          <a:latin typeface="Times New Roman"/>
                          <a:ea typeface="+mn-ea"/>
                          <a:cs typeface="Times New Roman"/>
                        </a:rPr>
                        <a:t>Three datasets are used: PASCAL VOC, COCO, and </a:t>
                      </a:r>
                      <a:r>
                        <a:rPr lang="en-US" sz="1800" b="0" i="0" kern="1200" dirty="0" err="1">
                          <a:solidFill>
                            <a:schemeClr val="dk1"/>
                          </a:solidFill>
                          <a:effectLst/>
                          <a:latin typeface="Times New Roman"/>
                          <a:ea typeface="+mn-ea"/>
                          <a:cs typeface="Times New Roman"/>
                        </a:rPr>
                        <a:t>PKLot</a:t>
                      </a:r>
                      <a:r>
                        <a:rPr lang="en-US" sz="1800" b="0" i="0" kern="1200" dirty="0">
                          <a:solidFill>
                            <a:schemeClr val="dk1"/>
                          </a:solidFill>
                          <a:effectLst/>
                          <a:latin typeface="Times New Roman"/>
                          <a:ea typeface="+mn-ea"/>
                          <a:cs typeface="Times New Roman"/>
                        </a:rPr>
                        <a:t>.</a:t>
                      </a:r>
                    </a:p>
                    <a:p>
                      <a:pPr marL="285750" indent="-285750" algn="just">
                        <a:buFont typeface="Arial" panose="020B0604020202020204" pitchFamily="34" charset="0"/>
                        <a:buChar char="•"/>
                      </a:pPr>
                      <a:r>
                        <a:rPr lang="en-US" sz="1800" b="0" i="0" kern="1200" dirty="0">
                          <a:solidFill>
                            <a:schemeClr val="dk1"/>
                          </a:solidFill>
                          <a:effectLst/>
                          <a:latin typeface="Times New Roman"/>
                          <a:ea typeface="+mn-ea"/>
                          <a:cs typeface="Times New Roman"/>
                        </a:rPr>
                        <a:t>The experiment focuses on the "car," "bus," and "truck" categories.</a:t>
                      </a:r>
                    </a:p>
                    <a:p>
                      <a:pPr marL="0" indent="0" algn="just">
                        <a:buFont typeface="Arial" panose="020B0604020202020204" pitchFamily="34" charset="0"/>
                        <a:buNone/>
                      </a:pPr>
                      <a:r>
                        <a:rPr lang="en-US" sz="1800" b="1" i="0" kern="1200" dirty="0">
                          <a:solidFill>
                            <a:schemeClr val="dk1"/>
                          </a:solidFill>
                          <a:effectLst/>
                          <a:latin typeface="Times New Roman"/>
                          <a:ea typeface="+mn-ea"/>
                          <a:cs typeface="Times New Roman"/>
                        </a:rPr>
                        <a:t>Clustering Analysis of Anchor Boxes:</a:t>
                      </a:r>
                      <a:endParaRPr lang="en-US" sz="1800" b="0" i="0" kern="1200" dirty="0">
                        <a:solidFill>
                          <a:schemeClr val="dk1"/>
                        </a:solidFill>
                        <a:effectLst/>
                        <a:latin typeface="Times New Roman"/>
                        <a:ea typeface="+mn-ea"/>
                        <a:cs typeface="Times New Roman"/>
                      </a:endParaRPr>
                    </a:p>
                    <a:p>
                      <a:pPr marL="285750" indent="-285750" algn="just">
                        <a:buFont typeface="Arial" panose="020B0604020202020204" pitchFamily="34" charset="0"/>
                        <a:buChar char="•"/>
                      </a:pPr>
                      <a:r>
                        <a:rPr lang="en-US" sz="1800" b="0" i="0" kern="1200" dirty="0">
                          <a:solidFill>
                            <a:schemeClr val="dk1"/>
                          </a:solidFill>
                          <a:effectLst/>
                          <a:latin typeface="Times New Roman"/>
                          <a:ea typeface="+mn-ea"/>
                          <a:cs typeface="Times New Roman"/>
                        </a:rPr>
                        <a:t>The K-means clustering algorithm is used to cluster and classify car parking spaces in the dataset.</a:t>
                      </a:r>
                    </a:p>
                    <a:p>
                      <a:pPr marL="285750" indent="-285750" algn="just">
                        <a:buFont typeface="Arial" panose="020B0604020202020204" pitchFamily="34" charset="0"/>
                        <a:buChar char="•"/>
                      </a:pPr>
                      <a:endParaRPr lang="en-US" sz="1800" b="0" i="0" kern="1200">
                        <a:solidFill>
                          <a:schemeClr val="dk1"/>
                        </a:solidFill>
                        <a:effectLst/>
                        <a:latin typeface="Times New Roman" panose="02020603050405020304" pitchFamily="18" charset="0"/>
                        <a:ea typeface="+mn-ea"/>
                        <a:cs typeface="Times New Roman" panose="02020603050405020304" pitchFamily="18" charset="0"/>
                      </a:endParaRPr>
                    </a:p>
                    <a:p>
                      <a:endParaRPr lang="en-US" sz="1800" b="0" i="0" kern="1200">
                        <a:solidFill>
                          <a:schemeClr val="dk1"/>
                        </a:solidFill>
                        <a:effectLst/>
                        <a:latin typeface="+mn-lt"/>
                        <a:ea typeface="+mn-ea"/>
                        <a:cs typeface="+mn-cs"/>
                      </a:endParaRPr>
                    </a:p>
                    <a:p>
                      <a:pPr algn="just"/>
                      <a:endParaRPr lang="en-IN">
                        <a:latin typeface="Times New Roman" panose="02020603050405020304" pitchFamily="18" charset="0"/>
                        <a:cs typeface="Times New Roman" panose="02020603050405020304" pitchFamily="18" charset="0"/>
                      </a:endParaRPr>
                    </a:p>
                  </a:txBody>
                  <a:tcPr>
                    <a:solidFill>
                      <a:srgbClr val="FFCCD5"/>
                    </a:solidFill>
                  </a:tcPr>
                </a:tc>
                <a:tc>
                  <a:txBody>
                    <a:bodyPr/>
                    <a:lstStyle/>
                    <a:p>
                      <a:pPr marL="285750" indent="-285750" algn="just">
                        <a:buFont typeface="Arial"/>
                        <a:buChar char="•"/>
                      </a:pPr>
                      <a:r>
                        <a:rPr lang="en-IN" sz="1800" b="0" i="0" u="none" strike="noStrike" noProof="0" dirty="0">
                          <a:latin typeface="Times New Roman"/>
                        </a:rPr>
                        <a:t>High Accuracy</a:t>
                      </a:r>
                    </a:p>
                    <a:p>
                      <a:pPr marL="285750" lvl="0" indent="-285750" algn="just">
                        <a:buFont typeface="Arial"/>
                        <a:buChar char="•"/>
                      </a:pPr>
                      <a:r>
                        <a:rPr lang="en-IN" sz="1800" b="0" i="0" u="none" strike="noStrike" noProof="0" dirty="0">
                          <a:latin typeface="Times New Roman"/>
                        </a:rPr>
                        <a:t>Real-time Processing</a:t>
                      </a:r>
                    </a:p>
                  </a:txBody>
                  <a:tcPr>
                    <a:solidFill>
                      <a:srgbClr val="FFCCD5"/>
                    </a:solidFill>
                  </a:tcPr>
                </a:tc>
                <a:tc>
                  <a:txBody>
                    <a:bodyPr/>
                    <a:lstStyle/>
                    <a:p>
                      <a:pPr marL="171450" lvl="0" indent="-171450" algn="just">
                        <a:buFont typeface="Arial"/>
                        <a:buChar char="•"/>
                      </a:pPr>
                      <a:r>
                        <a:rPr lang="en-IN" sz="1800" b="0" i="0" u="none" strike="noStrike" noProof="0" dirty="0">
                          <a:latin typeface="Times New Roman"/>
                        </a:rPr>
                        <a:t>Complexity in Varied Environments</a:t>
                      </a:r>
                    </a:p>
                    <a:p>
                      <a:pPr marL="171450" lvl="0" indent="-171450" algn="just">
                        <a:buFont typeface="Arial"/>
                        <a:buChar char="•"/>
                      </a:pPr>
                      <a:r>
                        <a:rPr lang="en-IN" sz="1800" b="0" i="0" u="none" strike="noStrike" noProof="0" dirty="0">
                          <a:latin typeface="Times New Roman"/>
                        </a:rPr>
                        <a:t>Dependency on Quality and Quantity of Training Data</a:t>
                      </a:r>
                    </a:p>
                  </a:txBody>
                  <a:tcPr>
                    <a:solidFill>
                      <a:srgbClr val="FFCCD5"/>
                    </a:solidFill>
                  </a:tcPr>
                </a:tc>
                <a:extLst>
                  <a:ext uri="{0D108BD9-81ED-4DB2-BD59-A6C34878D82A}">
                    <a16:rowId xmlns:a16="http://schemas.microsoft.com/office/drawing/2014/main" val="2427677523"/>
                  </a:ext>
                </a:extLst>
              </a:tr>
            </a:tbl>
          </a:graphicData>
        </a:graphic>
      </p:graphicFrame>
    </p:spTree>
    <p:extLst>
      <p:ext uri="{BB962C8B-B14F-4D97-AF65-F5344CB8AC3E}">
        <p14:creationId xmlns:p14="http://schemas.microsoft.com/office/powerpoint/2010/main" val="20410713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CCD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AA26C-E203-2AEA-9F50-E68F582F6CE2}"/>
              </a:ext>
            </a:extLst>
          </p:cNvPr>
          <p:cNvSpPr>
            <a:spLocks noGrp="1"/>
          </p:cNvSpPr>
          <p:nvPr>
            <p:ph type="title"/>
          </p:nvPr>
        </p:nvSpPr>
        <p:spPr/>
        <p:txBody>
          <a:bodyPr>
            <a:normAutofit/>
          </a:bodyPr>
          <a:lstStyle/>
          <a:p>
            <a:pPr algn="ctr"/>
            <a:r>
              <a:rPr lang="en-IN" sz="3000" b="1" dirty="0">
                <a:latin typeface="Times New Roman"/>
                <a:cs typeface="Times New Roman"/>
              </a:rPr>
              <a:t>MOTIVATION </a:t>
            </a:r>
          </a:p>
        </p:txBody>
      </p:sp>
      <p:sp>
        <p:nvSpPr>
          <p:cNvPr id="3" name="Content Placeholder 2">
            <a:extLst>
              <a:ext uri="{FF2B5EF4-FFF2-40B4-BE49-F238E27FC236}">
                <a16:creationId xmlns:a16="http://schemas.microsoft.com/office/drawing/2014/main" id="{D2273A83-7156-1639-BAD8-920455DFFB0C}"/>
              </a:ext>
            </a:extLst>
          </p:cNvPr>
          <p:cNvSpPr>
            <a:spLocks noGrp="1"/>
          </p:cNvSpPr>
          <p:nvPr>
            <p:ph idx="1"/>
          </p:nvPr>
        </p:nvSpPr>
        <p:spPr/>
        <p:txBody>
          <a:bodyPr vert="horz" lIns="91440" tIns="45720" rIns="91440" bIns="45720" rtlCol="0" anchor="t">
            <a:normAutofit lnSpcReduction="10000"/>
          </a:bodyPr>
          <a:lstStyle/>
          <a:p>
            <a:pPr algn="just">
              <a:lnSpc>
                <a:spcPct val="150000"/>
              </a:lnSpc>
              <a:buFont typeface="Wingdings" panose="05000000000000000000" pitchFamily="2" charset="2"/>
              <a:buChar char="Ø"/>
            </a:pPr>
            <a:r>
              <a:rPr lang="en-IN" sz="1800" dirty="0">
                <a:latin typeface="Times New Roman"/>
                <a:cs typeface="Times New Roman"/>
              </a:rPr>
              <a:t>Nowadays, Parking has become a major issue as number of vehicle rate is increasing, detecting the parking slot has enhanced the parking efficiency and contribute to smart city initiatives.</a:t>
            </a:r>
            <a:endParaRPr lang="en-US" dirty="0"/>
          </a:p>
          <a:p>
            <a:pPr algn="just">
              <a:lnSpc>
                <a:spcPct val="150000"/>
              </a:lnSpc>
              <a:buFont typeface="Wingdings" panose="05000000000000000000" pitchFamily="2" charset="2"/>
              <a:buChar char="Ø"/>
            </a:pPr>
            <a:r>
              <a:rPr lang="en-IN" sz="1800" dirty="0">
                <a:latin typeface="Times New Roman"/>
                <a:cs typeface="Times New Roman"/>
              </a:rPr>
              <a:t>It offers the practical applications such as reducing traffic, minimizing search time for parking and promoting sustainable urban development.</a:t>
            </a:r>
          </a:p>
          <a:p>
            <a:pPr algn="just">
              <a:lnSpc>
                <a:spcPct val="150000"/>
              </a:lnSpc>
              <a:buFont typeface="Wingdings" panose="05000000000000000000" pitchFamily="2" charset="2"/>
              <a:buChar char="Ø"/>
            </a:pPr>
            <a:r>
              <a:rPr lang="en-IN" sz="1800" dirty="0">
                <a:latin typeface="Times New Roman"/>
                <a:cs typeface="Times New Roman"/>
              </a:rPr>
              <a:t>Additionally, Advancement in camera vision and technologies make this project feasible and impactful.</a:t>
            </a:r>
          </a:p>
          <a:p>
            <a:pPr algn="just">
              <a:lnSpc>
                <a:spcPct val="150000"/>
              </a:lnSpc>
              <a:buFont typeface="Wingdings" panose="05000000000000000000" pitchFamily="2" charset="2"/>
              <a:buChar char="Ø"/>
            </a:pPr>
            <a:r>
              <a:rPr lang="en-IN" sz="1800" dirty="0">
                <a:latin typeface="Times New Roman"/>
                <a:cs typeface="Times New Roman"/>
              </a:rPr>
              <a:t>Yolo algorithm allows for adaptation to different environment and can improve accuracy over time.</a:t>
            </a:r>
          </a:p>
          <a:p>
            <a:pPr algn="just">
              <a:lnSpc>
                <a:spcPct val="150000"/>
              </a:lnSpc>
              <a:buFont typeface="Wingdings" panose="05000000000000000000" pitchFamily="2" charset="2"/>
              <a:buChar char="Ø"/>
            </a:pPr>
            <a:r>
              <a:rPr lang="en-IN" sz="1800" dirty="0">
                <a:latin typeface="Times New Roman"/>
                <a:cs typeface="Times New Roman"/>
              </a:rPr>
              <a:t> Yolo is known for its real-time object detection capabilities, making it efficient for monitoring parking slots.</a:t>
            </a:r>
          </a:p>
          <a:p>
            <a:pPr algn="just">
              <a:lnSpc>
                <a:spcPct val="150000"/>
              </a:lnSpc>
              <a:buFont typeface="Wingdings" panose="05000000000000000000" pitchFamily="2" charset="2"/>
              <a:buChar char="Ø"/>
            </a:pPr>
            <a:r>
              <a:rPr lang="en-IN" sz="1800" dirty="0">
                <a:latin typeface="Times New Roman"/>
                <a:cs typeface="Times New Roman"/>
              </a:rPr>
              <a:t>Overall, Yolo’s speed, accuracy and versatility make it a compelling choice for a parking slot detection project.</a:t>
            </a:r>
          </a:p>
          <a:p>
            <a:pPr marL="0" indent="0">
              <a:lnSpc>
                <a:spcPct val="150000"/>
              </a:lnSpc>
              <a:buNone/>
            </a:pPr>
            <a:endParaRPr lang="en-IN" sz="1800" dirty="0">
              <a:ea typeface="Calibri"/>
              <a:cs typeface="Calibri"/>
            </a:endParaRPr>
          </a:p>
        </p:txBody>
      </p:sp>
    </p:spTree>
    <p:extLst>
      <p:ext uri="{BB962C8B-B14F-4D97-AF65-F5344CB8AC3E}">
        <p14:creationId xmlns:p14="http://schemas.microsoft.com/office/powerpoint/2010/main" val="1480877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CCD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138069-7453-9835-7B11-3763CF08168A}"/>
              </a:ext>
            </a:extLst>
          </p:cNvPr>
          <p:cNvSpPr>
            <a:spLocks noGrp="1"/>
          </p:cNvSpPr>
          <p:nvPr>
            <p:ph type="ctrTitle"/>
          </p:nvPr>
        </p:nvSpPr>
        <p:spPr>
          <a:xfrm>
            <a:off x="1676400" y="466724"/>
            <a:ext cx="8839200" cy="747713"/>
          </a:xfrm>
        </p:spPr>
        <p:txBody>
          <a:bodyPr>
            <a:normAutofit/>
          </a:bodyPr>
          <a:lstStyle/>
          <a:p>
            <a:r>
              <a:rPr lang="en-IN" sz="3000" b="1">
                <a:latin typeface="Times New Roman" panose="02020603050405020304" pitchFamily="18" charset="0"/>
                <a:cs typeface="Times New Roman" panose="02020603050405020304" pitchFamily="18" charset="0"/>
              </a:rPr>
              <a:t>PROBLEM STATEMENT </a:t>
            </a:r>
          </a:p>
        </p:txBody>
      </p:sp>
      <p:sp>
        <p:nvSpPr>
          <p:cNvPr id="5" name="Subtitle 4">
            <a:extLst>
              <a:ext uri="{FF2B5EF4-FFF2-40B4-BE49-F238E27FC236}">
                <a16:creationId xmlns:a16="http://schemas.microsoft.com/office/drawing/2014/main" id="{6697C37B-F9B8-B3A6-056E-0E394DEEB419}"/>
              </a:ext>
            </a:extLst>
          </p:cNvPr>
          <p:cNvSpPr>
            <a:spLocks noGrp="1"/>
          </p:cNvSpPr>
          <p:nvPr>
            <p:ph type="subTitle" idx="1"/>
          </p:nvPr>
        </p:nvSpPr>
        <p:spPr>
          <a:xfrm>
            <a:off x="609600" y="1514475"/>
            <a:ext cx="11069515" cy="3743325"/>
          </a:xfrm>
        </p:spPr>
        <p:txBody>
          <a:bodyPr vert="horz" lIns="91440" tIns="45720" rIns="91440" bIns="45720" rtlCol="0" anchor="t">
            <a:normAutofit/>
          </a:bodyPr>
          <a:lstStyle/>
          <a:p>
            <a:pPr algn="just">
              <a:lnSpc>
                <a:spcPct val="150000"/>
              </a:lnSpc>
            </a:pPr>
            <a:r>
              <a:rPr lang="en-IN" sz="2000" kern="100">
                <a:solidFill>
                  <a:srgbClr val="000000"/>
                </a:solidFill>
                <a:effectLst/>
                <a:latin typeface="Times New Roman"/>
                <a:ea typeface="Calibri"/>
                <a:cs typeface="Times New Roman"/>
              </a:rPr>
              <a:t>As the population grows, there is an increase in the private vehicles which caused many issues to the people at the crowded areas such as shopping malls, restaurants and universities parking lots. This results in time waste for the drivers in search for the empty parking space which includes atmospheric pollution and frustration of the drivers. Developing a project that uses a camera to record real-time data and feed it to a system to discover vacant car parking slots in a parking area.</a:t>
            </a:r>
            <a:r>
              <a:rPr lang="en-IN" sz="2000" kern="100">
                <a:solidFill>
                  <a:srgbClr val="000000"/>
                </a:solidFill>
                <a:latin typeface="Times New Roman"/>
                <a:ea typeface="Calibri"/>
                <a:cs typeface="Times New Roman"/>
              </a:rPr>
              <a:t> </a:t>
            </a:r>
            <a:r>
              <a:rPr lang="en-IN" sz="2000" kern="100">
                <a:solidFill>
                  <a:srgbClr val="000000"/>
                </a:solidFill>
                <a:effectLst/>
                <a:latin typeface="Times New Roman"/>
                <a:ea typeface="Calibri"/>
                <a:cs typeface="Times New Roman"/>
              </a:rPr>
              <a:t>Car parking slot detection using YOLO algorithm which calculates the number of vacant parking slots in a parking area based on the system's confidence level.</a:t>
            </a:r>
            <a:endParaRPr lang="en-IN" sz="2000" kern="100">
              <a:effectLst/>
              <a:latin typeface="Times New Roman"/>
              <a:ea typeface="Calibri"/>
              <a:cs typeface="Times New Roman"/>
            </a:endParaRPr>
          </a:p>
          <a:p>
            <a:pPr algn="just">
              <a:lnSpc>
                <a:spcPct val="150000"/>
              </a:lnSpc>
            </a:pPr>
            <a:endParaRPr lang="en-IN"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33053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CCD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138069-7453-9835-7B11-3763CF08168A}"/>
              </a:ext>
            </a:extLst>
          </p:cNvPr>
          <p:cNvSpPr>
            <a:spLocks noGrp="1"/>
          </p:cNvSpPr>
          <p:nvPr>
            <p:ph type="title"/>
          </p:nvPr>
        </p:nvSpPr>
        <p:spPr/>
        <p:txBody>
          <a:bodyPr>
            <a:normAutofit/>
          </a:bodyPr>
          <a:lstStyle/>
          <a:p>
            <a:pPr algn="ctr"/>
            <a:r>
              <a:rPr lang="en-IN" sz="3000" b="1">
                <a:latin typeface="Times New Roman" panose="02020603050405020304" pitchFamily="18" charset="0"/>
                <a:cs typeface="Times New Roman" panose="02020603050405020304" pitchFamily="18" charset="0"/>
              </a:rPr>
              <a:t>OBJECTIVES</a:t>
            </a:r>
          </a:p>
        </p:txBody>
      </p:sp>
      <p:sp>
        <p:nvSpPr>
          <p:cNvPr id="2" name="Content Placeholder 1">
            <a:extLst>
              <a:ext uri="{FF2B5EF4-FFF2-40B4-BE49-F238E27FC236}">
                <a16:creationId xmlns:a16="http://schemas.microsoft.com/office/drawing/2014/main" id="{01177434-D4C3-9F07-7790-43065D237BE2}"/>
              </a:ext>
            </a:extLst>
          </p:cNvPr>
          <p:cNvSpPr>
            <a:spLocks noGrp="1"/>
          </p:cNvSpPr>
          <p:nvPr>
            <p:ph idx="1"/>
          </p:nvPr>
        </p:nvSpPr>
        <p:spPr>
          <a:xfrm>
            <a:off x="838200" y="1415845"/>
            <a:ext cx="10515600" cy="4761118"/>
          </a:xfrm>
        </p:spPr>
        <p:txBody>
          <a:bodyPr vert="horz" lIns="91440" tIns="45720" rIns="91440" bIns="45720" rtlCol="0" anchor="t">
            <a:normAutofit/>
          </a:bodyPr>
          <a:lstStyle/>
          <a:p>
            <a:pPr algn="just">
              <a:lnSpc>
                <a:spcPct val="150000"/>
              </a:lnSpc>
              <a:buFont typeface="Wingdings" panose="05000000000000000000" pitchFamily="2" charset="2"/>
              <a:buChar char="Ø"/>
            </a:pPr>
            <a:r>
              <a:rPr lang="en-IN" sz="1800" kern="100">
                <a:effectLst/>
                <a:latin typeface="Times New Roman"/>
                <a:ea typeface="Calibri" panose="020F0502020204030204" pitchFamily="34" charset="0"/>
                <a:cs typeface="Times New Roman"/>
              </a:rPr>
              <a:t>To capture images from </a:t>
            </a:r>
            <a:r>
              <a:rPr lang="en-IN" sz="1800" kern="100" err="1">
                <a:effectLst/>
                <a:latin typeface="Times New Roman"/>
                <a:ea typeface="Calibri" panose="020F0502020204030204" pitchFamily="34" charset="0"/>
                <a:cs typeface="Times New Roman"/>
              </a:rPr>
              <a:t>webcamera</a:t>
            </a:r>
            <a:r>
              <a:rPr lang="en-IN" sz="1800" kern="100">
                <a:effectLst/>
                <a:latin typeface="Times New Roman"/>
                <a:ea typeface="Calibri" panose="020F0502020204030204" pitchFamily="34" charset="0"/>
                <a:cs typeface="Times New Roman"/>
              </a:rPr>
              <a:t>.</a:t>
            </a:r>
          </a:p>
          <a:p>
            <a:pPr algn="just">
              <a:lnSpc>
                <a:spcPct val="150000"/>
              </a:lnSpc>
              <a:buFont typeface="Wingdings" panose="05000000000000000000" pitchFamily="2" charset="2"/>
              <a:buChar char="Ø"/>
            </a:pPr>
            <a:r>
              <a:rPr lang="en-IN" sz="1800" kern="100">
                <a:latin typeface="Times New Roman"/>
                <a:ea typeface="Calibri" panose="020F0502020204030204" pitchFamily="34" charset="0"/>
                <a:cs typeface="Times New Roman"/>
              </a:rPr>
              <a:t>To process the captured images.</a:t>
            </a:r>
          </a:p>
          <a:p>
            <a:pPr algn="just">
              <a:lnSpc>
                <a:spcPct val="150000"/>
              </a:lnSpc>
              <a:buFont typeface="Wingdings" panose="05000000000000000000" pitchFamily="2" charset="2"/>
              <a:buChar char="Ø"/>
            </a:pPr>
            <a:r>
              <a:rPr lang="en-IN" sz="1800" kern="100">
                <a:effectLst/>
                <a:latin typeface="Times New Roman"/>
                <a:ea typeface="Calibri" panose="020F0502020204030204" pitchFamily="34" charset="0"/>
                <a:cs typeface="Times New Roman"/>
              </a:rPr>
              <a:t>To  identify vacant and occupied slots.</a:t>
            </a:r>
          </a:p>
          <a:p>
            <a:pPr algn="just">
              <a:lnSpc>
                <a:spcPct val="150000"/>
              </a:lnSpc>
              <a:buFont typeface="Wingdings" panose="05000000000000000000" pitchFamily="2" charset="2"/>
              <a:buChar char="Ø"/>
            </a:pPr>
            <a:r>
              <a:rPr lang="en-IN" sz="1800" kern="100">
                <a:latin typeface="Times New Roman"/>
                <a:ea typeface="Calibri" panose="020F0502020204030204" pitchFamily="34" charset="0"/>
                <a:cs typeface="Times New Roman"/>
              </a:rPr>
              <a:t>To </a:t>
            </a:r>
            <a:r>
              <a:rPr lang="en-IN" sz="1800" kern="100" err="1">
                <a:latin typeface="Times New Roman"/>
                <a:ea typeface="Calibri" panose="020F0502020204030204" pitchFamily="34" charset="0"/>
                <a:cs typeface="Times New Roman"/>
              </a:rPr>
              <a:t>color</a:t>
            </a:r>
            <a:r>
              <a:rPr lang="en-IN" sz="1800" kern="100">
                <a:latin typeface="Times New Roman"/>
                <a:ea typeface="Calibri" panose="020F0502020204030204" pitchFamily="34" charset="0"/>
                <a:cs typeface="Times New Roman"/>
              </a:rPr>
              <a:t> vacant and occupied slot with green and red respectively.</a:t>
            </a:r>
          </a:p>
          <a:p>
            <a:pPr algn="just">
              <a:lnSpc>
                <a:spcPct val="150000"/>
              </a:lnSpc>
              <a:buFont typeface="Wingdings" panose="05000000000000000000" pitchFamily="2" charset="2"/>
              <a:buChar char="Ø"/>
            </a:pPr>
            <a:r>
              <a:rPr lang="en-IN" sz="1800" kern="100">
                <a:latin typeface="Times New Roman"/>
                <a:ea typeface="Calibri" panose="020F0502020204030204" pitchFamily="34" charset="0"/>
                <a:cs typeface="Times New Roman"/>
              </a:rPr>
              <a:t>To display number of vacant slots.</a:t>
            </a:r>
          </a:p>
          <a:p>
            <a:pPr algn="just">
              <a:lnSpc>
                <a:spcPct val="150000"/>
              </a:lnSpc>
              <a:buFont typeface="Wingdings" panose="05000000000000000000" pitchFamily="2" charset="2"/>
              <a:buChar char="Ø"/>
            </a:pPr>
            <a:endParaRPr lang="en-IN" sz="1800" kern="100">
              <a:effectLst/>
              <a:latin typeface="Times New Roman"/>
              <a:ea typeface="Calibri" panose="020F0502020204030204" pitchFamily="34" charset="0"/>
              <a:cs typeface="Times New Roman"/>
            </a:endParaRPr>
          </a:p>
        </p:txBody>
      </p:sp>
    </p:spTree>
    <p:extLst>
      <p:ext uri="{BB962C8B-B14F-4D97-AF65-F5344CB8AC3E}">
        <p14:creationId xmlns:p14="http://schemas.microsoft.com/office/powerpoint/2010/main" val="4137572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CCD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9A9636-2B3E-216A-0AA6-1E9741CB7A84}"/>
              </a:ext>
            </a:extLst>
          </p:cNvPr>
          <p:cNvSpPr>
            <a:spLocks noGrp="1"/>
          </p:cNvSpPr>
          <p:nvPr>
            <p:ph type="title"/>
          </p:nvPr>
        </p:nvSpPr>
        <p:spPr/>
        <p:txBody>
          <a:bodyPr>
            <a:normAutofit/>
          </a:bodyPr>
          <a:lstStyle/>
          <a:p>
            <a:pPr algn="ctr"/>
            <a:r>
              <a:rPr lang="en-IN" sz="3000" b="1">
                <a:latin typeface="Times New Roman" panose="02020603050405020304" pitchFamily="18" charset="0"/>
                <a:cs typeface="Times New Roman" panose="02020603050405020304" pitchFamily="18" charset="0"/>
              </a:rPr>
              <a:t>SYSTEM ARCHITECTURE</a:t>
            </a:r>
            <a:endParaRPr lang="en-IN" sz="3000"/>
          </a:p>
        </p:txBody>
      </p:sp>
      <p:pic>
        <p:nvPicPr>
          <p:cNvPr id="5" name="Picture 4">
            <a:extLst>
              <a:ext uri="{FF2B5EF4-FFF2-40B4-BE49-F238E27FC236}">
                <a16:creationId xmlns:a16="http://schemas.microsoft.com/office/drawing/2014/main" id="{41BEF740-D4DF-AF6B-0A40-911FE1AF0A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4525" y="1521692"/>
            <a:ext cx="8148002" cy="4062266"/>
          </a:xfrm>
          <a:prstGeom prst="rect">
            <a:avLst/>
          </a:prstGeom>
        </p:spPr>
      </p:pic>
    </p:spTree>
    <p:extLst>
      <p:ext uri="{BB962C8B-B14F-4D97-AF65-F5344CB8AC3E}">
        <p14:creationId xmlns:p14="http://schemas.microsoft.com/office/powerpoint/2010/main" val="3623992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CCD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853885-0494-75D0-3C93-70D3CFC63EA0}"/>
              </a:ext>
            </a:extLst>
          </p:cNvPr>
          <p:cNvSpPr>
            <a:spLocks noGrp="1"/>
          </p:cNvSpPr>
          <p:nvPr>
            <p:ph type="ctrTitle"/>
          </p:nvPr>
        </p:nvSpPr>
        <p:spPr>
          <a:xfrm>
            <a:off x="1666875" y="284163"/>
            <a:ext cx="8505825" cy="1125537"/>
          </a:xfrm>
        </p:spPr>
        <p:txBody>
          <a:bodyPr>
            <a:normAutofit/>
          </a:bodyPr>
          <a:lstStyle/>
          <a:p>
            <a:r>
              <a:rPr lang="en-IN" sz="3000" b="1">
                <a:latin typeface="Times New Roman" panose="02020603050405020304" pitchFamily="18" charset="0"/>
                <a:cs typeface="Times New Roman" panose="02020603050405020304" pitchFamily="18" charset="0"/>
              </a:rPr>
              <a:t>CONCLUSION</a:t>
            </a:r>
            <a:br>
              <a:rPr lang="en-IN" sz="3000" b="1">
                <a:latin typeface="Times New Roman" panose="02020603050405020304" pitchFamily="18" charset="0"/>
                <a:cs typeface="Times New Roman" panose="02020603050405020304" pitchFamily="18" charset="0"/>
              </a:rPr>
            </a:br>
            <a:endParaRPr lang="en-IN" sz="3000" b="1">
              <a:latin typeface="Times New Roman" panose="02020603050405020304" pitchFamily="18" charset="0"/>
              <a:cs typeface="Times New Roman" panose="02020603050405020304" pitchFamily="18" charset="0"/>
            </a:endParaRPr>
          </a:p>
        </p:txBody>
      </p:sp>
      <p:sp>
        <p:nvSpPr>
          <p:cNvPr id="5" name="Subtitle 4">
            <a:extLst>
              <a:ext uri="{FF2B5EF4-FFF2-40B4-BE49-F238E27FC236}">
                <a16:creationId xmlns:a16="http://schemas.microsoft.com/office/drawing/2014/main" id="{51EC83C9-0053-C5FF-EA03-7D50FF54BC2A}"/>
              </a:ext>
            </a:extLst>
          </p:cNvPr>
          <p:cNvSpPr>
            <a:spLocks noGrp="1"/>
          </p:cNvSpPr>
          <p:nvPr>
            <p:ph type="subTitle" idx="1"/>
          </p:nvPr>
        </p:nvSpPr>
        <p:spPr>
          <a:xfrm>
            <a:off x="1581150" y="1409699"/>
            <a:ext cx="9639300" cy="4391025"/>
          </a:xfrm>
        </p:spPr>
        <p:txBody>
          <a:bodyPr vert="horz" lIns="91440" tIns="45720" rIns="91440" bIns="45720" rtlCol="0" anchor="t">
            <a:normAutofit/>
          </a:bodyPr>
          <a:lstStyle/>
          <a:p>
            <a:pPr algn="just">
              <a:lnSpc>
                <a:spcPct val="150000"/>
              </a:lnSpc>
            </a:pPr>
            <a:r>
              <a:rPr lang="en-US" sz="2000">
                <a:effectLst/>
                <a:latin typeface="Times New Roman"/>
                <a:ea typeface="+mn-lt"/>
                <a:cs typeface="+mn-lt"/>
              </a:rPr>
              <a:t>One of the most common problems is finding parking slots, which has become a serious issue in contemporary urban mobility as the number of vehicles are increasing day by day. The </a:t>
            </a:r>
            <a:r>
              <a:rPr lang="en-US" sz="2000">
                <a:latin typeface="Times New Roman"/>
                <a:ea typeface="+mn-lt"/>
                <a:cs typeface="+mn-lt"/>
              </a:rPr>
              <a:t>traditional system of finding parking slots manually is quite challenging in practical usage, to overcome this the </a:t>
            </a:r>
            <a:r>
              <a:rPr lang="en-US" sz="2000">
                <a:effectLst/>
                <a:latin typeface="Times New Roman"/>
                <a:ea typeface="+mn-lt"/>
                <a:cs typeface="+mn-lt"/>
              </a:rPr>
              <a:t>Car parking slot detection using YOLO algorithm can help users to know about the number of free slots available to park a car in a particular parking area.</a:t>
            </a:r>
            <a:r>
              <a:rPr lang="en-US" sz="2000">
                <a:latin typeface="Times New Roman"/>
                <a:ea typeface="+mn-lt"/>
                <a:cs typeface="+mn-lt"/>
              </a:rPr>
              <a:t> </a:t>
            </a:r>
            <a:endParaRPr lang="en-US"/>
          </a:p>
          <a:p>
            <a:pPr algn="just">
              <a:lnSpc>
                <a:spcPct val="150000"/>
              </a:lnSpc>
            </a:pPr>
            <a:r>
              <a:rPr lang="en-US" sz="2000">
                <a:effectLst/>
                <a:latin typeface="Times New Roman"/>
                <a:ea typeface="+mn-lt"/>
                <a:cs typeface="+mn-lt"/>
              </a:rPr>
              <a:t>By fixing a camera at the parking slot which will be capturing the parking area, can know the total available free parking slots at a particular parking area. The main purpose is </a:t>
            </a:r>
            <a:r>
              <a:rPr lang="en-US" sz="2000">
                <a:latin typeface="Times New Roman"/>
                <a:ea typeface="+mn-lt"/>
                <a:cs typeface="+mn-lt"/>
              </a:rPr>
              <a:t>to help</a:t>
            </a:r>
            <a:r>
              <a:rPr lang="en-US" sz="2000">
                <a:effectLst/>
                <a:latin typeface="Times New Roman"/>
                <a:ea typeface="+mn-lt"/>
                <a:cs typeface="+mn-lt"/>
              </a:rPr>
              <a:t> the user to know about the availability of free parking slots at the main gate or entrance of the parking area.</a:t>
            </a:r>
            <a:endParaRPr lang="en-IN" sz="2000">
              <a:latin typeface="Times New Roman"/>
              <a:ea typeface="+mn-lt"/>
              <a:cs typeface="+mn-lt"/>
            </a:endParaRPr>
          </a:p>
          <a:p>
            <a:pPr algn="just">
              <a:lnSpc>
                <a:spcPct val="150000"/>
              </a:lnSpc>
            </a:pP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2472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CCD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DCEF1-477A-E743-DC04-9938C775FB6A}"/>
              </a:ext>
            </a:extLst>
          </p:cNvPr>
          <p:cNvSpPr>
            <a:spLocks noGrp="1"/>
          </p:cNvSpPr>
          <p:nvPr>
            <p:ph type="title"/>
          </p:nvPr>
        </p:nvSpPr>
        <p:spPr/>
        <p:txBody>
          <a:bodyPr>
            <a:normAutofit/>
          </a:bodyPr>
          <a:lstStyle/>
          <a:p>
            <a:pPr algn="ctr"/>
            <a:r>
              <a:rPr lang="en-IN" sz="3000" b="1">
                <a:latin typeface="Times New Roman" panose="02020603050405020304" pitchFamily="18" charset="0"/>
                <a:cs typeface="Times New Roman" panose="02020603050405020304" pitchFamily="18" charset="0"/>
              </a:rPr>
              <a:t>REFERENCES</a:t>
            </a:r>
            <a:br>
              <a:rPr lang="en-IN" sz="3000" b="1">
                <a:latin typeface="Times New Roman" panose="02020603050405020304" pitchFamily="18" charset="0"/>
                <a:cs typeface="Times New Roman" panose="02020603050405020304" pitchFamily="18" charset="0"/>
              </a:rPr>
            </a:br>
            <a:endParaRPr lang="en-IN" sz="3000" b="1">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8942996-2329-542A-7732-58F9564FB8A2}"/>
              </a:ext>
            </a:extLst>
          </p:cNvPr>
          <p:cNvSpPr>
            <a:spLocks noGrp="1"/>
          </p:cNvSpPr>
          <p:nvPr>
            <p:ph type="body" idx="4294967295"/>
          </p:nvPr>
        </p:nvSpPr>
        <p:spPr>
          <a:xfrm>
            <a:off x="838200" y="1207781"/>
            <a:ext cx="10715625" cy="4935537"/>
          </a:xfrm>
        </p:spPr>
        <p:txBody>
          <a:bodyPr vert="horz" lIns="91440" tIns="45720" rIns="91440" bIns="45720" rtlCol="0" anchor="t">
            <a:noAutofit/>
          </a:bodyPr>
          <a:lstStyle/>
          <a:p>
            <a:pPr algn="just">
              <a:lnSpc>
                <a:spcPct val="150000"/>
              </a:lnSpc>
              <a:buNone/>
            </a:pPr>
            <a:r>
              <a:rPr lang="en-US" sz="1800" dirty="0">
                <a:effectLst/>
                <a:latin typeface="Times New Roman"/>
                <a:ea typeface="+mn-lt"/>
                <a:cs typeface="+mn-lt"/>
              </a:rPr>
              <a:t>[1] Bandi Sairam</a:t>
            </a:r>
            <a:r>
              <a:rPr lang="en-US" sz="1800" dirty="0">
                <a:latin typeface="Times New Roman"/>
                <a:ea typeface="+mn-lt"/>
                <a:cs typeface="+mn-lt"/>
              </a:rPr>
              <a:t> and </a:t>
            </a:r>
            <a:r>
              <a:rPr lang="en-US" sz="1800" dirty="0">
                <a:effectLst/>
                <a:latin typeface="Times New Roman"/>
                <a:ea typeface="+mn-lt"/>
                <a:cs typeface="+mn-lt"/>
              </a:rPr>
              <a:t>Gopi Krishna "Automated Vehicle Parking Slot Detection System Using Deep Learning " Proceedings of the Fourth International Conference on Computing Methodologies and Communication (ICCMC 2020) IEEE Xplore Part Number:CFP20K25-ART; ISBN:978-1-7281-4889-2</a:t>
            </a:r>
            <a:endParaRPr lang="en-US" sz="1800" dirty="0">
              <a:latin typeface="Times New Roman"/>
              <a:ea typeface="+mn-lt"/>
              <a:cs typeface="+mn-lt"/>
            </a:endParaRPr>
          </a:p>
          <a:p>
            <a:pPr algn="just">
              <a:lnSpc>
                <a:spcPct val="150000"/>
              </a:lnSpc>
              <a:buNone/>
            </a:pPr>
            <a:r>
              <a:rPr lang="en-US" sz="1800" dirty="0">
                <a:effectLst/>
                <a:latin typeface="Times New Roman"/>
                <a:ea typeface="+mn-lt"/>
                <a:cs typeface="+mn-lt"/>
              </a:rPr>
              <a:t>[2] Raj Patel and Praveen Meduri "Car Detection Based Algorithm for Automatic Parking Space Detection" 2020 19th IEEE International Conference on Machine Learning and Applications (ICMLA)</a:t>
            </a:r>
            <a:endParaRPr lang="en-IN" sz="1800" dirty="0">
              <a:latin typeface="Times New Roman"/>
              <a:ea typeface="+mn-lt"/>
              <a:cs typeface="+mn-lt"/>
            </a:endParaRPr>
          </a:p>
          <a:p>
            <a:pPr algn="just">
              <a:lnSpc>
                <a:spcPct val="150000"/>
              </a:lnSpc>
              <a:buNone/>
            </a:pPr>
            <a:r>
              <a:rPr lang="en-US" sz="1800" dirty="0">
                <a:effectLst/>
                <a:latin typeface="Times New Roman"/>
                <a:ea typeface="+mn-lt"/>
                <a:cs typeface="+mn-lt"/>
              </a:rPr>
              <a:t>[3] Moran JU and Haibo LUO "A Simple and Efficient Network for Small Target Detection" 2020 19th IEEE International Conference on Machine Learning and Applications (ICMLA)</a:t>
            </a:r>
            <a:endParaRPr lang="en-IN" sz="1800" dirty="0">
              <a:latin typeface="Times New Roman"/>
              <a:ea typeface="+mn-lt"/>
              <a:cs typeface="+mn-lt"/>
            </a:endParaRPr>
          </a:p>
          <a:p>
            <a:pPr algn="just">
              <a:lnSpc>
                <a:spcPct val="150000"/>
              </a:lnSpc>
              <a:buNone/>
            </a:pPr>
            <a:r>
              <a:rPr lang="en-US" sz="1800" dirty="0">
                <a:effectLst/>
                <a:latin typeface="Times New Roman"/>
                <a:ea typeface="+mn-lt"/>
                <a:cs typeface="+mn-lt"/>
              </a:rPr>
              <a:t>[4] Hanbo </a:t>
            </a:r>
            <a:r>
              <a:rPr lang="en-US" sz="1800" err="1">
                <a:effectLst/>
                <a:latin typeface="Times New Roman"/>
                <a:ea typeface="+mn-lt"/>
                <a:cs typeface="+mn-lt"/>
              </a:rPr>
              <a:t>Zhoua</a:t>
            </a:r>
            <a:r>
              <a:rPr lang="en-US" sz="1800" dirty="0">
                <a:effectLst/>
                <a:latin typeface="Times New Roman"/>
                <a:ea typeface="+mn-lt"/>
                <a:cs typeface="+mn-lt"/>
              </a:rPr>
              <a:t> and Wei </a:t>
            </a:r>
            <a:r>
              <a:rPr lang="en-US" sz="1800" err="1">
                <a:effectLst/>
                <a:latin typeface="Times New Roman"/>
                <a:ea typeface="+mn-lt"/>
                <a:cs typeface="+mn-lt"/>
              </a:rPr>
              <a:t>Xiangc</a:t>
            </a:r>
            <a:r>
              <a:rPr lang="en-US" sz="1800" dirty="0">
                <a:effectLst/>
                <a:latin typeface="Times New Roman"/>
                <a:ea typeface="+mn-lt"/>
                <a:cs typeface="+mn-lt"/>
              </a:rPr>
              <a:t> "Method for judging parking status based on yolov2 target detection algorithm" The 8th International Conference on Information Technology and Quantitative Management (ITQM 2020 &amp; 2021)</a:t>
            </a:r>
            <a:endParaRPr lang="en-US" sz="1800" dirty="0">
              <a:latin typeface="Times New Roman"/>
              <a:ea typeface="+mn-lt"/>
              <a:cs typeface="+mn-lt"/>
            </a:endParaRPr>
          </a:p>
          <a:p>
            <a:pPr algn="just">
              <a:lnSpc>
                <a:spcPct val="150000"/>
              </a:lnSpc>
              <a:buNone/>
            </a:pPr>
            <a:endParaRPr lang="en-US" sz="1800" dirty="0">
              <a:latin typeface="Times New Roman"/>
              <a:cs typeface="Times New Roman"/>
            </a:endParaRPr>
          </a:p>
          <a:p>
            <a:pPr algn="just">
              <a:lnSpc>
                <a:spcPct val="150000"/>
              </a:lnSpc>
              <a:buNone/>
            </a:pPr>
            <a:endParaRPr lang="en-US" sz="1800" dirty="0">
              <a:latin typeface="Times New Roman"/>
              <a:cs typeface="Times New Roman"/>
            </a:endParaRPr>
          </a:p>
          <a:p>
            <a:pPr marL="0" indent="0" algn="just">
              <a:lnSpc>
                <a:spcPct val="150000"/>
              </a:lnSpc>
              <a:buNone/>
            </a:pPr>
            <a:endParaRPr lang="en-US" sz="1800" dirty="0">
              <a:effectLst/>
              <a:latin typeface="Times New Roman"/>
              <a:ea typeface="Times New Roman" panose="02020603050405020304" pitchFamily="18" charset="0"/>
              <a:cs typeface="Times New Roman"/>
            </a:endParaRPr>
          </a:p>
        </p:txBody>
      </p:sp>
    </p:spTree>
    <p:extLst>
      <p:ext uri="{BB962C8B-B14F-4D97-AF65-F5344CB8AC3E}">
        <p14:creationId xmlns:p14="http://schemas.microsoft.com/office/powerpoint/2010/main" val="21448930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CCD5"/>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FB0288C-BD5F-2543-C772-33046CFFB89E}"/>
              </a:ext>
            </a:extLst>
          </p:cNvPr>
          <p:cNvSpPr>
            <a:spLocks noGrp="1"/>
          </p:cNvSpPr>
          <p:nvPr>
            <p:ph type="body" idx="4294967295"/>
          </p:nvPr>
        </p:nvSpPr>
        <p:spPr>
          <a:xfrm>
            <a:off x="251791" y="445446"/>
            <a:ext cx="11688417" cy="5811354"/>
          </a:xfrm>
        </p:spPr>
        <p:txBody>
          <a:bodyPr vert="horz" lIns="91440" tIns="45720" rIns="91440" bIns="45720" rtlCol="0" anchor="t">
            <a:normAutofit fontScale="92500" lnSpcReduction="10000"/>
          </a:bodyPr>
          <a:lstStyle/>
          <a:p>
            <a:pPr algn="just">
              <a:lnSpc>
                <a:spcPct val="170000"/>
              </a:lnSpc>
              <a:buNone/>
            </a:pPr>
            <a:r>
              <a:rPr lang="en-US" sz="1800" dirty="0">
                <a:effectLst/>
                <a:latin typeface="Times New Roman"/>
                <a:ea typeface="+mn-lt"/>
                <a:cs typeface="+mn-lt"/>
              </a:rPr>
              <a:t>[5] Aakash K. Shetty and </a:t>
            </a:r>
            <a:r>
              <a:rPr lang="en-US" sz="1800" dirty="0" err="1">
                <a:effectLst/>
                <a:latin typeface="Times New Roman"/>
                <a:ea typeface="+mn-lt"/>
                <a:cs typeface="+mn-lt"/>
              </a:rPr>
              <a:t>Yashkumar</a:t>
            </a:r>
            <a:r>
              <a:rPr lang="en-US" sz="1800" dirty="0">
                <a:effectLst/>
                <a:latin typeface="Times New Roman"/>
                <a:ea typeface="+mn-lt"/>
                <a:cs typeface="+mn-lt"/>
              </a:rPr>
              <a:t> J. Patel </a:t>
            </a:r>
            <a:r>
              <a:rPr lang="en-US" sz="1800" dirty="0">
                <a:latin typeface="Times New Roman"/>
                <a:ea typeface="+mn-lt"/>
                <a:cs typeface="+mn-lt"/>
              </a:rPr>
              <a:t>“</a:t>
            </a:r>
            <a:r>
              <a:rPr lang="en-US" sz="1800" dirty="0">
                <a:effectLst/>
                <a:latin typeface="Times New Roman"/>
                <a:ea typeface="+mn-lt"/>
                <a:cs typeface="+mn-lt"/>
              </a:rPr>
              <a:t>A Review: Object Detection Models" 2021 6th International Conference for Convergence in Technology (I2CT) Pune, India. Apr 02-04, 2021</a:t>
            </a:r>
            <a:endParaRPr lang="en-US" dirty="0">
              <a:latin typeface="Times New Roman"/>
              <a:ea typeface="+mn-lt"/>
              <a:cs typeface="+mn-lt"/>
            </a:endParaRPr>
          </a:p>
          <a:p>
            <a:pPr algn="just">
              <a:lnSpc>
                <a:spcPct val="170000"/>
              </a:lnSpc>
              <a:buNone/>
            </a:pPr>
            <a:r>
              <a:rPr lang="en-US" sz="1800">
                <a:effectLst/>
                <a:latin typeface="Times New Roman"/>
                <a:ea typeface="+mn-lt"/>
                <a:cs typeface="+mn-lt"/>
              </a:rPr>
              <a:t>[6] Cui Gao</a:t>
            </a:r>
            <a:r>
              <a:rPr lang="en-US" sz="1800">
                <a:latin typeface="Times New Roman"/>
                <a:ea typeface="+mn-lt"/>
                <a:cs typeface="+mn-lt"/>
              </a:rPr>
              <a:t> and </a:t>
            </a:r>
            <a:r>
              <a:rPr lang="en-US" sz="1800">
                <a:effectLst/>
                <a:latin typeface="Times New Roman"/>
                <a:ea typeface="+mn-lt"/>
                <a:cs typeface="+mn-lt"/>
              </a:rPr>
              <a:t>Qiang Cai "YOLOv4 Object Detection Algorithm with Efficient Channel Attention Mechanism" 2020 5th International Conference on Mechanical, Control and Computer Engineering (ICMCCE)</a:t>
            </a:r>
            <a:endParaRPr lang="en-IN">
              <a:latin typeface="Times New Roman"/>
              <a:ea typeface="+mn-lt"/>
              <a:cs typeface="+mn-lt"/>
            </a:endParaRPr>
          </a:p>
          <a:p>
            <a:pPr algn="just">
              <a:lnSpc>
                <a:spcPct val="170000"/>
              </a:lnSpc>
              <a:buNone/>
            </a:pPr>
            <a:r>
              <a:rPr lang="en-US" sz="1800" dirty="0">
                <a:effectLst/>
                <a:latin typeface="Times New Roman"/>
                <a:ea typeface="+mn-lt"/>
                <a:cs typeface="+mn-lt"/>
              </a:rPr>
              <a:t>[7] Se-Ho Park and </a:t>
            </a:r>
            <a:r>
              <a:rPr lang="en-US" sz="1800" dirty="0" err="1">
                <a:effectLst/>
                <a:latin typeface="Times New Roman"/>
                <a:ea typeface="+mn-lt"/>
                <a:cs typeface="+mn-lt"/>
              </a:rPr>
              <a:t>Hyoseok</a:t>
            </a:r>
            <a:r>
              <a:rPr lang="en-US" sz="1800" dirty="0">
                <a:effectLst/>
                <a:latin typeface="Times New Roman"/>
                <a:ea typeface="+mn-lt"/>
                <a:cs typeface="+mn-lt"/>
              </a:rPr>
              <a:t> Yoon "An All-in-One Vehicle Type and License Plate Recognition System Using YOLOv4" 2022 by the authors. Licensee MDPI</a:t>
            </a:r>
            <a:endParaRPr lang="en-IN">
              <a:latin typeface="Times New Roman"/>
              <a:ea typeface="+mn-lt"/>
              <a:cs typeface="+mn-lt"/>
            </a:endParaRPr>
          </a:p>
          <a:p>
            <a:pPr algn="just">
              <a:lnSpc>
                <a:spcPct val="170000"/>
              </a:lnSpc>
              <a:buNone/>
            </a:pPr>
            <a:r>
              <a:rPr lang="en-US" sz="1800" dirty="0">
                <a:effectLst/>
                <a:latin typeface="Times New Roman"/>
                <a:ea typeface="+mn-lt"/>
                <a:cs typeface="+mn-lt"/>
              </a:rPr>
              <a:t>[8] Jingyi Zhao, </a:t>
            </a:r>
            <a:r>
              <a:rPr lang="en-US" sz="1800" dirty="0" err="1">
                <a:effectLst/>
                <a:latin typeface="Times New Roman"/>
                <a:ea typeface="+mn-lt"/>
                <a:cs typeface="+mn-lt"/>
              </a:rPr>
              <a:t>Zhanlin</a:t>
            </a:r>
            <a:r>
              <a:rPr lang="en-US" sz="1800" dirty="0">
                <a:effectLst/>
                <a:latin typeface="Times New Roman"/>
                <a:ea typeface="+mn-lt"/>
                <a:cs typeface="+mn-lt"/>
              </a:rPr>
              <a:t> JI (Member, IEEE) and Ivan </a:t>
            </a:r>
            <a:r>
              <a:rPr lang="en-US" sz="1800" dirty="0" err="1">
                <a:effectLst/>
                <a:latin typeface="Times New Roman"/>
                <a:ea typeface="+mn-lt"/>
                <a:cs typeface="+mn-lt"/>
              </a:rPr>
              <a:t>Ganchev</a:t>
            </a:r>
            <a:r>
              <a:rPr lang="en-US" sz="1800" dirty="0">
                <a:effectLst/>
                <a:latin typeface="Times New Roman"/>
                <a:ea typeface="+mn-lt"/>
                <a:cs typeface="+mn-lt"/>
              </a:rPr>
              <a:t> (Senior Member, IEEE) “Improved Vision-Based Vehicle Detection and Classification by Optimized YOLOv4” 2021 19th IEEE International Conference on Machine Learning and Applications (ICMLA)</a:t>
            </a:r>
            <a:endParaRPr lang="en-IN" dirty="0">
              <a:latin typeface="Times New Roman"/>
              <a:ea typeface="+mn-lt"/>
              <a:cs typeface="+mn-lt"/>
            </a:endParaRPr>
          </a:p>
          <a:p>
            <a:pPr algn="just">
              <a:lnSpc>
                <a:spcPct val="170000"/>
              </a:lnSpc>
              <a:buNone/>
            </a:pPr>
            <a:r>
              <a:rPr lang="en-US" sz="1800" dirty="0">
                <a:effectLst/>
                <a:latin typeface="Times New Roman"/>
                <a:ea typeface="+mn-lt"/>
                <a:cs typeface="+mn-lt"/>
              </a:rPr>
              <a:t>[9] Guan Sheng Wong , Kah Ong Michael Goh and </a:t>
            </a:r>
            <a:r>
              <a:rPr lang="en-US" sz="1800" dirty="0" err="1">
                <a:effectLst/>
                <a:latin typeface="Times New Roman"/>
                <a:ea typeface="+mn-lt"/>
                <a:cs typeface="+mn-lt"/>
              </a:rPr>
              <a:t>Aznul</a:t>
            </a:r>
            <a:r>
              <a:rPr lang="en-US" sz="1800" dirty="0">
                <a:effectLst/>
                <a:latin typeface="Times New Roman"/>
                <a:ea typeface="+mn-lt"/>
                <a:cs typeface="+mn-lt"/>
              </a:rPr>
              <a:t> Qalid Md. Sabri “Review of Vision-Based Deep Learning Parking Slot Detection on Surround View Images” 2023 by the authors. Licensee MDPI</a:t>
            </a:r>
            <a:endParaRPr lang="en-US">
              <a:latin typeface="Times New Roman"/>
              <a:ea typeface="+mn-lt"/>
              <a:cs typeface="+mn-lt"/>
            </a:endParaRPr>
          </a:p>
          <a:p>
            <a:pPr algn="just">
              <a:lnSpc>
                <a:spcPct val="170000"/>
              </a:lnSpc>
              <a:buNone/>
            </a:pPr>
            <a:r>
              <a:rPr lang="en-US" sz="1800" dirty="0">
                <a:latin typeface="Times New Roman"/>
                <a:ea typeface="+mn-lt"/>
                <a:cs typeface="+mn-lt"/>
              </a:rPr>
              <a:t>[10] Upendra </a:t>
            </a:r>
            <a:r>
              <a:rPr lang="en-US" sz="1800" dirty="0" err="1">
                <a:latin typeface="Times New Roman"/>
                <a:ea typeface="+mn-lt"/>
                <a:cs typeface="+mn-lt"/>
              </a:rPr>
              <a:t>Suddamalla</a:t>
            </a:r>
            <a:r>
              <a:rPr lang="en-US" sz="1800" dirty="0">
                <a:latin typeface="Times New Roman"/>
                <a:ea typeface="+mn-lt"/>
                <a:cs typeface="+mn-lt"/>
              </a:rPr>
              <a:t> and Balaji </a:t>
            </a:r>
            <a:r>
              <a:rPr lang="en-US" sz="1800" dirty="0" err="1">
                <a:latin typeface="Times New Roman"/>
                <a:ea typeface="+mn-lt"/>
                <a:cs typeface="+mn-lt"/>
              </a:rPr>
              <a:t>Ravichandiran</a:t>
            </a:r>
            <a:r>
              <a:rPr lang="en-US" sz="1800" dirty="0">
                <a:latin typeface="Times New Roman"/>
                <a:ea typeface="+mn-lt"/>
                <a:cs typeface="+mn-lt"/>
              </a:rPr>
              <a:t> “Camera Based Parking Slot Detection For Autonomous Parking” (2020).</a:t>
            </a:r>
            <a:endParaRPr lang="en-IN" dirty="0">
              <a:latin typeface="Times New Roman"/>
              <a:cs typeface="Calibri" panose="020F0502020204030204"/>
            </a:endParaRPr>
          </a:p>
          <a:p>
            <a:pPr marL="0" indent="0" algn="just">
              <a:lnSpc>
                <a:spcPct val="170000"/>
              </a:lnSpc>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16985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CCD5"/>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FB0288C-BD5F-2543-C772-33046CFFB89E}"/>
              </a:ext>
            </a:extLst>
          </p:cNvPr>
          <p:cNvSpPr>
            <a:spLocks noGrp="1"/>
          </p:cNvSpPr>
          <p:nvPr>
            <p:ph type="body" idx="4294967295"/>
          </p:nvPr>
        </p:nvSpPr>
        <p:spPr>
          <a:xfrm>
            <a:off x="251791" y="337291"/>
            <a:ext cx="11688417" cy="5811354"/>
          </a:xfrm>
        </p:spPr>
        <p:txBody>
          <a:bodyPr vert="horz" lIns="91440" tIns="45720" rIns="91440" bIns="45720" rtlCol="0" anchor="t">
            <a:normAutofit/>
          </a:bodyPr>
          <a:lstStyle/>
          <a:p>
            <a:pPr algn="just">
              <a:lnSpc>
                <a:spcPct val="150000"/>
              </a:lnSpc>
              <a:buNone/>
            </a:pPr>
            <a:r>
              <a:rPr lang="en-US" sz="1800" dirty="0">
                <a:effectLst/>
                <a:latin typeface="Times New Roman"/>
                <a:ea typeface="+mn-lt"/>
                <a:cs typeface="+mn-lt"/>
              </a:rPr>
              <a:t>[11] Fatma M. Talaat and Hanaa Zain Eldin “An improved fire detection approach based on YOLO-v8 for smart cities” Neural Computing and Applications (2023)</a:t>
            </a:r>
            <a:endParaRPr lang="en-US"/>
          </a:p>
          <a:p>
            <a:pPr algn="just">
              <a:lnSpc>
                <a:spcPct val="150000"/>
              </a:lnSpc>
              <a:buNone/>
            </a:pPr>
            <a:r>
              <a:rPr lang="en-US" sz="1800" dirty="0">
                <a:effectLst/>
                <a:latin typeface="Times New Roman"/>
                <a:ea typeface="+mn-lt"/>
                <a:cs typeface="+mn-lt"/>
              </a:rPr>
              <a:t>[12] Nabin Sharma and </a:t>
            </a:r>
            <a:r>
              <a:rPr lang="en-US" sz="1800" err="1">
                <a:effectLst/>
                <a:latin typeface="Times New Roman"/>
                <a:ea typeface="+mn-lt"/>
                <a:cs typeface="+mn-lt"/>
              </a:rPr>
              <a:t>Rathachai</a:t>
            </a:r>
            <a:r>
              <a:rPr lang="en-US" sz="1800" dirty="0">
                <a:effectLst/>
                <a:latin typeface="Times New Roman"/>
                <a:ea typeface="+mn-lt"/>
                <a:cs typeface="+mn-lt"/>
              </a:rPr>
              <a:t> </a:t>
            </a:r>
            <a:r>
              <a:rPr lang="en-US" sz="1800" err="1">
                <a:effectLst/>
                <a:latin typeface="Times New Roman"/>
                <a:ea typeface="+mn-lt"/>
                <a:cs typeface="+mn-lt"/>
              </a:rPr>
              <a:t>Chawuthai</a:t>
            </a:r>
            <a:r>
              <a:rPr lang="en-US" sz="1800" dirty="0">
                <a:effectLst/>
                <a:latin typeface="Times New Roman"/>
                <a:ea typeface="+mn-lt"/>
                <a:cs typeface="+mn-lt"/>
              </a:rPr>
              <a:t> “Parking Time Violation Tracking Using YOLOv8 and Tracking Algorithms” 2023 by the authors. Licensee MDPI</a:t>
            </a:r>
            <a:endParaRPr lang="en-IN" sz="1800">
              <a:latin typeface="Times New Roman"/>
              <a:ea typeface="+mn-lt"/>
              <a:cs typeface="+mn-lt"/>
            </a:endParaRPr>
          </a:p>
          <a:p>
            <a:pPr algn="just">
              <a:lnSpc>
                <a:spcPct val="150000"/>
              </a:lnSpc>
              <a:buNone/>
            </a:pPr>
            <a:r>
              <a:rPr lang="en-US" sz="1800" dirty="0">
                <a:effectLst/>
                <a:latin typeface="Times New Roman"/>
                <a:ea typeface="+mn-lt"/>
                <a:cs typeface="+mn-lt"/>
              </a:rPr>
              <a:t>[13] </a:t>
            </a:r>
            <a:r>
              <a:rPr lang="en-US" sz="1800" err="1">
                <a:effectLst/>
                <a:latin typeface="Times New Roman"/>
                <a:ea typeface="+mn-lt"/>
                <a:cs typeface="+mn-lt"/>
              </a:rPr>
              <a:t>Xiangwu</a:t>
            </a:r>
            <a:r>
              <a:rPr lang="en-US" sz="1800" dirty="0">
                <a:effectLst/>
                <a:latin typeface="Times New Roman"/>
                <a:ea typeface="+mn-lt"/>
                <a:cs typeface="+mn-lt"/>
              </a:rPr>
              <a:t> Ding and </a:t>
            </a:r>
            <a:r>
              <a:rPr lang="en-US" sz="1800" err="1">
                <a:effectLst/>
                <a:latin typeface="Times New Roman"/>
                <a:ea typeface="+mn-lt"/>
                <a:cs typeface="+mn-lt"/>
              </a:rPr>
              <a:t>Ruidi</a:t>
            </a:r>
            <a:r>
              <a:rPr lang="en-US" sz="1800" dirty="0">
                <a:effectLst/>
                <a:latin typeface="Times New Roman"/>
                <a:ea typeface="+mn-lt"/>
                <a:cs typeface="+mn-lt"/>
              </a:rPr>
              <a:t> Yang “Vehicle and Parking Space Detection Based on Improved YOLO Network Model” ICAITA 2019</a:t>
            </a:r>
            <a:endParaRPr lang="en-IN" sz="1800">
              <a:latin typeface="Times New Roman"/>
              <a:ea typeface="+mn-lt"/>
              <a:cs typeface="+mn-lt"/>
            </a:endParaRPr>
          </a:p>
          <a:p>
            <a:pPr algn="just">
              <a:lnSpc>
                <a:spcPct val="150000"/>
              </a:lnSpc>
              <a:buNone/>
            </a:pPr>
            <a:r>
              <a:rPr lang="en-US" sz="1800" dirty="0">
                <a:effectLst/>
                <a:latin typeface="Times New Roman"/>
                <a:ea typeface="+mn-lt"/>
                <a:cs typeface="+mn-lt"/>
              </a:rPr>
              <a:t>[14] Daniel Padilla Carrasco and Domènec Puig “T-YOLO: Tiny Vehicle Detection Based on YOLO and Multi-Scale Convolutional Neural Networks” 2021 19th IEEE International Conference on Machine Learning and Applications (ICMLA)</a:t>
            </a:r>
            <a:endParaRPr lang="en-IN" sz="1800">
              <a:latin typeface="Times New Roman"/>
              <a:ea typeface="+mn-lt"/>
              <a:cs typeface="+mn-lt"/>
            </a:endParaRPr>
          </a:p>
          <a:p>
            <a:pPr algn="just">
              <a:lnSpc>
                <a:spcPct val="150000"/>
              </a:lnSpc>
              <a:buNone/>
            </a:pPr>
            <a:r>
              <a:rPr lang="en-US" sz="1800">
                <a:effectLst/>
                <a:latin typeface="Times New Roman"/>
                <a:ea typeface="+mn-lt"/>
                <a:cs typeface="+mn-lt"/>
              </a:rPr>
              <a:t>[15] Mamoona Humayun and Marwah Khalid </a:t>
            </a:r>
            <a:r>
              <a:rPr lang="en-US" sz="1800" err="1">
                <a:effectLst/>
                <a:latin typeface="Times New Roman"/>
                <a:ea typeface="+mn-lt"/>
                <a:cs typeface="+mn-lt"/>
              </a:rPr>
              <a:t>Alsadun</a:t>
            </a:r>
            <a:r>
              <a:rPr lang="en-US" sz="1800">
                <a:effectLst/>
                <a:latin typeface="Times New Roman"/>
                <a:ea typeface="+mn-lt"/>
                <a:cs typeface="+mn-lt"/>
              </a:rPr>
              <a:t> " Traffic Management: Multi-Scale Vehicle Detection in Varying Weather Conditions Using YOLOv4 and Spatial Pyramid Pooling Network " 2022 by the authors. Licensee MDPI</a:t>
            </a:r>
            <a:endParaRPr lang="en-IN" sz="1800">
              <a:latin typeface="Times New Roman"/>
              <a:ea typeface="+mn-lt"/>
              <a:cs typeface="+mn-lt"/>
            </a:endParaRPr>
          </a:p>
          <a:p>
            <a:pPr marL="0" indent="0" algn="just">
              <a:lnSpc>
                <a:spcPct val="150000"/>
              </a:lnSpc>
              <a:buNone/>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07085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FF9AB8-3DAF-1DFD-E5A2-923E342F06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308" y="-657224"/>
            <a:ext cx="15583957" cy="8765976"/>
          </a:xfrm>
          <a:prstGeom prst="rect">
            <a:avLst/>
          </a:prstGeom>
        </p:spPr>
      </p:pic>
      <p:sp>
        <p:nvSpPr>
          <p:cNvPr id="6" name="TextBox 5">
            <a:extLst>
              <a:ext uri="{FF2B5EF4-FFF2-40B4-BE49-F238E27FC236}">
                <a16:creationId xmlns:a16="http://schemas.microsoft.com/office/drawing/2014/main" id="{1A599F79-2375-4B9E-1D46-4D93E2B1A3E1}"/>
              </a:ext>
            </a:extLst>
          </p:cNvPr>
          <p:cNvSpPr txBox="1"/>
          <p:nvPr/>
        </p:nvSpPr>
        <p:spPr>
          <a:xfrm>
            <a:off x="8134350" y="828674"/>
            <a:ext cx="4400550" cy="923330"/>
          </a:xfrm>
          <a:prstGeom prst="rect">
            <a:avLst/>
          </a:prstGeom>
          <a:noFill/>
        </p:spPr>
        <p:txBody>
          <a:bodyPr wrap="square" rtlCol="0">
            <a:spAutoFit/>
          </a:bodyPr>
          <a:lstStyle/>
          <a:p>
            <a:r>
              <a:rPr lang="en-IN" sz="5400">
                <a:solidFill>
                  <a:schemeClr val="bg1"/>
                </a:solidFill>
                <a:latin typeface="Algerian" panose="04020705040A02060702" pitchFamily="82" charset="0"/>
              </a:rPr>
              <a:t>Thank you</a:t>
            </a:r>
          </a:p>
        </p:txBody>
      </p:sp>
    </p:spTree>
    <p:extLst>
      <p:ext uri="{BB962C8B-B14F-4D97-AF65-F5344CB8AC3E}">
        <p14:creationId xmlns:p14="http://schemas.microsoft.com/office/powerpoint/2010/main" val="3622160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2215</Words>
  <Application>Microsoft Office PowerPoint</Application>
  <PresentationFormat>Widescreen</PresentationFormat>
  <Paragraphs>228</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Algerian</vt:lpstr>
      <vt:lpstr>Arial</vt:lpstr>
      <vt:lpstr>Calibri</vt:lpstr>
      <vt:lpstr>Calibri Light</vt:lpstr>
      <vt:lpstr>Times New Roman</vt:lpstr>
      <vt:lpstr>Wingdings</vt:lpstr>
      <vt:lpstr>Office Theme</vt:lpstr>
      <vt:lpstr>PowerPoint Presentation</vt:lpstr>
      <vt:lpstr>CONTENTS</vt:lpstr>
      <vt:lpstr>ABSTRACT</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 </vt:lpstr>
      <vt:lpstr>PROBLEM STATEMENT </vt:lpstr>
      <vt:lpstr>OBJECTIVES</vt:lpstr>
      <vt:lpstr>SYSTEM ARCHITECTURE</vt:lpstr>
      <vt:lpstr>CONCLUSION </vt:lpstr>
      <vt:lpstr>REFERENCES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Dhanyatha B</dc:creator>
  <cp:lastModifiedBy>Tanmayee Sharvani</cp:lastModifiedBy>
  <cp:revision>125</cp:revision>
  <dcterms:created xsi:type="dcterms:W3CDTF">2023-12-13T17:22:43Z</dcterms:created>
  <dcterms:modified xsi:type="dcterms:W3CDTF">2023-12-15T07:23:59Z</dcterms:modified>
</cp:coreProperties>
</file>
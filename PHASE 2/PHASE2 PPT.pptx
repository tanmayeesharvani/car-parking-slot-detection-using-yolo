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27"/>
  </p:notesMasterIdLst>
  <p:sldIdLst>
    <p:sldId id="283" r:id="rId2"/>
    <p:sldId id="257" r:id="rId3"/>
    <p:sldId id="256" r:id="rId4"/>
    <p:sldId id="258" r:id="rId5"/>
    <p:sldId id="284" r:id="rId6"/>
    <p:sldId id="276" r:id="rId7"/>
    <p:sldId id="277" r:id="rId8"/>
    <p:sldId id="278" r:id="rId9"/>
    <p:sldId id="279" r:id="rId10"/>
    <p:sldId id="280" r:id="rId11"/>
    <p:sldId id="281" r:id="rId12"/>
    <p:sldId id="260" r:id="rId13"/>
    <p:sldId id="261" r:id="rId14"/>
    <p:sldId id="272" r:id="rId15"/>
    <p:sldId id="273" r:id="rId16"/>
    <p:sldId id="263" r:id="rId17"/>
    <p:sldId id="264" r:id="rId18"/>
    <p:sldId id="265" r:id="rId19"/>
    <p:sldId id="285" r:id="rId20"/>
    <p:sldId id="266" r:id="rId21"/>
    <p:sldId id="282" r:id="rId22"/>
    <p:sldId id="268" r:id="rId23"/>
    <p:sldId id="269" r:id="rId24"/>
    <p:sldId id="270" r:id="rId25"/>
    <p:sldId id="27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shitha Hebbandi" userId="533dd74d5d613600" providerId="LiveId" clId="{627D0854-84F9-4E9C-AB4F-C0A7215BF442}"/>
    <pc:docChg chg="undo redo custSel addSld delSld modSld sldOrd">
      <pc:chgData name="varshitha Hebbandi" userId="533dd74d5d613600" providerId="LiveId" clId="{627D0854-84F9-4E9C-AB4F-C0A7215BF442}" dt="2024-04-28T08:16:25.414" v="1119" actId="1076"/>
      <pc:docMkLst>
        <pc:docMk/>
      </pc:docMkLst>
      <pc:sldChg chg="modSp mod ord">
        <pc:chgData name="varshitha Hebbandi" userId="533dd74d5d613600" providerId="LiveId" clId="{627D0854-84F9-4E9C-AB4F-C0A7215BF442}" dt="2024-04-28T07:39:38.049" v="1070" actId="14100"/>
        <pc:sldMkLst>
          <pc:docMk/>
          <pc:sldMk cId="3311524422" sldId="256"/>
        </pc:sldMkLst>
        <pc:spChg chg="mod">
          <ac:chgData name="varshitha Hebbandi" userId="533dd74d5d613600" providerId="LiveId" clId="{627D0854-84F9-4E9C-AB4F-C0A7215BF442}" dt="2024-04-28T06:37:28.010" v="285"/>
          <ac:spMkLst>
            <pc:docMk/>
            <pc:sldMk cId="3311524422" sldId="256"/>
            <ac:spMk id="2" creationId="{A8F78150-0C00-8B60-69F4-98D8003BE229}"/>
          </ac:spMkLst>
        </pc:spChg>
        <pc:spChg chg="mod">
          <ac:chgData name="varshitha Hebbandi" userId="533dd74d5d613600" providerId="LiveId" clId="{627D0854-84F9-4E9C-AB4F-C0A7215BF442}" dt="2024-04-28T07:39:38.049" v="1070" actId="14100"/>
          <ac:spMkLst>
            <pc:docMk/>
            <pc:sldMk cId="3311524422" sldId="256"/>
            <ac:spMk id="10" creationId="{46D4C926-A0D4-D225-8832-29D269CA7039}"/>
          </ac:spMkLst>
        </pc:spChg>
      </pc:sldChg>
      <pc:sldChg chg="modSp mod">
        <pc:chgData name="varshitha Hebbandi" userId="533dd74d5d613600" providerId="LiveId" clId="{627D0854-84F9-4E9C-AB4F-C0A7215BF442}" dt="2024-04-28T06:37:28.010" v="285"/>
        <pc:sldMkLst>
          <pc:docMk/>
          <pc:sldMk cId="1682720276" sldId="257"/>
        </pc:sldMkLst>
        <pc:spChg chg="mod">
          <ac:chgData name="varshitha Hebbandi" userId="533dd74d5d613600" providerId="LiveId" clId="{627D0854-84F9-4E9C-AB4F-C0A7215BF442}" dt="2024-04-28T06:37:28.010" v="285"/>
          <ac:spMkLst>
            <pc:docMk/>
            <pc:sldMk cId="1682720276" sldId="257"/>
            <ac:spMk id="2" creationId="{E473BFBA-2EA3-0B33-10A0-89EEFEEF1F40}"/>
          </ac:spMkLst>
        </pc:spChg>
        <pc:spChg chg="mod">
          <ac:chgData name="varshitha Hebbandi" userId="533dd74d5d613600" providerId="LiveId" clId="{627D0854-84F9-4E9C-AB4F-C0A7215BF442}" dt="2024-04-28T06:26:27.177" v="267" actId="255"/>
          <ac:spMkLst>
            <pc:docMk/>
            <pc:sldMk cId="1682720276" sldId="257"/>
            <ac:spMk id="4" creationId="{2FE230B0-49A4-57AF-6E35-281DFD359F0A}"/>
          </ac:spMkLst>
        </pc:spChg>
      </pc:sldChg>
      <pc:sldChg chg="addSp delSp modSp mod">
        <pc:chgData name="varshitha Hebbandi" userId="533dd74d5d613600" providerId="LiveId" clId="{627D0854-84F9-4E9C-AB4F-C0A7215BF442}" dt="2024-04-28T06:39:03.266" v="531" actId="1076"/>
        <pc:sldMkLst>
          <pc:docMk/>
          <pc:sldMk cId="632989673" sldId="258"/>
        </pc:sldMkLst>
        <pc:spChg chg="mod">
          <ac:chgData name="varshitha Hebbandi" userId="533dd74d5d613600" providerId="LiveId" clId="{627D0854-84F9-4E9C-AB4F-C0A7215BF442}" dt="2024-04-28T06:39:03.266" v="531" actId="1076"/>
          <ac:spMkLst>
            <pc:docMk/>
            <pc:sldMk cId="632989673" sldId="258"/>
            <ac:spMk id="2" creationId="{4417FF6D-8A75-0710-B96D-6FC79D4B3FFA}"/>
          </ac:spMkLst>
        </pc:spChg>
        <pc:spChg chg="add mod">
          <ac:chgData name="varshitha Hebbandi" userId="533dd74d5d613600" providerId="LiveId" clId="{627D0854-84F9-4E9C-AB4F-C0A7215BF442}" dt="2024-04-28T06:15:25.935" v="82" actId="1076"/>
          <ac:spMkLst>
            <pc:docMk/>
            <pc:sldMk cId="632989673" sldId="258"/>
            <ac:spMk id="3" creationId="{4E7EC679-EAB8-01A5-D003-52BDB4CF70EF}"/>
          </ac:spMkLst>
        </pc:spChg>
        <pc:spChg chg="del">
          <ac:chgData name="varshitha Hebbandi" userId="533dd74d5d613600" providerId="LiveId" clId="{627D0854-84F9-4E9C-AB4F-C0A7215BF442}" dt="2024-04-28T06:06:12.021" v="0" actId="478"/>
          <ac:spMkLst>
            <pc:docMk/>
            <pc:sldMk cId="632989673" sldId="258"/>
            <ac:spMk id="4" creationId="{3BD90F0B-9816-E9A8-B192-09836BFAC8D1}"/>
          </ac:spMkLst>
        </pc:spChg>
      </pc:sldChg>
      <pc:sldChg chg="addSp modSp del mod">
        <pc:chgData name="varshitha Hebbandi" userId="533dd74d5d613600" providerId="LiveId" clId="{627D0854-84F9-4E9C-AB4F-C0A7215BF442}" dt="2024-04-28T06:27:40.706" v="271" actId="47"/>
        <pc:sldMkLst>
          <pc:docMk/>
          <pc:sldMk cId="2343038441" sldId="259"/>
        </pc:sldMkLst>
        <pc:graphicFrameChg chg="add mod">
          <ac:chgData name="varshitha Hebbandi" userId="533dd74d5d613600" providerId="LiveId" clId="{627D0854-84F9-4E9C-AB4F-C0A7215BF442}" dt="2024-04-28T06:08:15.406" v="46" actId="1076"/>
          <ac:graphicFrameMkLst>
            <pc:docMk/>
            <pc:sldMk cId="2343038441" sldId="259"/>
            <ac:graphicFrameMk id="3" creationId="{ACC4F946-BF4B-1D7E-3DDE-D0A4993950F2}"/>
          </ac:graphicFrameMkLst>
        </pc:graphicFrameChg>
      </pc:sldChg>
      <pc:sldChg chg="modSp mod">
        <pc:chgData name="varshitha Hebbandi" userId="533dd74d5d613600" providerId="LiveId" clId="{627D0854-84F9-4E9C-AB4F-C0A7215BF442}" dt="2024-04-28T06:37:28.010" v="285"/>
        <pc:sldMkLst>
          <pc:docMk/>
          <pc:sldMk cId="1439089485" sldId="260"/>
        </pc:sldMkLst>
        <pc:spChg chg="mod">
          <ac:chgData name="varshitha Hebbandi" userId="533dd74d5d613600" providerId="LiveId" clId="{627D0854-84F9-4E9C-AB4F-C0A7215BF442}" dt="2024-04-28T06:37:28.010" v="285"/>
          <ac:spMkLst>
            <pc:docMk/>
            <pc:sldMk cId="1439089485" sldId="260"/>
            <ac:spMk id="2" creationId="{0480E911-A25D-F7E3-4DC3-042A2BD3D2CC}"/>
          </ac:spMkLst>
        </pc:spChg>
        <pc:spChg chg="mod">
          <ac:chgData name="varshitha Hebbandi" userId="533dd74d5d613600" providerId="LiveId" clId="{627D0854-84F9-4E9C-AB4F-C0A7215BF442}" dt="2024-04-28T06:14:02.396" v="76" actId="255"/>
          <ac:spMkLst>
            <pc:docMk/>
            <pc:sldMk cId="1439089485" sldId="260"/>
            <ac:spMk id="4" creationId="{7F380E0A-0788-6144-02AC-10B83B991154}"/>
          </ac:spMkLst>
        </pc:spChg>
      </pc:sldChg>
      <pc:sldChg chg="modSp mod">
        <pc:chgData name="varshitha Hebbandi" userId="533dd74d5d613600" providerId="LiveId" clId="{627D0854-84F9-4E9C-AB4F-C0A7215BF442}" dt="2024-04-28T07:36:57.964" v="1057" actId="20577"/>
        <pc:sldMkLst>
          <pc:docMk/>
          <pc:sldMk cId="3457804749" sldId="261"/>
        </pc:sldMkLst>
        <pc:spChg chg="mod">
          <ac:chgData name="varshitha Hebbandi" userId="533dd74d5d613600" providerId="LiveId" clId="{627D0854-84F9-4E9C-AB4F-C0A7215BF442}" dt="2024-04-28T06:13:23.409" v="73" actId="1076"/>
          <ac:spMkLst>
            <pc:docMk/>
            <pc:sldMk cId="3457804749" sldId="261"/>
            <ac:spMk id="2" creationId="{11D9C859-45A7-7523-77FE-ADA5C3F090C0}"/>
          </ac:spMkLst>
        </pc:spChg>
        <pc:spChg chg="mod">
          <ac:chgData name="varshitha Hebbandi" userId="533dd74d5d613600" providerId="LiveId" clId="{627D0854-84F9-4E9C-AB4F-C0A7215BF442}" dt="2024-04-28T07:36:57.964" v="1057" actId="20577"/>
          <ac:spMkLst>
            <pc:docMk/>
            <pc:sldMk cId="3457804749" sldId="261"/>
            <ac:spMk id="6" creationId="{C9E046EC-2DC3-5E42-046C-7C724EC225E0}"/>
          </ac:spMkLst>
        </pc:spChg>
      </pc:sldChg>
      <pc:sldChg chg="del">
        <pc:chgData name="varshitha Hebbandi" userId="533dd74d5d613600" providerId="LiveId" clId="{627D0854-84F9-4E9C-AB4F-C0A7215BF442}" dt="2024-04-28T06:16:37.682" v="83" actId="47"/>
        <pc:sldMkLst>
          <pc:docMk/>
          <pc:sldMk cId="1665301882" sldId="262"/>
        </pc:sldMkLst>
      </pc:sldChg>
      <pc:sldChg chg="modSp mod">
        <pc:chgData name="varshitha Hebbandi" userId="533dd74d5d613600" providerId="LiveId" clId="{627D0854-84F9-4E9C-AB4F-C0A7215BF442}" dt="2024-04-28T06:53:24.973" v="618" actId="1076"/>
        <pc:sldMkLst>
          <pc:docMk/>
          <pc:sldMk cId="3189571353" sldId="263"/>
        </pc:sldMkLst>
        <pc:spChg chg="mod">
          <ac:chgData name="varshitha Hebbandi" userId="533dd74d5d613600" providerId="LiveId" clId="{627D0854-84F9-4E9C-AB4F-C0A7215BF442}" dt="2024-04-28T06:53:24.973" v="618" actId="1076"/>
          <ac:spMkLst>
            <pc:docMk/>
            <pc:sldMk cId="3189571353" sldId="263"/>
            <ac:spMk id="2" creationId="{67E97665-12B1-DCFB-F7AD-725214CB32B6}"/>
          </ac:spMkLst>
        </pc:spChg>
      </pc:sldChg>
      <pc:sldChg chg="addSp delSp modSp mod ord">
        <pc:chgData name="varshitha Hebbandi" userId="533dd74d5d613600" providerId="LiveId" clId="{627D0854-84F9-4E9C-AB4F-C0A7215BF442}" dt="2024-04-28T07:39:05.210" v="1066" actId="478"/>
        <pc:sldMkLst>
          <pc:docMk/>
          <pc:sldMk cId="1751138271" sldId="266"/>
        </pc:sldMkLst>
        <pc:spChg chg="mod">
          <ac:chgData name="varshitha Hebbandi" userId="533dd74d5d613600" providerId="LiveId" clId="{627D0854-84F9-4E9C-AB4F-C0A7215BF442}" dt="2024-04-28T06:37:28.010" v="285"/>
          <ac:spMkLst>
            <pc:docMk/>
            <pc:sldMk cId="1751138271" sldId="266"/>
            <ac:spMk id="2" creationId="{8D19C979-90F1-71FB-A7F7-0FB2F68C4482}"/>
          </ac:spMkLst>
        </pc:spChg>
        <pc:spChg chg="add mod">
          <ac:chgData name="varshitha Hebbandi" userId="533dd74d5d613600" providerId="LiveId" clId="{627D0854-84F9-4E9C-AB4F-C0A7215BF442}" dt="2024-04-28T07:36:47.933" v="1056" actId="20577"/>
          <ac:spMkLst>
            <pc:docMk/>
            <pc:sldMk cId="1751138271" sldId="266"/>
            <ac:spMk id="3" creationId="{72FF73A0-1C0E-623F-BAD2-B7225460BB2E}"/>
          </ac:spMkLst>
        </pc:spChg>
        <pc:spChg chg="del mod">
          <ac:chgData name="varshitha Hebbandi" userId="533dd74d5d613600" providerId="LiveId" clId="{627D0854-84F9-4E9C-AB4F-C0A7215BF442}" dt="2024-04-28T07:36:21.055" v="1053" actId="478"/>
          <ac:spMkLst>
            <pc:docMk/>
            <pc:sldMk cId="1751138271" sldId="266"/>
            <ac:spMk id="4" creationId="{C02A383E-23CB-A89B-388F-2C8D192D39B0}"/>
          </ac:spMkLst>
        </pc:spChg>
        <pc:spChg chg="add del mod">
          <ac:chgData name="varshitha Hebbandi" userId="533dd74d5d613600" providerId="LiveId" clId="{627D0854-84F9-4E9C-AB4F-C0A7215BF442}" dt="2024-04-28T07:39:05.210" v="1066" actId="478"/>
          <ac:spMkLst>
            <pc:docMk/>
            <pc:sldMk cId="1751138271" sldId="266"/>
            <ac:spMk id="5" creationId="{47F51E7A-28D2-B993-BC42-6EFCBD01713C}"/>
          </ac:spMkLst>
        </pc:spChg>
      </pc:sldChg>
      <pc:sldChg chg="modSp del">
        <pc:chgData name="varshitha Hebbandi" userId="533dd74d5d613600" providerId="LiveId" clId="{627D0854-84F9-4E9C-AB4F-C0A7215BF442}" dt="2024-04-28T07:38:39.059" v="1064" actId="47"/>
        <pc:sldMkLst>
          <pc:docMk/>
          <pc:sldMk cId="2034841142" sldId="267"/>
        </pc:sldMkLst>
        <pc:spChg chg="mod">
          <ac:chgData name="varshitha Hebbandi" userId="533dd74d5d613600" providerId="LiveId" clId="{627D0854-84F9-4E9C-AB4F-C0A7215BF442}" dt="2024-04-28T06:37:28.010" v="285"/>
          <ac:spMkLst>
            <pc:docMk/>
            <pc:sldMk cId="2034841142" sldId="267"/>
            <ac:spMk id="2" creationId="{5598C309-16C0-99FC-6B17-97DE56E00BB6}"/>
          </ac:spMkLst>
        </pc:spChg>
      </pc:sldChg>
      <pc:sldChg chg="modSp mod">
        <pc:chgData name="varshitha Hebbandi" userId="533dd74d5d613600" providerId="LiveId" clId="{627D0854-84F9-4E9C-AB4F-C0A7215BF442}" dt="2024-04-28T07:40:33.739" v="1074" actId="1076"/>
        <pc:sldMkLst>
          <pc:docMk/>
          <pc:sldMk cId="2626040926" sldId="268"/>
        </pc:sldMkLst>
        <pc:spChg chg="mod">
          <ac:chgData name="varshitha Hebbandi" userId="533dd74d5d613600" providerId="LiveId" clId="{627D0854-84F9-4E9C-AB4F-C0A7215BF442}" dt="2024-04-28T07:40:26.682" v="1073" actId="1076"/>
          <ac:spMkLst>
            <pc:docMk/>
            <pc:sldMk cId="2626040926" sldId="268"/>
            <ac:spMk id="2" creationId="{02489782-5CD0-7C5E-9492-46FDEF773D2F}"/>
          </ac:spMkLst>
        </pc:spChg>
        <pc:spChg chg="mod">
          <ac:chgData name="varshitha Hebbandi" userId="533dd74d5d613600" providerId="LiveId" clId="{627D0854-84F9-4E9C-AB4F-C0A7215BF442}" dt="2024-04-28T07:40:33.739" v="1074" actId="1076"/>
          <ac:spMkLst>
            <pc:docMk/>
            <pc:sldMk cId="2626040926" sldId="268"/>
            <ac:spMk id="4" creationId="{8CFC94ED-0E7E-328B-0E66-7020B8505D0E}"/>
          </ac:spMkLst>
        </pc:spChg>
      </pc:sldChg>
      <pc:sldChg chg="addSp delSp modSp mod">
        <pc:chgData name="varshitha Hebbandi" userId="533dd74d5d613600" providerId="LiveId" clId="{627D0854-84F9-4E9C-AB4F-C0A7215BF442}" dt="2024-04-28T08:16:25.414" v="1119" actId="1076"/>
        <pc:sldMkLst>
          <pc:docMk/>
          <pc:sldMk cId="2985685428" sldId="271"/>
        </pc:sldMkLst>
        <pc:spChg chg="add del mod">
          <ac:chgData name="varshitha Hebbandi" userId="533dd74d5d613600" providerId="LiveId" clId="{627D0854-84F9-4E9C-AB4F-C0A7215BF442}" dt="2024-04-28T07:40:43.519" v="1075" actId="478"/>
          <ac:spMkLst>
            <pc:docMk/>
            <pc:sldMk cId="2985685428" sldId="271"/>
            <ac:spMk id="3" creationId="{0A96DAE4-4191-1CBB-9887-9F2BDD1BB95F}"/>
          </ac:spMkLst>
        </pc:spChg>
        <pc:spChg chg="add mod">
          <ac:chgData name="varshitha Hebbandi" userId="533dd74d5d613600" providerId="LiveId" clId="{627D0854-84F9-4E9C-AB4F-C0A7215BF442}" dt="2024-04-28T07:55:39.752" v="1077"/>
          <ac:spMkLst>
            <pc:docMk/>
            <pc:sldMk cId="2985685428" sldId="271"/>
            <ac:spMk id="4" creationId="{655FD49B-7F68-CCAD-CA1B-20B6562FD16D}"/>
          </ac:spMkLst>
        </pc:spChg>
        <pc:spChg chg="add mod">
          <ac:chgData name="varshitha Hebbandi" userId="533dd74d5d613600" providerId="LiveId" clId="{627D0854-84F9-4E9C-AB4F-C0A7215BF442}" dt="2024-04-28T07:56:43.311" v="1080" actId="14100"/>
          <ac:spMkLst>
            <pc:docMk/>
            <pc:sldMk cId="2985685428" sldId="271"/>
            <ac:spMk id="5" creationId="{815F4B9F-55F4-7444-3449-351E7E50F53F}"/>
          </ac:spMkLst>
        </pc:spChg>
        <pc:spChg chg="add">
          <ac:chgData name="varshitha Hebbandi" userId="533dd74d5d613600" providerId="LiveId" clId="{627D0854-84F9-4E9C-AB4F-C0A7215BF442}" dt="2024-04-28T07:56:49.519" v="1081"/>
          <ac:spMkLst>
            <pc:docMk/>
            <pc:sldMk cId="2985685428" sldId="271"/>
            <ac:spMk id="6" creationId="{20946A6E-476D-7224-BF43-350F106515E1}"/>
          </ac:spMkLst>
        </pc:spChg>
        <pc:picChg chg="add mod">
          <ac:chgData name="varshitha Hebbandi" userId="533dd74d5d613600" providerId="LiveId" clId="{627D0854-84F9-4E9C-AB4F-C0A7215BF442}" dt="2024-04-28T06:58:31.577" v="651"/>
          <ac:picMkLst>
            <pc:docMk/>
            <pc:sldMk cId="2985685428" sldId="271"/>
            <ac:picMk id="2" creationId="{807D2B42-77F5-8FA2-DD66-ED2ACCB68E1A}"/>
          </ac:picMkLst>
        </pc:picChg>
        <pc:picChg chg="add del mod">
          <ac:chgData name="varshitha Hebbandi" userId="533dd74d5d613600" providerId="LiveId" clId="{627D0854-84F9-4E9C-AB4F-C0A7215BF442}" dt="2024-04-28T08:07:20.606" v="1098" actId="478"/>
          <ac:picMkLst>
            <pc:docMk/>
            <pc:sldMk cId="2985685428" sldId="271"/>
            <ac:picMk id="7" creationId="{052F8F22-0582-6AF7-6F34-D1E4B9AD4923}"/>
          </ac:picMkLst>
        </pc:picChg>
        <pc:picChg chg="add del mod">
          <ac:chgData name="varshitha Hebbandi" userId="533dd74d5d613600" providerId="LiveId" clId="{627D0854-84F9-4E9C-AB4F-C0A7215BF442}" dt="2024-04-28T08:07:45.416" v="1100" actId="478"/>
          <ac:picMkLst>
            <pc:docMk/>
            <pc:sldMk cId="2985685428" sldId="271"/>
            <ac:picMk id="9" creationId="{C05A9079-0564-8FB8-D6BB-599311589EE7}"/>
          </ac:picMkLst>
        </pc:picChg>
        <pc:picChg chg="add del">
          <ac:chgData name="varshitha Hebbandi" userId="533dd74d5d613600" providerId="LiveId" clId="{627D0854-84F9-4E9C-AB4F-C0A7215BF442}" dt="2024-04-28T08:09:24.334" v="1102" actId="478"/>
          <ac:picMkLst>
            <pc:docMk/>
            <pc:sldMk cId="2985685428" sldId="271"/>
            <ac:picMk id="11" creationId="{1528FF3A-F3B6-711F-5E77-F6270E27066F}"/>
          </ac:picMkLst>
        </pc:picChg>
        <pc:picChg chg="add mod">
          <ac:chgData name="varshitha Hebbandi" userId="533dd74d5d613600" providerId="LiveId" clId="{627D0854-84F9-4E9C-AB4F-C0A7215BF442}" dt="2024-04-28T08:16:25.414" v="1119" actId="1076"/>
          <ac:picMkLst>
            <pc:docMk/>
            <pc:sldMk cId="2985685428" sldId="271"/>
            <ac:picMk id="13" creationId="{C51AA24A-EE09-2E5E-92BB-B52E7F9AF0A1}"/>
          </ac:picMkLst>
        </pc:picChg>
      </pc:sldChg>
      <pc:sldChg chg="modSp">
        <pc:chgData name="varshitha Hebbandi" userId="533dd74d5d613600" providerId="LiveId" clId="{627D0854-84F9-4E9C-AB4F-C0A7215BF442}" dt="2024-04-28T06:37:05.019" v="284"/>
        <pc:sldMkLst>
          <pc:docMk/>
          <pc:sldMk cId="68180704" sldId="272"/>
        </pc:sldMkLst>
        <pc:spChg chg="mod">
          <ac:chgData name="varshitha Hebbandi" userId="533dd74d5d613600" providerId="LiveId" clId="{627D0854-84F9-4E9C-AB4F-C0A7215BF442}" dt="2024-04-28T06:37:05.019" v="284"/>
          <ac:spMkLst>
            <pc:docMk/>
            <pc:sldMk cId="68180704" sldId="272"/>
            <ac:spMk id="2" creationId="{DD30856C-5EC1-7BEF-F7A5-0AF1DA1985C7}"/>
          </ac:spMkLst>
        </pc:spChg>
      </pc:sldChg>
      <pc:sldChg chg="modSp">
        <pc:chgData name="varshitha Hebbandi" userId="533dd74d5d613600" providerId="LiveId" clId="{627D0854-84F9-4E9C-AB4F-C0A7215BF442}" dt="2024-04-28T06:37:28.010" v="285"/>
        <pc:sldMkLst>
          <pc:docMk/>
          <pc:sldMk cId="2350891088" sldId="274"/>
        </pc:sldMkLst>
        <pc:spChg chg="mod">
          <ac:chgData name="varshitha Hebbandi" userId="533dd74d5d613600" providerId="LiveId" clId="{627D0854-84F9-4E9C-AB4F-C0A7215BF442}" dt="2024-04-28T06:37:28.010" v="285"/>
          <ac:spMkLst>
            <pc:docMk/>
            <pc:sldMk cId="2350891088" sldId="274"/>
            <ac:spMk id="2" creationId="{D1A1E254-5622-BF27-52A1-881EF54A4A8E}"/>
          </ac:spMkLst>
        </pc:spChg>
      </pc:sldChg>
      <pc:sldChg chg="addSp delSp modSp new mod">
        <pc:chgData name="varshitha Hebbandi" userId="533dd74d5d613600" providerId="LiveId" clId="{627D0854-84F9-4E9C-AB4F-C0A7215BF442}" dt="2024-04-28T06:51:18.172" v="609" actId="1076"/>
        <pc:sldMkLst>
          <pc:docMk/>
          <pc:sldMk cId="2105402228" sldId="276"/>
        </pc:sldMkLst>
        <pc:spChg chg="del">
          <ac:chgData name="varshitha Hebbandi" userId="533dd74d5d613600" providerId="LiveId" clId="{627D0854-84F9-4E9C-AB4F-C0A7215BF442}" dt="2024-04-28T06:08:41.117" v="52" actId="478"/>
          <ac:spMkLst>
            <pc:docMk/>
            <pc:sldMk cId="2105402228" sldId="276"/>
            <ac:spMk id="2" creationId="{F5BC4020-9909-7AD8-BBDD-25F135BD81DA}"/>
          </ac:spMkLst>
        </pc:spChg>
        <pc:spChg chg="add del mod">
          <ac:chgData name="varshitha Hebbandi" userId="533dd74d5d613600" providerId="LiveId" clId="{627D0854-84F9-4E9C-AB4F-C0A7215BF442}" dt="2024-04-28T06:49:50.992" v="593" actId="478"/>
          <ac:spMkLst>
            <pc:docMk/>
            <pc:sldMk cId="2105402228" sldId="276"/>
            <ac:spMk id="4" creationId="{A7B9DF2A-8259-9B88-8638-1F8D3699696C}"/>
          </ac:spMkLst>
        </pc:spChg>
        <pc:spChg chg="add del mod">
          <ac:chgData name="varshitha Hebbandi" userId="533dd74d5d613600" providerId="LiveId" clId="{627D0854-84F9-4E9C-AB4F-C0A7215BF442}" dt="2024-04-28T06:50:01.547" v="601"/>
          <ac:spMkLst>
            <pc:docMk/>
            <pc:sldMk cId="2105402228" sldId="276"/>
            <ac:spMk id="5" creationId="{7F815B77-6F29-DDE8-1DE0-663B5304ED80}"/>
          </ac:spMkLst>
        </pc:spChg>
        <pc:graphicFrameChg chg="add mod modGraphic">
          <ac:chgData name="varshitha Hebbandi" userId="533dd74d5d613600" providerId="LiveId" clId="{627D0854-84F9-4E9C-AB4F-C0A7215BF442}" dt="2024-04-28T06:51:18.172" v="609" actId="1076"/>
          <ac:graphicFrameMkLst>
            <pc:docMk/>
            <pc:sldMk cId="2105402228" sldId="276"/>
            <ac:graphicFrameMk id="3" creationId="{409AC7DD-4AC6-7E82-6A72-DFCAE55B5A42}"/>
          </ac:graphicFrameMkLst>
        </pc:graphicFrameChg>
      </pc:sldChg>
      <pc:sldChg chg="addSp delSp modSp new mod">
        <pc:chgData name="varshitha Hebbandi" userId="533dd74d5d613600" providerId="LiveId" clId="{627D0854-84F9-4E9C-AB4F-C0A7215BF442}" dt="2024-04-28T06:50:36.717" v="605" actId="14100"/>
        <pc:sldMkLst>
          <pc:docMk/>
          <pc:sldMk cId="1653945413" sldId="277"/>
        </pc:sldMkLst>
        <pc:spChg chg="del">
          <ac:chgData name="varshitha Hebbandi" userId="533dd74d5d613600" providerId="LiveId" clId="{627D0854-84F9-4E9C-AB4F-C0A7215BF442}" dt="2024-04-28T06:09:53.098" v="55" actId="478"/>
          <ac:spMkLst>
            <pc:docMk/>
            <pc:sldMk cId="1653945413" sldId="277"/>
            <ac:spMk id="2" creationId="{D8CDEE67-CB74-9764-5899-8EAB32C8E146}"/>
          </ac:spMkLst>
        </pc:spChg>
        <pc:graphicFrameChg chg="add mod modGraphic">
          <ac:chgData name="varshitha Hebbandi" userId="533dd74d5d613600" providerId="LiveId" clId="{627D0854-84F9-4E9C-AB4F-C0A7215BF442}" dt="2024-04-28T06:50:36.717" v="605" actId="14100"/>
          <ac:graphicFrameMkLst>
            <pc:docMk/>
            <pc:sldMk cId="1653945413" sldId="277"/>
            <ac:graphicFrameMk id="3" creationId="{A971CBE6-BFAC-5CC0-2B30-70B0C8F478B6}"/>
          </ac:graphicFrameMkLst>
        </pc:graphicFrameChg>
      </pc:sldChg>
      <pc:sldChg chg="addSp delSp modSp new mod">
        <pc:chgData name="varshitha Hebbandi" userId="533dd74d5d613600" providerId="LiveId" clId="{627D0854-84F9-4E9C-AB4F-C0A7215BF442}" dt="2024-04-28T06:50:55.741" v="607" actId="1076"/>
        <pc:sldMkLst>
          <pc:docMk/>
          <pc:sldMk cId="920197087" sldId="278"/>
        </pc:sldMkLst>
        <pc:spChg chg="del">
          <ac:chgData name="varshitha Hebbandi" userId="533dd74d5d613600" providerId="LiveId" clId="{627D0854-84F9-4E9C-AB4F-C0A7215BF442}" dt="2024-04-28T06:10:25.140" v="57" actId="478"/>
          <ac:spMkLst>
            <pc:docMk/>
            <pc:sldMk cId="920197087" sldId="278"/>
            <ac:spMk id="2" creationId="{54556E7A-0749-1F47-5CBC-E25FC4E4D86D}"/>
          </ac:spMkLst>
        </pc:spChg>
        <pc:graphicFrameChg chg="add mod modGraphic">
          <ac:chgData name="varshitha Hebbandi" userId="533dd74d5d613600" providerId="LiveId" clId="{627D0854-84F9-4E9C-AB4F-C0A7215BF442}" dt="2024-04-28T06:50:55.741" v="607" actId="1076"/>
          <ac:graphicFrameMkLst>
            <pc:docMk/>
            <pc:sldMk cId="920197087" sldId="278"/>
            <ac:graphicFrameMk id="3" creationId="{4FB1A5B8-DC34-C6C2-0FD0-800E2C36D10D}"/>
          </ac:graphicFrameMkLst>
        </pc:graphicFrameChg>
      </pc:sldChg>
      <pc:sldChg chg="addSp delSp modSp new mod">
        <pc:chgData name="varshitha Hebbandi" userId="533dd74d5d613600" providerId="LiveId" clId="{627D0854-84F9-4E9C-AB4F-C0A7215BF442}" dt="2024-04-28T06:51:51.139" v="612" actId="14100"/>
        <pc:sldMkLst>
          <pc:docMk/>
          <pc:sldMk cId="4042473190" sldId="279"/>
        </pc:sldMkLst>
        <pc:spChg chg="del">
          <ac:chgData name="varshitha Hebbandi" userId="533dd74d5d613600" providerId="LiveId" clId="{627D0854-84F9-4E9C-AB4F-C0A7215BF442}" dt="2024-04-28T06:10:54.120" v="61" actId="478"/>
          <ac:spMkLst>
            <pc:docMk/>
            <pc:sldMk cId="4042473190" sldId="279"/>
            <ac:spMk id="2" creationId="{05214CBC-676C-B50B-535B-AE311DAFA472}"/>
          </ac:spMkLst>
        </pc:spChg>
        <pc:graphicFrameChg chg="add mod modGraphic">
          <ac:chgData name="varshitha Hebbandi" userId="533dd74d5d613600" providerId="LiveId" clId="{627D0854-84F9-4E9C-AB4F-C0A7215BF442}" dt="2024-04-28T06:51:51.139" v="612" actId="14100"/>
          <ac:graphicFrameMkLst>
            <pc:docMk/>
            <pc:sldMk cId="4042473190" sldId="279"/>
            <ac:graphicFrameMk id="3" creationId="{62D1704C-B6A7-763E-B922-EAA17884F3E6}"/>
          </ac:graphicFrameMkLst>
        </pc:graphicFrameChg>
      </pc:sldChg>
      <pc:sldChg chg="addSp delSp modSp new mod">
        <pc:chgData name="varshitha Hebbandi" userId="533dd74d5d613600" providerId="LiveId" clId="{627D0854-84F9-4E9C-AB4F-C0A7215BF442}" dt="2024-04-28T06:52:21.094" v="615" actId="14100"/>
        <pc:sldMkLst>
          <pc:docMk/>
          <pc:sldMk cId="2687583752" sldId="280"/>
        </pc:sldMkLst>
        <pc:spChg chg="del">
          <ac:chgData name="varshitha Hebbandi" userId="533dd74d5d613600" providerId="LiveId" clId="{627D0854-84F9-4E9C-AB4F-C0A7215BF442}" dt="2024-04-28T06:11:26.808" v="64" actId="478"/>
          <ac:spMkLst>
            <pc:docMk/>
            <pc:sldMk cId="2687583752" sldId="280"/>
            <ac:spMk id="2" creationId="{8E439F60-825F-9460-A5AF-B81DBEDF3B9A}"/>
          </ac:spMkLst>
        </pc:spChg>
        <pc:graphicFrameChg chg="add mod modGraphic">
          <ac:chgData name="varshitha Hebbandi" userId="533dd74d5d613600" providerId="LiveId" clId="{627D0854-84F9-4E9C-AB4F-C0A7215BF442}" dt="2024-04-28T06:52:21.094" v="615" actId="14100"/>
          <ac:graphicFrameMkLst>
            <pc:docMk/>
            <pc:sldMk cId="2687583752" sldId="280"/>
            <ac:graphicFrameMk id="3" creationId="{6B586E0B-2B79-2C5E-0FC6-F810E1EF193D}"/>
          </ac:graphicFrameMkLst>
        </pc:graphicFrameChg>
      </pc:sldChg>
      <pc:sldChg chg="addSp modSp new mod">
        <pc:chgData name="varshitha Hebbandi" userId="533dd74d5d613600" providerId="LiveId" clId="{627D0854-84F9-4E9C-AB4F-C0A7215BF442}" dt="2024-04-28T06:52:53.373" v="617" actId="1076"/>
        <pc:sldMkLst>
          <pc:docMk/>
          <pc:sldMk cId="844549515" sldId="281"/>
        </pc:sldMkLst>
        <pc:graphicFrameChg chg="add mod modGraphic">
          <ac:chgData name="varshitha Hebbandi" userId="533dd74d5d613600" providerId="LiveId" clId="{627D0854-84F9-4E9C-AB4F-C0A7215BF442}" dt="2024-04-28T06:52:53.373" v="617" actId="1076"/>
          <ac:graphicFrameMkLst>
            <pc:docMk/>
            <pc:sldMk cId="844549515" sldId="281"/>
            <ac:graphicFrameMk id="2" creationId="{92280444-62AA-DAF7-8263-6C4F4CF7A8F9}"/>
          </ac:graphicFrameMkLst>
        </pc:graphicFrameChg>
      </pc:sldChg>
      <pc:sldChg chg="new del">
        <pc:chgData name="varshitha Hebbandi" userId="533dd74d5d613600" providerId="LiveId" clId="{627D0854-84F9-4E9C-AB4F-C0A7215BF442}" dt="2024-04-28T06:11:45.780" v="67" actId="680"/>
        <pc:sldMkLst>
          <pc:docMk/>
          <pc:sldMk cId="2553811481" sldId="281"/>
        </pc:sldMkLst>
      </pc:sldChg>
      <pc:sldChg chg="addSp modSp new mod ord">
        <pc:chgData name="varshitha Hebbandi" userId="533dd74d5d613600" providerId="LiveId" clId="{627D0854-84F9-4E9C-AB4F-C0A7215BF442}" dt="2024-04-28T07:38:13.696" v="1061"/>
        <pc:sldMkLst>
          <pc:docMk/>
          <pc:sldMk cId="2511768127" sldId="282"/>
        </pc:sldMkLst>
        <pc:picChg chg="add mod">
          <ac:chgData name="varshitha Hebbandi" userId="533dd74d5d613600" providerId="LiveId" clId="{627D0854-84F9-4E9C-AB4F-C0A7215BF442}" dt="2024-04-28T07:08:17.698" v="694" actId="1076"/>
          <ac:picMkLst>
            <pc:docMk/>
            <pc:sldMk cId="2511768127" sldId="282"/>
            <ac:picMk id="3" creationId="{20360557-E2DD-D343-B548-1DCE9D6590B1}"/>
          </ac:picMkLst>
        </pc:picChg>
        <pc:picChg chg="add mod">
          <ac:chgData name="varshitha Hebbandi" userId="533dd74d5d613600" providerId="LiveId" clId="{627D0854-84F9-4E9C-AB4F-C0A7215BF442}" dt="2024-04-28T07:08:17.698" v="694" actId="1076"/>
          <ac:picMkLst>
            <pc:docMk/>
            <pc:sldMk cId="2511768127" sldId="282"/>
            <ac:picMk id="5" creationId="{E49707E2-9AAD-97BE-E170-DEB42566A53F}"/>
          </ac:picMkLst>
        </pc:picChg>
        <pc:picChg chg="add mod">
          <ac:chgData name="varshitha Hebbandi" userId="533dd74d5d613600" providerId="LiveId" clId="{627D0854-84F9-4E9C-AB4F-C0A7215BF442}" dt="2024-04-28T07:08:17.698" v="694" actId="1076"/>
          <ac:picMkLst>
            <pc:docMk/>
            <pc:sldMk cId="2511768127" sldId="282"/>
            <ac:picMk id="7" creationId="{8259304E-CAC5-07A2-2A12-16653C30C75C}"/>
          </ac:picMkLst>
        </pc:picChg>
        <pc:picChg chg="add mod">
          <ac:chgData name="varshitha Hebbandi" userId="533dd74d5d613600" providerId="LiveId" clId="{627D0854-84F9-4E9C-AB4F-C0A7215BF442}" dt="2024-04-28T07:08:17.698" v="694" actId="1076"/>
          <ac:picMkLst>
            <pc:docMk/>
            <pc:sldMk cId="2511768127" sldId="282"/>
            <ac:picMk id="9" creationId="{C501DFB1-AA77-48AE-B231-9D19EB532652}"/>
          </ac:picMkLst>
        </pc:picChg>
      </pc:sldChg>
      <pc:sldChg chg="addSp modSp new mod">
        <pc:chgData name="varshitha Hebbandi" userId="533dd74d5d613600" providerId="LiveId" clId="{627D0854-84F9-4E9C-AB4F-C0A7215BF442}" dt="2024-04-28T08:16:15.950" v="1118" actId="242"/>
        <pc:sldMkLst>
          <pc:docMk/>
          <pc:sldMk cId="793493945" sldId="283"/>
        </pc:sldMkLst>
        <pc:spChg chg="add mod">
          <ac:chgData name="varshitha Hebbandi" userId="533dd74d5d613600" providerId="LiveId" clId="{627D0854-84F9-4E9C-AB4F-C0A7215BF442}" dt="2024-04-28T08:16:15.950" v="1118" actId="242"/>
          <ac:spMkLst>
            <pc:docMk/>
            <pc:sldMk cId="793493945" sldId="283"/>
            <ac:spMk id="3" creationId="{D54B942A-9180-E526-F21A-6F7B4C89E7EB}"/>
          </ac:spMkLst>
        </pc:spChg>
        <pc:graphicFrameChg chg="add mod">
          <ac:chgData name="varshitha Hebbandi" userId="533dd74d5d613600" providerId="LiveId" clId="{627D0854-84F9-4E9C-AB4F-C0A7215BF442}" dt="2024-04-28T06:19:47.799" v="86"/>
          <ac:graphicFrameMkLst>
            <pc:docMk/>
            <pc:sldMk cId="793493945" sldId="283"/>
            <ac:graphicFrameMk id="2" creationId="{281ABE87-3721-8B45-BE5C-2C859A4FFF73}"/>
          </ac:graphicFrameMkLst>
        </pc:graphicFrameChg>
        <pc:picChg chg="add mod">
          <ac:chgData name="varshitha Hebbandi" userId="533dd74d5d613600" providerId="LiveId" clId="{627D0854-84F9-4E9C-AB4F-C0A7215BF442}" dt="2024-04-28T06:20:37.199" v="88"/>
          <ac:picMkLst>
            <pc:docMk/>
            <pc:sldMk cId="793493945" sldId="283"/>
            <ac:picMk id="4" creationId="{C7F6616B-9ED3-4F50-3EB8-D06AF63E096E}"/>
          </ac:picMkLst>
        </pc:picChg>
        <pc:picChg chg="add mod">
          <ac:chgData name="varshitha Hebbandi" userId="533dd74d5d613600" providerId="LiveId" clId="{627D0854-84F9-4E9C-AB4F-C0A7215BF442}" dt="2024-04-28T06:20:58.778" v="89"/>
          <ac:picMkLst>
            <pc:docMk/>
            <pc:sldMk cId="793493945" sldId="283"/>
            <ac:picMk id="5" creationId="{20896FF4-A072-77A4-E081-EEF1EB44F59D}"/>
          </ac:picMkLst>
        </pc:picChg>
      </pc:sldChg>
      <pc:sldChg chg="delSp modSp new mod">
        <pc:chgData name="varshitha Hebbandi" userId="533dd74d5d613600" providerId="LiveId" clId="{627D0854-84F9-4E9C-AB4F-C0A7215BF442}" dt="2024-04-28T07:54:27.741" v="1076" actId="1076"/>
        <pc:sldMkLst>
          <pc:docMk/>
          <pc:sldMk cId="3760915803" sldId="284"/>
        </pc:sldMkLst>
        <pc:spChg chg="mod">
          <ac:chgData name="varshitha Hebbandi" userId="533dd74d5d613600" providerId="LiveId" clId="{627D0854-84F9-4E9C-AB4F-C0A7215BF442}" dt="2024-04-28T07:54:27.741" v="1076" actId="1076"/>
          <ac:spMkLst>
            <pc:docMk/>
            <pc:sldMk cId="3760915803" sldId="284"/>
            <ac:spMk id="2" creationId="{CFFE7144-1598-18CE-B29B-BEEBAF3DBEF4}"/>
          </ac:spMkLst>
        </pc:spChg>
        <pc:spChg chg="del">
          <ac:chgData name="varshitha Hebbandi" userId="533dd74d5d613600" providerId="LiveId" clId="{627D0854-84F9-4E9C-AB4F-C0A7215BF442}" dt="2024-04-28T06:27:35.895" v="270" actId="478"/>
          <ac:spMkLst>
            <pc:docMk/>
            <pc:sldMk cId="3760915803" sldId="284"/>
            <ac:spMk id="3" creationId="{85904A6A-DD11-BC0F-6F54-6383137CFF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FBC957-B83D-4D60-BD47-4B11DFBA5F35}" type="datetimeFigureOut">
              <a:rPr lang="en-IN" smtClean="0"/>
              <a:t>26-05-2024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5574D2-351B-49EB-BADC-655379C544D8}" type="slidenum">
              <a:rPr lang="en-IN" smtClean="0"/>
              <a:t>‹#›</a:t>
            </a:fld>
            <a:endParaRPr lang="en-IN"/>
          </a:p>
        </p:txBody>
      </p:sp>
    </p:spTree>
    <p:extLst>
      <p:ext uri="{BB962C8B-B14F-4D97-AF65-F5344CB8AC3E}">
        <p14:creationId xmlns:p14="http://schemas.microsoft.com/office/powerpoint/2010/main" val="3132924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5574D2-351B-49EB-BADC-655379C544D8}" type="slidenum">
              <a:rPr lang="en-IN" smtClean="0"/>
              <a:t>4</a:t>
            </a:fld>
            <a:endParaRPr lang="en-IN"/>
          </a:p>
        </p:txBody>
      </p:sp>
    </p:spTree>
    <p:extLst>
      <p:ext uri="{BB962C8B-B14F-4D97-AF65-F5344CB8AC3E}">
        <p14:creationId xmlns:p14="http://schemas.microsoft.com/office/powerpoint/2010/main" val="3157362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5574D2-351B-49EB-BADC-655379C544D8}" type="slidenum">
              <a:rPr lang="en-IN" smtClean="0"/>
              <a:t>8</a:t>
            </a:fld>
            <a:endParaRPr lang="en-IN"/>
          </a:p>
        </p:txBody>
      </p:sp>
    </p:spTree>
    <p:extLst>
      <p:ext uri="{BB962C8B-B14F-4D97-AF65-F5344CB8AC3E}">
        <p14:creationId xmlns:p14="http://schemas.microsoft.com/office/powerpoint/2010/main" val="3095417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5574D2-351B-49EB-BADC-655379C544D8}" type="slidenum">
              <a:rPr lang="en-IN" smtClean="0"/>
              <a:t>11</a:t>
            </a:fld>
            <a:endParaRPr lang="en-IN"/>
          </a:p>
        </p:txBody>
      </p:sp>
    </p:spTree>
    <p:extLst>
      <p:ext uri="{BB962C8B-B14F-4D97-AF65-F5344CB8AC3E}">
        <p14:creationId xmlns:p14="http://schemas.microsoft.com/office/powerpoint/2010/main" val="865079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5574D2-351B-49EB-BADC-655379C544D8}" type="slidenum">
              <a:rPr lang="en-IN" smtClean="0"/>
              <a:t>21</a:t>
            </a:fld>
            <a:endParaRPr lang="en-IN"/>
          </a:p>
        </p:txBody>
      </p:sp>
    </p:spTree>
    <p:extLst>
      <p:ext uri="{BB962C8B-B14F-4D97-AF65-F5344CB8AC3E}">
        <p14:creationId xmlns:p14="http://schemas.microsoft.com/office/powerpoint/2010/main" val="1754594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3DF719-D758-4675-81BD-53DA3E5DD6BE}" type="datetimeFigureOut">
              <a:rPr lang="en-IN" smtClean="0"/>
              <a:t>26-05-2024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1877383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3DF719-D758-4675-81BD-53DA3E5DD6BE}" type="datetimeFigureOut">
              <a:rPr lang="en-IN" smtClean="0"/>
              <a:t>26-05-2024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291580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3DF719-D758-4675-81BD-53DA3E5DD6BE}" type="datetimeFigureOut">
              <a:rPr lang="en-IN" smtClean="0"/>
              <a:t>26-05-2024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1253399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833DF719-D758-4675-81BD-53DA3E5DD6BE}" type="datetimeFigureOut">
              <a:rPr lang="en-IN" smtClean="0"/>
              <a:t>26-05-2024</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2753643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833DF719-D758-4675-81BD-53DA3E5DD6BE}" type="datetimeFigureOut">
              <a:rPr lang="en-IN" smtClean="0"/>
              <a:t>26-05-2024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B36B236-A813-4BC2-9426-4098F498D03C}"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2756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3DF719-D758-4675-81BD-53DA3E5DD6BE}" type="datetimeFigureOut">
              <a:rPr lang="en-IN" smtClean="0"/>
              <a:t>26-05-2024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1851605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3DF719-D758-4675-81BD-53DA3E5DD6BE}" type="datetimeFigureOut">
              <a:rPr lang="en-IN" smtClean="0"/>
              <a:t>26-05-2024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2737155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833DF719-D758-4675-81BD-53DA3E5DD6BE}" type="datetimeFigureOut">
              <a:rPr lang="en-IN" smtClean="0"/>
              <a:t>26-05-2024</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IN"/>
          </a:p>
        </p:txBody>
      </p:sp>
      <p:sp>
        <p:nvSpPr>
          <p:cNvPr id="11" name="Slide Number Placeholder 10"/>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1958639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833DF719-D758-4675-81BD-53DA3E5DD6BE}" type="datetimeFigureOut">
              <a:rPr lang="en-IN" smtClean="0"/>
              <a:t>26-05-2024</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IN"/>
          </a:p>
        </p:txBody>
      </p:sp>
      <p:sp>
        <p:nvSpPr>
          <p:cNvPr id="10" name="Slide Number Placeholder 9"/>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1263996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DF719-D758-4675-81BD-53DA3E5DD6BE}" type="datetimeFigureOut">
              <a:rPr lang="en-IN" smtClean="0"/>
              <a:t>26-05-2024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2605959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DF719-D758-4675-81BD-53DA3E5DD6BE}" type="datetimeFigureOut">
              <a:rPr lang="en-IN" smtClean="0"/>
              <a:t>26-05-2024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B36B236-A813-4BC2-9426-4098F498D03C}" type="slidenum">
              <a:rPr lang="en-IN" smtClean="0"/>
              <a:t>‹#›</a:t>
            </a:fld>
            <a:endParaRPr lang="en-IN"/>
          </a:p>
        </p:txBody>
      </p:sp>
    </p:spTree>
    <p:extLst>
      <p:ext uri="{BB962C8B-B14F-4D97-AF65-F5344CB8AC3E}">
        <p14:creationId xmlns:p14="http://schemas.microsoft.com/office/powerpoint/2010/main" val="2628707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833DF719-D758-4675-81BD-53DA3E5DD6BE}" type="datetimeFigureOut">
              <a:rPr lang="en-IN" smtClean="0"/>
              <a:t>26-05-2024</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7B36B236-A813-4BC2-9426-4098F498D03C}" type="slidenum">
              <a:rPr lang="en-IN" smtClean="0"/>
              <a:t>‹#›</a:t>
            </a:fld>
            <a:endParaRPr lang="en-IN"/>
          </a:p>
        </p:txBody>
      </p:sp>
    </p:spTree>
    <p:extLst>
      <p:ext uri="{BB962C8B-B14F-4D97-AF65-F5344CB8AC3E}">
        <p14:creationId xmlns:p14="http://schemas.microsoft.com/office/powerpoint/2010/main" val="27195064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4B942A-9180-E526-F21A-6F7B4C89E7EB}"/>
              </a:ext>
            </a:extLst>
          </p:cNvPr>
          <p:cNvSpPr txBox="1"/>
          <p:nvPr/>
        </p:nvSpPr>
        <p:spPr>
          <a:xfrm>
            <a:off x="385011" y="192506"/>
            <a:ext cx="11341768" cy="678339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Jawaharlal Nehru New College of Engineering</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Department of Computer Science and Engineering</a:t>
            </a:r>
          </a:p>
          <a:p>
            <a:pPr algn="ctr">
              <a:spcBef>
                <a:spcPct val="0"/>
              </a:spcBef>
              <a:defRPr/>
            </a:pPr>
            <a:endParaRPr lang="en-US" b="1" noProof="0" dirty="0">
              <a:solidFill>
                <a:sysClr val="windowText" lastClr="000000"/>
              </a:solidFill>
              <a:latin typeface="Times New Roman" panose="02020603050405020304" pitchFamily="18" charset="0"/>
              <a:ea typeface="Tahoma" panose="020B0604030504040204" pitchFamily="34" charset="0"/>
              <a:cs typeface="Times New Roman" panose="02020603050405020304" pitchFamily="18" charset="0"/>
            </a:endParaRPr>
          </a:p>
          <a:p>
            <a:pPr algn="ctr">
              <a:spcBef>
                <a:spcPct val="0"/>
              </a:spcBef>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Project Presentation</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b="1" dirty="0">
                <a:solidFill>
                  <a:sysClr val="windowText" lastClr="000000"/>
                </a:solidFill>
                <a:latin typeface="Times New Roman" panose="02020603050405020304" pitchFamily="18" charset="0"/>
                <a:ea typeface="Tahoma" panose="020B0604030504040204" pitchFamily="34" charset="0"/>
                <a:cs typeface="Times New Roman" panose="02020603050405020304" pitchFamily="18" charset="0"/>
              </a:rPr>
              <a:t>ON</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i="1" dirty="0">
                <a:solidFill>
                  <a:srgbClr val="833C0B"/>
                </a:solidFill>
                <a:effectLst/>
                <a:latin typeface="Times New Roman"/>
                <a:ea typeface="Times New Roman" panose="02020603050405020304" pitchFamily="18" charset="0"/>
                <a:cs typeface="Tunga"/>
              </a:rPr>
              <a:t>“Car Parking Slot Detection Using YOLO Algorithm”</a:t>
            </a:r>
          </a:p>
          <a:p>
            <a:pPr>
              <a:lnSpc>
                <a:spcPct val="140000"/>
              </a:lnSpc>
              <a:tabLst>
                <a:tab pos="3543300" algn="l"/>
              </a:tabLst>
            </a:pPr>
            <a:r>
              <a:rPr lang="en-US" sz="1800" b="1" dirty="0">
                <a:effectLst/>
                <a:latin typeface="Times New Roman" panose="02020603050405020304" pitchFamily="18" charset="0"/>
                <a:ea typeface="Times New Roman" panose="02020603050405020304" pitchFamily="18" charset="0"/>
                <a:cs typeface="Tunga" panose="020B0502040204020203" pitchFamily="34" charset="0"/>
              </a:rPr>
              <a:t>                                                        </a:t>
            </a:r>
            <a:r>
              <a:rPr lang="en-US" b="1" dirty="0">
                <a:effectLst/>
                <a:latin typeface="Times New Roman" panose="02020603050405020304" pitchFamily="18" charset="0"/>
                <a:ea typeface="Times New Roman" panose="02020603050405020304" pitchFamily="18" charset="0"/>
                <a:cs typeface="Tunga" panose="020B0502040204020203" pitchFamily="34" charset="0"/>
              </a:rPr>
              <a:t>DEEPTHI B A                                  4JN20CS026</a:t>
            </a:r>
            <a:endParaRPr lang="en-IN" dirty="0">
              <a:effectLst/>
              <a:latin typeface="Times New Roman" panose="02020603050405020304" pitchFamily="18" charset="0"/>
              <a:ea typeface="Times New Roman" panose="02020603050405020304" pitchFamily="18" charset="0"/>
              <a:cs typeface="Tunga" panose="020B0502040204020203" pitchFamily="34" charset="0"/>
            </a:endParaRPr>
          </a:p>
          <a:p>
            <a:pPr>
              <a:lnSpc>
                <a:spcPct val="140000"/>
              </a:lnSpc>
              <a:tabLst>
                <a:tab pos="3543300" algn="l"/>
              </a:tabLst>
            </a:pPr>
            <a:r>
              <a:rPr lang="en-US" b="1" dirty="0">
                <a:effectLst/>
                <a:latin typeface="Times New Roman" panose="02020603050405020304" pitchFamily="18" charset="0"/>
                <a:ea typeface="Times New Roman" panose="02020603050405020304" pitchFamily="18" charset="0"/>
                <a:cs typeface="Tunga" panose="020B0502040204020203" pitchFamily="34" charset="0"/>
              </a:rPr>
              <a:t>                                                        DHANYATHA B                              4JN20CS027</a:t>
            </a:r>
            <a:endParaRPr lang="en-IN" dirty="0">
              <a:effectLst/>
              <a:latin typeface="Times New Roman" panose="02020603050405020304" pitchFamily="18" charset="0"/>
              <a:ea typeface="Times New Roman" panose="02020603050405020304" pitchFamily="18" charset="0"/>
              <a:cs typeface="Tunga" panose="020B0502040204020203" pitchFamily="34" charset="0"/>
            </a:endParaRPr>
          </a:p>
          <a:p>
            <a:pPr>
              <a:lnSpc>
                <a:spcPct val="140000"/>
              </a:lnSpc>
              <a:tabLst>
                <a:tab pos="3543300" algn="l"/>
              </a:tabLst>
            </a:pPr>
            <a:r>
              <a:rPr lang="en-US" b="1" dirty="0">
                <a:effectLst/>
                <a:latin typeface="Times New Roman" panose="02020603050405020304" pitchFamily="18" charset="0"/>
                <a:ea typeface="Times New Roman" panose="02020603050405020304" pitchFamily="18" charset="0"/>
                <a:cs typeface="Tunga" panose="020B0502040204020203" pitchFamily="34" charset="0"/>
              </a:rPr>
              <a:t>                                                        TANMAYEE SHARVANI               4JN20CS111</a:t>
            </a:r>
            <a:endParaRPr lang="en-IN" dirty="0">
              <a:effectLst/>
              <a:latin typeface="Times New Roman" panose="02020603050405020304" pitchFamily="18" charset="0"/>
              <a:ea typeface="Times New Roman" panose="02020603050405020304" pitchFamily="18" charset="0"/>
              <a:cs typeface="Tunga" panose="020B0502040204020203" pitchFamily="34" charset="0"/>
            </a:endParaRPr>
          </a:p>
          <a:p>
            <a:pPr>
              <a:lnSpc>
                <a:spcPct val="140000"/>
              </a:lnSpc>
              <a:tabLst>
                <a:tab pos="3543300" algn="l"/>
              </a:tabLst>
            </a:pPr>
            <a:r>
              <a:rPr lang="en-US" b="1" dirty="0">
                <a:effectLst/>
                <a:latin typeface="Times New Roman" panose="02020603050405020304" pitchFamily="18" charset="0"/>
                <a:ea typeface="Times New Roman" panose="02020603050405020304" pitchFamily="18" charset="0"/>
                <a:cs typeface="Tunga" panose="020B0502040204020203" pitchFamily="34" charset="0"/>
              </a:rPr>
              <a:t>                                                        VARSHITHA H G                           4JN20CS116</a:t>
            </a:r>
            <a:endParaRPr lang="en-IN" dirty="0">
              <a:effectLst/>
              <a:latin typeface="Times New Roman" panose="02020603050405020304" pitchFamily="18" charset="0"/>
              <a:ea typeface="Times New Roman" panose="02020603050405020304" pitchFamily="18" charset="0"/>
              <a:cs typeface="Tunga" panose="020B0502040204020203" pitchFamily="34"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b="1" dirty="0">
              <a:latin typeface="Times New Roman" panose="02020603050405020304" pitchFamily="18" charset="0"/>
              <a:ea typeface="Tahoma" panose="020B0604030504040204" pitchFamily="34" charset="0"/>
              <a:cs typeface="Times New Roman" panose="02020603050405020304" pitchFamily="18" charset="0"/>
            </a:endParaRPr>
          </a:p>
          <a:p>
            <a:pPr marL="73025" algn="l" rtl="0" eaLnBrk="1" fontAlgn="t" latinLnBrk="0" hangingPunct="1">
              <a:spcBef>
                <a:spcPts val="0"/>
              </a:spcBef>
              <a:spcAft>
                <a:spcPts val="0"/>
              </a:spcAft>
            </a:pPr>
            <a:r>
              <a:rPr kumimoji="0" lang="en-US" sz="1800" b="1" i="0" u="none" strike="noStrike" kern="1200" cap="none" spc="0" normalizeH="0" baseline="0" noProof="0" dirty="0">
                <a:ln>
                  <a:noFill/>
                </a:ln>
                <a:solidFill>
                  <a:sysClr val="windowText" lastClr="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		</a:t>
            </a:r>
            <a:r>
              <a:rPr lang="en-US" b="1" dirty="0">
                <a:solidFill>
                  <a:sysClr val="windowText" lastClr="000000"/>
                </a:solidFill>
                <a:latin typeface="Times New Roman" panose="02020603050405020304" pitchFamily="18" charset="0"/>
                <a:ea typeface="Tahoma" panose="020B0604030504040204" pitchFamily="34" charset="0"/>
                <a:cs typeface="Times New Roman" panose="02020603050405020304" pitchFamily="18" charset="0"/>
              </a:rPr>
              <a:t>	</a:t>
            </a:r>
            <a:r>
              <a:rPr lang="en-IN" sz="1800" b="1" i="0" u="none" strike="noStrike" kern="1200" dirty="0">
                <a:solidFill>
                  <a:srgbClr val="232323"/>
                </a:solidFill>
                <a:effectLst/>
                <a:latin typeface="Times New Roman" panose="02020603050405020304" pitchFamily="18" charset="0"/>
                <a:ea typeface="Tahoma" panose="020B0604030504040204" pitchFamily="34" charset="0"/>
                <a:cs typeface="Times New Roman" panose="02020603050405020304" pitchFamily="18" charset="0"/>
              </a:rPr>
              <a:t>	</a:t>
            </a:r>
            <a:r>
              <a:rPr lang="en-IN" kern="1200" dirty="0">
                <a:solidFill>
                  <a:srgbClr val="232323"/>
                </a:solidFill>
                <a:latin typeface="Times New Roman" panose="02020603050405020304" pitchFamily="18" charset="0"/>
                <a:ea typeface="Tahoma" panose="020B0604030504040204" pitchFamily="34" charset="0"/>
                <a:cs typeface="Times New Roman" panose="02020603050405020304" pitchFamily="18" charset="0"/>
              </a:rPr>
              <a:t>                                             </a:t>
            </a:r>
            <a:r>
              <a:rPr lang="en-IN" sz="1800" b="1" dirty="0">
                <a:latin typeface="Times New Roman" panose="02020603050405020304" pitchFamily="18" charset="0"/>
                <a:ea typeface="Tahoma" panose="020B0604030504040204" pitchFamily="34" charset="0"/>
                <a:cs typeface="Times New Roman" panose="02020603050405020304" pitchFamily="18" charset="0"/>
              </a:rPr>
              <a:t>Under the guidance of</a:t>
            </a:r>
          </a:p>
          <a:p>
            <a:pPr marL="73025" algn="l" rtl="0" eaLnBrk="1" fontAlgn="t" latinLnBrk="0" hangingPunct="1">
              <a:spcBef>
                <a:spcPts val="0"/>
              </a:spcBef>
              <a:spcAft>
                <a:spcPts val="0"/>
              </a:spcAft>
            </a:pPr>
            <a:r>
              <a:rPr lang="en-IN" b="1" dirty="0">
                <a:solidFill>
                  <a:srgbClr val="1F497D"/>
                </a:solidFill>
                <a:effectLst/>
                <a:latin typeface="Times New Roman" panose="02020603050405020304" pitchFamily="18" charset="0"/>
                <a:ea typeface="Tahoma" panose="020B0604030504040204" pitchFamily="34" charset="0"/>
                <a:cs typeface="Times New Roman" panose="02020603050405020304" pitchFamily="18" charset="0"/>
              </a:rPr>
              <a:t>                                                                            </a:t>
            </a:r>
            <a:r>
              <a:rPr lang="en-US" sz="1800" b="1" dirty="0" err="1">
                <a:solidFill>
                  <a:srgbClr val="1F497D"/>
                </a:solidFill>
                <a:effectLst/>
                <a:latin typeface="Times New Roman"/>
                <a:ea typeface="Tahoma"/>
                <a:cs typeface="Times New Roman"/>
              </a:rPr>
              <a:t>Mr.Mohan</a:t>
            </a:r>
            <a:r>
              <a:rPr lang="en-US" sz="1800" b="1" dirty="0">
                <a:solidFill>
                  <a:srgbClr val="1F497D"/>
                </a:solidFill>
                <a:effectLst/>
                <a:latin typeface="Times New Roman"/>
                <a:ea typeface="Tahoma"/>
                <a:cs typeface="Times New Roman"/>
              </a:rPr>
              <a:t> H G </a:t>
            </a:r>
            <a:r>
              <a:rPr lang="en-US" sz="1600" baseline="-25000" dirty="0">
                <a:effectLst/>
                <a:latin typeface="Times New Roman"/>
                <a:ea typeface="Tahoma"/>
                <a:cs typeface="Times New Roman"/>
              </a:rPr>
              <a:t>B.E., </a:t>
            </a:r>
            <a:r>
              <a:rPr lang="en-US" sz="1600" baseline="-25000" dirty="0" err="1">
                <a:effectLst/>
                <a:latin typeface="Times New Roman"/>
                <a:ea typeface="Tahoma"/>
                <a:cs typeface="Times New Roman"/>
              </a:rPr>
              <a:t>M.Tech</a:t>
            </a:r>
            <a:r>
              <a:rPr lang="en-US" sz="1600" baseline="-25000" dirty="0">
                <a:latin typeface="Times New Roman"/>
                <a:ea typeface="Tahoma"/>
                <a:cs typeface="Times New Roman"/>
              </a:rPr>
              <a:t>.</a:t>
            </a:r>
            <a:endParaRPr lang="en-US" sz="1600" baseline="-25000" dirty="0">
              <a:effectLst/>
              <a:latin typeface="Times New Roman"/>
              <a:ea typeface="Tahoma"/>
              <a:cs typeface="Times New Roman"/>
            </a:endParaRPr>
          </a:p>
          <a:p>
            <a:pPr algn="ctr"/>
            <a:r>
              <a:rPr lang="en-US" sz="1800" dirty="0">
                <a:effectLst/>
                <a:latin typeface="Times New Roman" panose="02020603050405020304" pitchFamily="18" charset="0"/>
                <a:ea typeface="Tahoma" panose="020B0604030504040204" pitchFamily="34" charset="0"/>
                <a:cs typeface="Times New Roman" panose="02020603050405020304" pitchFamily="18" charset="0"/>
              </a:rPr>
              <a:t> Assistant Professor, Dept. of CS&amp;E</a:t>
            </a:r>
          </a:p>
          <a:p>
            <a:pPr algn="ctr"/>
            <a:endParaRPr lang="en-US" dirty="0">
              <a:latin typeface="Times New Roman" panose="02020603050405020304" pitchFamily="18" charset="0"/>
              <a:ea typeface="Tahoma" panose="020B0604030504040204" pitchFamily="34" charset="0"/>
              <a:cs typeface="Times New Roman" panose="02020603050405020304" pitchFamily="18" charset="0"/>
            </a:endParaRPr>
          </a:p>
          <a:p>
            <a:pPr algn="ctr"/>
            <a:r>
              <a:rPr lang="en-IN" sz="1800" b="1" dirty="0">
                <a:latin typeface="Times New Roman" panose="02020603050405020304" pitchFamily="18" charset="0"/>
                <a:ea typeface="Tahoma" panose="020B0604030504040204" pitchFamily="34" charset="0"/>
                <a:cs typeface="Times New Roman" panose="02020603050405020304" pitchFamily="18" charset="0"/>
              </a:rPr>
              <a:t>Coordinators:</a:t>
            </a:r>
          </a:p>
          <a:p>
            <a:pPr algn="just"/>
            <a:r>
              <a:rPr lang="en-US" sz="1800" b="1" dirty="0">
                <a:solidFill>
                  <a:srgbClr val="1F497D"/>
                </a:solidFill>
                <a:effectLst/>
                <a:latin typeface="Times New Roman"/>
                <a:ea typeface="Tahoma"/>
                <a:cs typeface="Times New Roman"/>
              </a:rPr>
              <a:t>Dr.</a:t>
            </a:r>
            <a:r>
              <a:rPr lang="en-US" b="1" dirty="0">
                <a:solidFill>
                  <a:srgbClr val="1F497D"/>
                </a:solidFill>
                <a:latin typeface="Times New Roman"/>
                <a:ea typeface="Tahoma"/>
                <a:cs typeface="Times New Roman"/>
              </a:rPr>
              <a:t> </a:t>
            </a:r>
            <a:r>
              <a:rPr lang="en-US" sz="1800" b="1" dirty="0">
                <a:solidFill>
                  <a:srgbClr val="1F497D"/>
                </a:solidFill>
                <a:effectLst/>
                <a:latin typeface="Times New Roman"/>
                <a:ea typeface="Tahoma"/>
                <a:cs typeface="Times New Roman"/>
              </a:rPr>
              <a:t> Poornima K M </a:t>
            </a:r>
            <a:r>
              <a:rPr lang="en-US" sz="1600" baseline="-25000" dirty="0">
                <a:effectLst/>
                <a:latin typeface="Times New Roman"/>
                <a:ea typeface="Tahoma"/>
                <a:cs typeface="Times New Roman"/>
              </a:rPr>
              <a:t>B.E., </a:t>
            </a:r>
            <a:r>
              <a:rPr lang="en-US" sz="1600" baseline="-25000" dirty="0" err="1">
                <a:effectLst/>
                <a:latin typeface="Times New Roman"/>
                <a:ea typeface="Tahoma"/>
                <a:cs typeface="Times New Roman"/>
              </a:rPr>
              <a:t>M.Tech</a:t>
            </a:r>
            <a:r>
              <a:rPr lang="en-US" sz="1600" baseline="-25000" dirty="0">
                <a:effectLst/>
                <a:latin typeface="Times New Roman"/>
                <a:ea typeface="Tahoma"/>
                <a:cs typeface="Times New Roman"/>
              </a:rPr>
              <a:t>., Ph.D.</a:t>
            </a:r>
            <a:r>
              <a:rPr lang="en-US" sz="1600" dirty="0">
                <a:effectLst/>
                <a:latin typeface="Times New Roman"/>
                <a:ea typeface="Tahoma"/>
                <a:cs typeface="Times New Roman"/>
              </a:rPr>
              <a:t> 					                                                               </a:t>
            </a:r>
            <a:r>
              <a:rPr lang="en-US" sz="1600" b="1" dirty="0" err="1">
                <a:solidFill>
                  <a:srgbClr val="1F497D"/>
                </a:solidFill>
                <a:effectLst/>
                <a:latin typeface="Times New Roman"/>
                <a:ea typeface="Tahoma"/>
                <a:cs typeface="Times New Roman"/>
              </a:rPr>
              <a:t>Mr.Hiriyanna</a:t>
            </a:r>
            <a:r>
              <a:rPr lang="en-US" sz="1600" b="1" dirty="0">
                <a:solidFill>
                  <a:srgbClr val="1F497D"/>
                </a:solidFill>
                <a:effectLst/>
                <a:latin typeface="Times New Roman"/>
                <a:ea typeface="Tahoma"/>
                <a:cs typeface="Times New Roman"/>
              </a:rPr>
              <a:t> G S</a:t>
            </a:r>
            <a:r>
              <a:rPr lang="en-US" sz="1600" b="1" baseline="-25000" dirty="0">
                <a:solidFill>
                  <a:srgbClr val="1F497D"/>
                </a:solidFill>
                <a:effectLst/>
                <a:latin typeface="Times New Roman"/>
                <a:ea typeface="Tahoma"/>
                <a:cs typeface="Times New Roman"/>
              </a:rPr>
              <a:t>. </a:t>
            </a:r>
            <a:r>
              <a:rPr lang="en-US" sz="1400" baseline="-25000" dirty="0">
                <a:effectLst/>
                <a:latin typeface="Times New Roman"/>
                <a:ea typeface="Tahoma"/>
                <a:cs typeface="Times New Roman"/>
              </a:rPr>
              <a:t>B.E., </a:t>
            </a:r>
            <a:r>
              <a:rPr lang="en-US" sz="1400" baseline="-25000" dirty="0" err="1">
                <a:effectLst/>
                <a:latin typeface="Times New Roman"/>
                <a:ea typeface="Tahoma"/>
                <a:cs typeface="Times New Roman"/>
              </a:rPr>
              <a:t>M.Tech</a:t>
            </a:r>
            <a:r>
              <a:rPr lang="en-US" sz="1400" baseline="-25000" dirty="0">
                <a:latin typeface="Times New Roman"/>
                <a:ea typeface="Tahoma"/>
                <a:cs typeface="Times New Roman"/>
              </a:rPr>
              <a:t>. </a:t>
            </a:r>
            <a:endParaRPr lang="en-US" sz="1400" baseline="-25000" dirty="0">
              <a:effectLst/>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1600" dirty="0">
                <a:latin typeface="Times New Roman" panose="02020603050405020304" pitchFamily="18" charset="0"/>
                <a:ea typeface="Tahoma" panose="020B0604030504040204" pitchFamily="34" charset="0"/>
                <a:cs typeface="Times New Roman" panose="02020603050405020304" pitchFamily="18" charset="0"/>
              </a:rPr>
              <a:t>Asst. Professor, Dept. of CS&amp;E	</a:t>
            </a:r>
            <a:r>
              <a:rPr lang="en-US" sz="1800" dirty="0">
                <a:effectLst/>
                <a:latin typeface="Times New Roman" panose="02020603050405020304" pitchFamily="18" charset="0"/>
                <a:ea typeface="Tahoma" panose="020B0604030504040204" pitchFamily="34" charset="0"/>
                <a:cs typeface="Times New Roman" panose="02020603050405020304" pitchFamily="18" charset="0"/>
              </a:rPr>
              <a:t>					                                                        Professor, Dept. of CS&amp;E</a:t>
            </a:r>
          </a:p>
          <a:p>
            <a:pPr algn="just"/>
            <a:endParaRPr lang="en-IN" sz="1800" dirty="0">
              <a:effectLst/>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1800" b="1" dirty="0" err="1">
                <a:solidFill>
                  <a:srgbClr val="1F497D"/>
                </a:solidFill>
                <a:effectLst/>
                <a:latin typeface="Times New Roman"/>
                <a:ea typeface="Tahoma"/>
                <a:cs typeface="Times New Roman"/>
              </a:rPr>
              <a:t>Mrs.Pushpa</a:t>
            </a:r>
            <a:r>
              <a:rPr lang="en-US" b="1" dirty="0">
                <a:solidFill>
                  <a:srgbClr val="1F497D"/>
                </a:solidFill>
                <a:latin typeface="Times New Roman"/>
                <a:ea typeface="Tahoma"/>
                <a:cs typeface="Times New Roman"/>
              </a:rPr>
              <a:t> </a:t>
            </a:r>
            <a:r>
              <a:rPr lang="en-US" sz="1800" b="1" dirty="0">
                <a:solidFill>
                  <a:srgbClr val="1F497D"/>
                </a:solidFill>
                <a:effectLst/>
                <a:latin typeface="Times New Roman"/>
                <a:ea typeface="Tahoma"/>
                <a:cs typeface="Times New Roman"/>
              </a:rPr>
              <a:t> R N</a:t>
            </a:r>
            <a:r>
              <a:rPr lang="en-US" b="1" dirty="0">
                <a:solidFill>
                  <a:srgbClr val="1F497D"/>
                </a:solidFill>
                <a:latin typeface="Times New Roman"/>
                <a:ea typeface="Tahoma"/>
                <a:cs typeface="Times New Roman"/>
              </a:rPr>
              <a:t> </a:t>
            </a:r>
            <a:r>
              <a:rPr lang="en-US" sz="1800" b="1" dirty="0">
                <a:solidFill>
                  <a:srgbClr val="1F497D"/>
                </a:solidFill>
                <a:effectLst/>
                <a:latin typeface="Times New Roman"/>
                <a:ea typeface="Tahoma"/>
                <a:cs typeface="Times New Roman"/>
              </a:rPr>
              <a:t> </a:t>
            </a:r>
            <a:r>
              <a:rPr lang="en-US" sz="1600" baseline="-25000" dirty="0">
                <a:effectLst/>
                <a:latin typeface="Times New Roman"/>
                <a:ea typeface="Tahoma"/>
                <a:cs typeface="Times New Roman"/>
              </a:rPr>
              <a:t>B.E., </a:t>
            </a:r>
            <a:r>
              <a:rPr lang="en-US" sz="1600" baseline="-25000" dirty="0" err="1">
                <a:effectLst/>
                <a:latin typeface="Times New Roman"/>
                <a:ea typeface="Tahoma"/>
                <a:cs typeface="Times New Roman"/>
              </a:rPr>
              <a:t>M.Tech</a:t>
            </a:r>
            <a:r>
              <a:rPr lang="en-US" sz="1600" baseline="-25000" dirty="0">
                <a:effectLst/>
                <a:latin typeface="Times New Roman"/>
                <a:ea typeface="Tahoma"/>
                <a:cs typeface="Times New Roman"/>
              </a:rPr>
              <a:t>.</a:t>
            </a:r>
            <a:r>
              <a:rPr lang="en-US" sz="1600" baseline="-25000" dirty="0">
                <a:latin typeface="Times New Roman"/>
                <a:ea typeface="Tahoma"/>
                <a:cs typeface="Times New Roman"/>
              </a:rPr>
              <a:t>	                                                                                                                                                                     </a:t>
            </a:r>
            <a:r>
              <a:rPr lang="en-US" sz="1600" b="1" dirty="0" err="1">
                <a:solidFill>
                  <a:srgbClr val="1F497D"/>
                </a:solidFill>
                <a:latin typeface="Times New Roman"/>
                <a:ea typeface="Tahoma"/>
                <a:cs typeface="Times New Roman"/>
              </a:rPr>
              <a:t>Dr</a:t>
            </a:r>
            <a:r>
              <a:rPr lang="en-US" sz="1600" b="1" dirty="0" err="1">
                <a:solidFill>
                  <a:srgbClr val="1F497D"/>
                </a:solidFill>
                <a:effectLst/>
                <a:latin typeface="Times New Roman"/>
                <a:ea typeface="Tahoma"/>
                <a:cs typeface="Times New Roman"/>
              </a:rPr>
              <a:t>.Ganavi</a:t>
            </a:r>
            <a:r>
              <a:rPr lang="en-US" sz="1600" b="1" dirty="0">
                <a:solidFill>
                  <a:srgbClr val="1F497D"/>
                </a:solidFill>
                <a:latin typeface="Times New Roman"/>
                <a:ea typeface="Tahoma"/>
                <a:cs typeface="Times New Roman"/>
              </a:rPr>
              <a:t> </a:t>
            </a:r>
            <a:r>
              <a:rPr lang="en-US" sz="1600" b="1" dirty="0">
                <a:solidFill>
                  <a:srgbClr val="1F497D"/>
                </a:solidFill>
                <a:effectLst/>
                <a:latin typeface="Times New Roman"/>
                <a:ea typeface="Tahoma"/>
                <a:cs typeface="Times New Roman"/>
              </a:rPr>
              <a:t> M </a:t>
            </a:r>
            <a:r>
              <a:rPr lang="en-US" sz="1400" baseline="-25000" dirty="0">
                <a:effectLst/>
                <a:latin typeface="Times New Roman"/>
                <a:ea typeface="Tahoma"/>
                <a:cs typeface="Times New Roman"/>
              </a:rPr>
              <a:t>B.E., </a:t>
            </a:r>
            <a:r>
              <a:rPr lang="en-US" sz="1400" baseline="-25000" dirty="0" err="1">
                <a:effectLst/>
                <a:latin typeface="Times New Roman"/>
                <a:ea typeface="Tahoma"/>
                <a:cs typeface="Times New Roman"/>
              </a:rPr>
              <a:t>M.Tech</a:t>
            </a:r>
            <a:r>
              <a:rPr lang="en-US" sz="1400" baseline="-25000" dirty="0">
                <a:effectLst/>
                <a:latin typeface="Times New Roman"/>
                <a:ea typeface="Tahoma"/>
                <a:cs typeface="Times New Roman"/>
              </a:rPr>
              <a:t>., </a:t>
            </a:r>
            <a:r>
              <a:rPr lang="en-US" sz="1400" baseline="-25000" dirty="0" err="1">
                <a:effectLst/>
                <a:latin typeface="Times New Roman"/>
                <a:ea typeface="Tahoma"/>
                <a:cs typeface="Times New Roman"/>
              </a:rPr>
              <a:t>Ph.D</a:t>
            </a:r>
            <a:endParaRPr lang="en-US" sz="1400" baseline="-25000" dirty="0">
              <a:effectLst/>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1600" dirty="0">
                <a:effectLst/>
                <a:latin typeface="Times New Roman" panose="02020603050405020304" pitchFamily="18" charset="0"/>
                <a:ea typeface="Tahoma" panose="020B0604030504040204" pitchFamily="34" charset="0"/>
                <a:cs typeface="Times New Roman" panose="02020603050405020304" pitchFamily="18" charset="0"/>
              </a:rPr>
              <a:t>Asst. Professor, Dept. of CS&amp;E</a:t>
            </a:r>
            <a:r>
              <a:rPr lang="en-US" sz="1600" baseline="-25000" dirty="0">
                <a:latin typeface="Times New Roman" panose="02020603050405020304" pitchFamily="18" charset="0"/>
                <a:ea typeface="Tahoma" panose="020B0604030504040204" pitchFamily="34" charset="0"/>
                <a:cs typeface="Times New Roman" panose="02020603050405020304" pitchFamily="18" charset="0"/>
              </a:rPr>
              <a:t> 						                                                                                                </a:t>
            </a:r>
            <a:r>
              <a:rPr lang="en-US" sz="1800" dirty="0">
                <a:effectLst/>
                <a:latin typeface="Times New Roman" panose="02020603050405020304" pitchFamily="18" charset="0"/>
                <a:ea typeface="Tahoma" panose="020B0604030504040204" pitchFamily="34" charset="0"/>
                <a:cs typeface="Times New Roman" panose="02020603050405020304" pitchFamily="18" charset="0"/>
              </a:rPr>
              <a:t>Asst. Professor, Dept. of CS&amp;E</a:t>
            </a:r>
            <a:endParaRPr lang="en-IN" sz="1800" dirty="0">
              <a:effectLst/>
              <a:latin typeface="Times New Roman" panose="02020603050405020304" pitchFamily="18" charset="0"/>
              <a:ea typeface="Tahoma" panose="020B0604030504040204" pitchFamily="34" charset="0"/>
              <a:cs typeface="Times New Roman" panose="02020603050405020304" pitchFamily="18" charset="0"/>
            </a:endParaRPr>
          </a:p>
          <a:p>
            <a:endParaRPr lang="en-IN" dirty="0"/>
          </a:p>
        </p:txBody>
      </p:sp>
      <p:pic>
        <p:nvPicPr>
          <p:cNvPr id="4" name="Picture 3" descr="A logo of a college of engineering&#10;&#10;Description automatically generated">
            <a:extLst>
              <a:ext uri="{FF2B5EF4-FFF2-40B4-BE49-F238E27FC236}">
                <a16:creationId xmlns:a16="http://schemas.microsoft.com/office/drawing/2014/main" id="{C7F6616B-9ED3-4F50-3EB8-D06AF63E096E}"/>
              </a:ext>
            </a:extLst>
          </p:cNvPr>
          <p:cNvPicPr>
            <a:picLocks noChangeAspect="1"/>
          </p:cNvPicPr>
          <p:nvPr/>
        </p:nvPicPr>
        <p:blipFill>
          <a:blip r:embed="rId2"/>
          <a:stretch>
            <a:fillRect/>
          </a:stretch>
        </p:blipFill>
        <p:spPr>
          <a:xfrm>
            <a:off x="582714" y="198852"/>
            <a:ext cx="1440118" cy="1440118"/>
          </a:xfrm>
          <a:prstGeom prst="rect">
            <a:avLst/>
          </a:prstGeom>
        </p:spPr>
      </p:pic>
      <p:pic>
        <p:nvPicPr>
          <p:cNvPr id="5" name="Picture 2" descr="https://jonnasuresh.files.wordpress.com/2013/03/vtu-logo.png">
            <a:extLst>
              <a:ext uri="{FF2B5EF4-FFF2-40B4-BE49-F238E27FC236}">
                <a16:creationId xmlns:a16="http://schemas.microsoft.com/office/drawing/2014/main" id="{20896FF4-A072-77A4-E081-EEF1EB44F5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7732" y="189425"/>
            <a:ext cx="1299063" cy="116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493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3BFBA-2EA3-0B33-10A0-89EEFEEF1F40}"/>
              </a:ext>
            </a:extLst>
          </p:cNvPr>
          <p:cNvSpPr>
            <a:spLocks noGrp="1"/>
          </p:cNvSpPr>
          <p:nvPr>
            <p:ph type="title"/>
          </p:nvPr>
        </p:nvSpPr>
        <p:spPr>
          <a:xfrm>
            <a:off x="2231136" y="501969"/>
            <a:ext cx="7729728" cy="1188720"/>
          </a:xfrm>
        </p:spPr>
        <p:txBody>
          <a:bodyPr/>
          <a:lstStyle/>
          <a:p>
            <a:pPr algn="ctr"/>
            <a:r>
              <a:rPr lang="en-US" b="1" dirty="0"/>
              <a:t>Content</a:t>
            </a:r>
            <a:endParaRPr lang="en-IN" b="1" dirty="0"/>
          </a:p>
        </p:txBody>
      </p:sp>
      <p:sp>
        <p:nvSpPr>
          <p:cNvPr id="4" name="TextBox 3">
            <a:extLst>
              <a:ext uri="{FF2B5EF4-FFF2-40B4-BE49-F238E27FC236}">
                <a16:creationId xmlns:a16="http://schemas.microsoft.com/office/drawing/2014/main" id="{2FE230B0-49A4-57AF-6E35-281DFD359F0A}"/>
              </a:ext>
            </a:extLst>
          </p:cNvPr>
          <p:cNvSpPr txBox="1"/>
          <p:nvPr/>
        </p:nvSpPr>
        <p:spPr>
          <a:xfrm>
            <a:off x="716437" y="1690689"/>
            <a:ext cx="8425206" cy="4197944"/>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IN" sz="2000" dirty="0">
                <a:latin typeface="Times New Roman"/>
                <a:cs typeface="Times New Roman"/>
              </a:rPr>
              <a:t>Abstract</a:t>
            </a:r>
          </a:p>
          <a:p>
            <a:pPr marL="342900" indent="-342900">
              <a:lnSpc>
                <a:spcPct val="150000"/>
              </a:lnSpc>
              <a:buFont typeface="Wingdings" panose="05000000000000000000" pitchFamily="2" charset="2"/>
              <a:buChar char="Ø"/>
            </a:pPr>
            <a:r>
              <a:rPr lang="en-IN" sz="2000" dirty="0">
                <a:latin typeface="Times New Roman"/>
                <a:cs typeface="Times New Roman"/>
              </a:rPr>
              <a:t>Introduction</a:t>
            </a:r>
          </a:p>
          <a:p>
            <a:pPr marL="342900" indent="-342900">
              <a:lnSpc>
                <a:spcPct val="150000"/>
              </a:lnSpc>
              <a:buFont typeface="Wingdings" panose="05000000000000000000" pitchFamily="2" charset="2"/>
              <a:buChar char="Ø"/>
            </a:pPr>
            <a:r>
              <a:rPr lang="en-IN" sz="2000" dirty="0">
                <a:latin typeface="Times New Roman"/>
                <a:cs typeface="Times New Roman"/>
              </a:rPr>
              <a:t>Literature Survey</a:t>
            </a:r>
          </a:p>
          <a:p>
            <a:pPr marL="342900" indent="-342900">
              <a:lnSpc>
                <a:spcPct val="150000"/>
              </a:lnSpc>
              <a:buFont typeface="Wingdings" panose="05000000000000000000" pitchFamily="2" charset="2"/>
              <a:buChar char="Ø"/>
            </a:pPr>
            <a:r>
              <a:rPr lang="en-IN" sz="2000" dirty="0">
                <a:latin typeface="Times New Roman"/>
                <a:cs typeface="Times New Roman"/>
              </a:rPr>
              <a:t>Problem Statement</a:t>
            </a:r>
            <a:endParaRPr lang="en-IN" sz="2000" dirty="0"/>
          </a:p>
          <a:p>
            <a:pPr marL="342900" indent="-342900">
              <a:lnSpc>
                <a:spcPct val="150000"/>
              </a:lnSpc>
              <a:buFont typeface="Wingdings" panose="05000000000000000000" pitchFamily="2" charset="2"/>
              <a:buChar char="Ø"/>
            </a:pPr>
            <a:r>
              <a:rPr lang="en-IN" sz="2000" dirty="0">
                <a:latin typeface="Times New Roman"/>
                <a:cs typeface="Times New Roman"/>
              </a:rPr>
              <a:t>Objectives</a:t>
            </a:r>
          </a:p>
          <a:p>
            <a:pPr marL="342900" indent="-342900">
              <a:lnSpc>
                <a:spcPct val="150000"/>
              </a:lnSpc>
              <a:buFont typeface="Wingdings" panose="05000000000000000000" pitchFamily="2" charset="2"/>
              <a:buChar char="Ø"/>
            </a:pPr>
            <a:r>
              <a:rPr lang="en-IN" sz="2000" dirty="0">
                <a:latin typeface="Times New Roman"/>
                <a:cs typeface="Times New Roman"/>
              </a:rPr>
              <a:t>System Architecture</a:t>
            </a:r>
          </a:p>
          <a:p>
            <a:pPr marL="342900" indent="-342900">
              <a:lnSpc>
                <a:spcPct val="150000"/>
              </a:lnSpc>
              <a:buFont typeface="Wingdings" panose="05000000000000000000" pitchFamily="2" charset="2"/>
              <a:buChar char="Ø"/>
            </a:pPr>
            <a:r>
              <a:rPr lang="en-IN" sz="2000" dirty="0">
                <a:latin typeface="Times New Roman"/>
                <a:cs typeface="Times New Roman"/>
              </a:rPr>
              <a:t>Results</a:t>
            </a:r>
          </a:p>
          <a:p>
            <a:pPr marL="342900" indent="-342900">
              <a:lnSpc>
                <a:spcPct val="150000"/>
              </a:lnSpc>
              <a:buFont typeface="Wingdings" panose="05000000000000000000" pitchFamily="2" charset="2"/>
              <a:buChar char="Ø"/>
            </a:pPr>
            <a:r>
              <a:rPr lang="en-IN" sz="2000" dirty="0">
                <a:latin typeface="Times New Roman"/>
                <a:cs typeface="Times New Roman"/>
              </a:rPr>
              <a:t>Conclusion</a:t>
            </a:r>
          </a:p>
          <a:p>
            <a:pPr marL="342900" indent="-342900">
              <a:lnSpc>
                <a:spcPct val="150000"/>
              </a:lnSpc>
              <a:buFont typeface="Wingdings" panose="05000000000000000000" pitchFamily="2" charset="2"/>
              <a:buChar char="Ø"/>
            </a:pPr>
            <a:r>
              <a:rPr lang="en-IN" sz="2000" dirty="0">
                <a:latin typeface="Times New Roman"/>
                <a:cs typeface="Times New Roman"/>
              </a:rPr>
              <a:t>References</a:t>
            </a:r>
            <a:endParaRPr lang="en-IN" sz="2000" dirty="0"/>
          </a:p>
        </p:txBody>
      </p:sp>
      <p:pic>
        <p:nvPicPr>
          <p:cNvPr id="5" name="Picture 4">
            <a:extLst>
              <a:ext uri="{FF2B5EF4-FFF2-40B4-BE49-F238E27FC236}">
                <a16:creationId xmlns:a16="http://schemas.microsoft.com/office/drawing/2014/main" id="{41E2F9DE-6301-ECFB-2C7B-62E8B7E68C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6173" y="3248387"/>
            <a:ext cx="6191250" cy="4095750"/>
          </a:xfrm>
          <a:prstGeom prst="flowChartConnector">
            <a:avLst/>
          </a:prstGeom>
        </p:spPr>
      </p:pic>
    </p:spTree>
    <p:extLst>
      <p:ext uri="{BB962C8B-B14F-4D97-AF65-F5344CB8AC3E}">
        <p14:creationId xmlns:p14="http://schemas.microsoft.com/office/powerpoint/2010/main" val="1682720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78150-0C00-8B60-69F4-98D8003BE229}"/>
              </a:ext>
            </a:extLst>
          </p:cNvPr>
          <p:cNvSpPr>
            <a:spLocks noGrp="1"/>
          </p:cNvSpPr>
          <p:nvPr>
            <p:ph type="title"/>
          </p:nvPr>
        </p:nvSpPr>
        <p:spPr>
          <a:xfrm>
            <a:off x="1797666" y="348343"/>
            <a:ext cx="8596668" cy="1320800"/>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6D4C926-A0D4-D225-8832-29D269CA7039}"/>
              </a:ext>
            </a:extLst>
          </p:cNvPr>
          <p:cNvSpPr txBox="1"/>
          <p:nvPr/>
        </p:nvSpPr>
        <p:spPr>
          <a:xfrm>
            <a:off x="293914" y="1799139"/>
            <a:ext cx="11604172" cy="4197559"/>
          </a:xfrm>
          <a:prstGeom prst="rect">
            <a:avLst/>
          </a:prstGeom>
          <a:noFill/>
        </p:spPr>
        <p:txBody>
          <a:bodyPr wrap="square">
            <a:spAutoFit/>
          </a:bodyPr>
          <a:lstStyle/>
          <a:p>
            <a:pPr marL="127000" marR="71755" algn="just">
              <a:lnSpc>
                <a:spcPct val="150000"/>
              </a:lnSpc>
              <a:spcBef>
                <a:spcPts val="1370"/>
              </a:spcBef>
              <a:spcAft>
                <a:spcPts val="0"/>
              </a:spcAft>
            </a:pPr>
            <a:r>
              <a:rPr lang="en-US" sz="1800" dirty="0">
                <a:effectLst/>
                <a:latin typeface="Times New Roman" panose="02020603050405020304" pitchFamily="18" charset="0"/>
                <a:ea typeface="Times New Roman" panose="02020603050405020304" pitchFamily="18" charset="0"/>
              </a:rPr>
              <a:t>Finding free slots in the parking area has become a major problem</a:t>
            </a:r>
            <a:r>
              <a:rPr lang="en-US" sz="1800"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that</a:t>
            </a:r>
            <a:r>
              <a:rPr lang="en-US" sz="1800"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 modern society is facing nowadays, which also leads to traffic overcrowding at the parking area. As the number of vehicles are increasing at a quick rate find parking slots has become difficult. In traditional parking system, a person has to find vacant slot or a gate keeper needs to inform about the available parking slot at parking area. To address this issue, a system is designed, where the user will be able to know the number of vacant slots in a particular parking area along with total number of slots at the entrance</a:t>
            </a:r>
            <a:r>
              <a:rPr lang="en-US" sz="1800"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 the parking</a:t>
            </a:r>
            <a:r>
              <a:rPr lang="en-US" sz="1800"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area. Today's most popular object detection model YOLO, is trained to achieve desired results with good precision scores at real-time speed. The model will be getting all the parking slots that are present in the parking area, to which marking boxes are drawn around for training. Real time processing is performed on the obtained data by the model to find whether the slot is vacant or occupied. Thus, it gives the information of available vacant slots to park the car at parking area.</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11524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7FF6D-8A75-0710-B96D-6FC79D4B3FFA}"/>
              </a:ext>
            </a:extLst>
          </p:cNvPr>
          <p:cNvSpPr>
            <a:spLocks noGrp="1"/>
          </p:cNvSpPr>
          <p:nvPr>
            <p:ph type="title"/>
          </p:nvPr>
        </p:nvSpPr>
        <p:spPr>
          <a:xfrm>
            <a:off x="838198" y="72893"/>
            <a:ext cx="10515600" cy="1325563"/>
          </a:xfrm>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Subtitle 5">
            <a:extLst>
              <a:ext uri="{FF2B5EF4-FFF2-40B4-BE49-F238E27FC236}">
                <a16:creationId xmlns:a16="http://schemas.microsoft.com/office/drawing/2014/main" id="{4E7EC679-EAB8-01A5-D003-52BDB4CF70EF}"/>
              </a:ext>
            </a:extLst>
          </p:cNvPr>
          <p:cNvSpPr txBox="1">
            <a:spLocks/>
          </p:cNvSpPr>
          <p:nvPr/>
        </p:nvSpPr>
        <p:spPr>
          <a:xfrm>
            <a:off x="496397" y="1365738"/>
            <a:ext cx="11199201" cy="5492262"/>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2000" b="1" dirty="0">
                <a:latin typeface="Times New Roman"/>
                <a:cs typeface="Times New Roman"/>
              </a:rPr>
              <a:t>Object Detection</a:t>
            </a:r>
          </a:p>
          <a:p>
            <a:pPr marL="0" indent="0" algn="just">
              <a:lnSpc>
                <a:spcPct val="150000"/>
              </a:lnSpc>
              <a:buNone/>
            </a:pPr>
            <a:r>
              <a:rPr lang="en-US" sz="1800" dirty="0">
                <a:latin typeface="Times New Roman"/>
                <a:cs typeface="Times New Roman"/>
              </a:rPr>
              <a:t>       Object detection is a computer technology that deals with finding instances of semantic items of a specific class (such as individuals, buildings, or cars) in digital photos and videos. It is related to computer vision and image processing. </a:t>
            </a:r>
          </a:p>
          <a:p>
            <a:pPr marL="0" indent="0" algn="just">
              <a:lnSpc>
                <a:spcPct val="150000"/>
              </a:lnSpc>
              <a:buNone/>
            </a:pPr>
            <a:r>
              <a:rPr lang="en-US" sz="2000" b="1" dirty="0">
                <a:latin typeface="Times New Roman"/>
                <a:cs typeface="Times New Roman"/>
              </a:rPr>
              <a:t>Computer vision </a:t>
            </a:r>
            <a:endParaRPr lang="en-US" sz="2000" dirty="0">
              <a:ea typeface="Calibri" panose="020F0502020204030204"/>
              <a:cs typeface="Calibri" panose="020F0502020204030204"/>
            </a:endParaRPr>
          </a:p>
          <a:p>
            <a:pPr marL="0" indent="0" algn="just">
              <a:lnSpc>
                <a:spcPct val="150000"/>
              </a:lnSpc>
              <a:buNone/>
            </a:pPr>
            <a:r>
              <a:rPr lang="en-US" sz="1800" b="1" dirty="0">
                <a:latin typeface="Times New Roman"/>
                <a:cs typeface="Times New Roman"/>
              </a:rPr>
              <a:t>      </a:t>
            </a:r>
            <a:r>
              <a:rPr lang="en-US" sz="1800" dirty="0">
                <a:latin typeface="Times New Roman"/>
                <a:cs typeface="Times New Roman"/>
              </a:rPr>
              <a:t>Computer vision is a field that explores how computers interpret and analyze visual information like images or videos. It seeks to replicate human visual abilities through techniques that capture, process, and understand digital images, extracting meaningful data for various applications, such as making decisions or recognizing patterns.</a:t>
            </a:r>
            <a:endParaRPr lang="en-US" dirty="0">
              <a:ea typeface="Calibri" panose="020F0502020204030204"/>
              <a:cs typeface="Calibri" panose="020F0502020204030204"/>
            </a:endParaRPr>
          </a:p>
          <a:p>
            <a:pPr marL="0" indent="0" algn="just">
              <a:lnSpc>
                <a:spcPct val="150000"/>
              </a:lnSpc>
              <a:buNone/>
            </a:pPr>
            <a:r>
              <a:rPr lang="en-US" sz="2000" b="1" dirty="0">
                <a:latin typeface="Times New Roman"/>
                <a:cs typeface="Times New Roman"/>
              </a:rPr>
              <a:t>YOLO </a:t>
            </a:r>
          </a:p>
          <a:p>
            <a:pPr marL="0" indent="0" algn="just">
              <a:lnSpc>
                <a:spcPct val="150000"/>
              </a:lnSpc>
              <a:buNone/>
            </a:pPr>
            <a:r>
              <a:rPr lang="en-US" sz="1800" b="1" dirty="0">
                <a:latin typeface="Times New Roman"/>
                <a:cs typeface="Times New Roman"/>
              </a:rPr>
              <a:t>        </a:t>
            </a:r>
            <a:r>
              <a:rPr lang="en-US" sz="1800" dirty="0">
                <a:latin typeface="Times New Roman"/>
                <a:cs typeface="Times New Roman"/>
              </a:rPr>
              <a:t>YOLO (You Only Look Once) is an object detection algorithm that operates by dividing an image into a grid and predicts bounding boxes and class probabilities for objects within each grid cell. Unlike traditional methods that classify objects and then perform localization, YOLO does both tasks simultaneously in a single pass through the neural network. This approach makes YOLO extremely fast and capable of real-time object detection in images and videos. The YOLO series includes various versions such as YOLOv1, YOLOv2, YOLOv3, YOLOv4, YOLOv5, YOLOv6, YOLOv7 and YOLOv8.</a:t>
            </a:r>
            <a:endParaRPr lang="en-US" dirty="0">
              <a:ea typeface="Calibri" panose="020F0502020204030204"/>
              <a:cs typeface="Calibri" panose="020F0502020204030204"/>
            </a:endParaRPr>
          </a:p>
          <a:p>
            <a:pPr algn="just">
              <a:lnSpc>
                <a:spcPct val="150000"/>
              </a:lnSpc>
            </a:pPr>
            <a:endParaRPr lang="en-US" dirty="0">
              <a:latin typeface="Times New Roman"/>
              <a:cs typeface="Times New Roman"/>
            </a:endParaRPr>
          </a:p>
        </p:txBody>
      </p:sp>
    </p:spTree>
    <p:extLst>
      <p:ext uri="{BB962C8B-B14F-4D97-AF65-F5344CB8AC3E}">
        <p14:creationId xmlns:p14="http://schemas.microsoft.com/office/powerpoint/2010/main" val="632989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E7144-1598-18CE-B29B-BEEBAF3DBEF4}"/>
              </a:ext>
            </a:extLst>
          </p:cNvPr>
          <p:cNvSpPr>
            <a:spLocks noGrp="1"/>
          </p:cNvSpPr>
          <p:nvPr>
            <p:ph type="ctrTitle"/>
          </p:nvPr>
        </p:nvSpPr>
        <p:spPr>
          <a:xfrm>
            <a:off x="1524000" y="2235200"/>
            <a:ext cx="9144000" cy="2387600"/>
          </a:xfrm>
        </p:spPr>
        <p:txBody>
          <a:bodyPr/>
          <a:lstStyle/>
          <a:p>
            <a:pPr algn="ct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LITERATURE SURVEY</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0915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09AC7DD-4AC6-7E82-6A72-DFCAE55B5A42}"/>
              </a:ext>
            </a:extLst>
          </p:cNvPr>
          <p:cNvGraphicFramePr>
            <a:graphicFrameLocks noGrp="1"/>
          </p:cNvGraphicFramePr>
          <p:nvPr>
            <p:extLst>
              <p:ext uri="{D42A27DB-BD31-4B8C-83A1-F6EECF244321}">
                <p14:modId xmlns:p14="http://schemas.microsoft.com/office/powerpoint/2010/main" val="3689732594"/>
              </p:ext>
            </p:extLst>
          </p:nvPr>
        </p:nvGraphicFramePr>
        <p:xfrm>
          <a:off x="0" y="0"/>
          <a:ext cx="12192000" cy="6858000"/>
        </p:xfrm>
        <a:graphic>
          <a:graphicData uri="http://schemas.openxmlformats.org/drawingml/2006/table">
            <a:tbl>
              <a:tblPr firstRow="1" bandRow="1">
                <a:tableStyleId>{5C22544A-7EE6-4342-B048-85BDC9FD1C3A}</a:tableStyleId>
              </a:tblPr>
              <a:tblGrid>
                <a:gridCol w="1049612">
                  <a:extLst>
                    <a:ext uri="{9D8B030D-6E8A-4147-A177-3AD203B41FA5}">
                      <a16:colId xmlns:a16="http://schemas.microsoft.com/office/drawing/2014/main" val="2076140886"/>
                    </a:ext>
                  </a:extLst>
                </a:gridCol>
                <a:gridCol w="1510018">
                  <a:extLst>
                    <a:ext uri="{9D8B030D-6E8A-4147-A177-3AD203B41FA5}">
                      <a16:colId xmlns:a16="http://schemas.microsoft.com/office/drawing/2014/main" val="3617671582"/>
                    </a:ext>
                  </a:extLst>
                </a:gridCol>
                <a:gridCol w="1486627">
                  <a:extLst>
                    <a:ext uri="{9D8B030D-6E8A-4147-A177-3AD203B41FA5}">
                      <a16:colId xmlns:a16="http://schemas.microsoft.com/office/drawing/2014/main" val="189551559"/>
                    </a:ext>
                  </a:extLst>
                </a:gridCol>
                <a:gridCol w="831280">
                  <a:extLst>
                    <a:ext uri="{9D8B030D-6E8A-4147-A177-3AD203B41FA5}">
                      <a16:colId xmlns:a16="http://schemas.microsoft.com/office/drawing/2014/main" val="2466656034"/>
                    </a:ext>
                  </a:extLst>
                </a:gridCol>
                <a:gridCol w="3868091">
                  <a:extLst>
                    <a:ext uri="{9D8B030D-6E8A-4147-A177-3AD203B41FA5}">
                      <a16:colId xmlns:a16="http://schemas.microsoft.com/office/drawing/2014/main" val="72323785"/>
                    </a:ext>
                  </a:extLst>
                </a:gridCol>
                <a:gridCol w="1868084">
                  <a:extLst>
                    <a:ext uri="{9D8B030D-6E8A-4147-A177-3AD203B41FA5}">
                      <a16:colId xmlns:a16="http://schemas.microsoft.com/office/drawing/2014/main" val="930945724"/>
                    </a:ext>
                  </a:extLst>
                </a:gridCol>
                <a:gridCol w="1578288">
                  <a:extLst>
                    <a:ext uri="{9D8B030D-6E8A-4147-A177-3AD203B41FA5}">
                      <a16:colId xmlns:a16="http://schemas.microsoft.com/office/drawing/2014/main" val="2418902886"/>
                    </a:ext>
                  </a:extLst>
                </a:gridCol>
              </a:tblGrid>
              <a:tr h="926757">
                <a:tc>
                  <a:txBody>
                    <a:bodyPr/>
                    <a:lstStyle/>
                    <a:p>
                      <a:pPr algn="ctr"/>
                      <a:r>
                        <a:rPr lang="en-IN" dirty="0"/>
                        <a:t>SL.</a:t>
                      </a:r>
                    </a:p>
                    <a:p>
                      <a:pPr algn="ctr"/>
                      <a:r>
                        <a:rPr lang="en-IN" dirty="0"/>
                        <a:t>NO</a:t>
                      </a:r>
                      <a:endParaRPr lang="en-IN" dirty="0">
                        <a:latin typeface="Times New Roman"/>
                        <a:cs typeface="Times New Roman"/>
                      </a:endParaRPr>
                    </a:p>
                  </a:txBody>
                  <a:tcPr/>
                </a:tc>
                <a:tc>
                  <a:txBody>
                    <a:bodyPr/>
                    <a:lstStyle/>
                    <a:p>
                      <a:pPr lvl="0" algn="ctr">
                        <a:buNone/>
                      </a:pPr>
                      <a:r>
                        <a:rPr lang="en-IN" sz="1800" b="1" u="none" strike="noStrike" noProof="0" dirty="0">
                          <a:solidFill>
                            <a:srgbClr val="FFFFFF"/>
                          </a:solidFill>
                        </a:rPr>
                        <a:t>TTITLE</a:t>
                      </a:r>
                      <a:endParaRPr lang="en-US" dirty="0">
                        <a:latin typeface="Times New Roman"/>
                      </a:endParaRPr>
                    </a:p>
                  </a:txBody>
                  <a:tcPr/>
                </a:tc>
                <a:tc>
                  <a:txBody>
                    <a:bodyPr/>
                    <a:lstStyle/>
                    <a:p>
                      <a:pPr lvl="0" algn="ctr">
                        <a:buNone/>
                      </a:pPr>
                      <a:r>
                        <a:rPr lang="en-IN" sz="1800" b="1" u="none" strike="noStrike" noProof="0" dirty="0">
                          <a:solidFill>
                            <a:srgbClr val="FFFFFF"/>
                          </a:solidFill>
                        </a:rPr>
                        <a:t>AUTHOR</a:t>
                      </a:r>
                      <a:endParaRPr lang="en-US" dirty="0">
                        <a:latin typeface="+mn-lt"/>
                      </a:endParaRPr>
                    </a:p>
                  </a:txBody>
                  <a:tcPr/>
                </a:tc>
                <a:tc>
                  <a:txBody>
                    <a:bodyPr/>
                    <a:lstStyle/>
                    <a:p>
                      <a:pPr algn="ctr"/>
                      <a:r>
                        <a:rPr lang="en-IN" dirty="0"/>
                        <a:t>PUB YEAR</a:t>
                      </a:r>
                      <a:endParaRPr lang="en-IN" dirty="0">
                        <a:latin typeface="+mn-lt"/>
                      </a:endParaRPr>
                    </a:p>
                  </a:txBody>
                  <a:tcPr/>
                </a:tc>
                <a:tc>
                  <a:txBody>
                    <a:bodyPr/>
                    <a:lstStyle/>
                    <a:p>
                      <a:pPr algn="ctr"/>
                      <a:r>
                        <a:rPr lang="en-IN" dirty="0"/>
                        <a:t>METHODOLOGY</a:t>
                      </a:r>
                      <a:endParaRPr lang="en-IN" dirty="0">
                        <a:latin typeface="Times New Roman"/>
                      </a:endParaRPr>
                    </a:p>
                  </a:txBody>
                  <a:tcPr/>
                </a:tc>
                <a:tc>
                  <a:txBody>
                    <a:bodyPr/>
                    <a:lstStyle/>
                    <a:p>
                      <a:pPr algn="ctr"/>
                      <a:r>
                        <a:rPr lang="en-IN" dirty="0"/>
                        <a:t>ADVANTAGES</a:t>
                      </a:r>
                      <a:endParaRPr lang="en-IN" dirty="0">
                        <a:latin typeface="+mn-lt"/>
                      </a:endParaRPr>
                    </a:p>
                  </a:txBody>
                  <a:tcPr/>
                </a:tc>
                <a:tc>
                  <a:txBody>
                    <a:bodyPr/>
                    <a:lstStyle/>
                    <a:p>
                      <a:pPr algn="ctr"/>
                      <a:r>
                        <a:rPr lang="en-IN" dirty="0"/>
                        <a:t>LIMITATIONS</a:t>
                      </a:r>
                      <a:endParaRPr lang="en-IN" dirty="0">
                        <a:latin typeface="+mn-lt"/>
                      </a:endParaRPr>
                    </a:p>
                  </a:txBody>
                  <a:tcPr/>
                </a:tc>
                <a:extLst>
                  <a:ext uri="{0D108BD9-81ED-4DB2-BD59-A6C34878D82A}">
                    <a16:rowId xmlns:a16="http://schemas.microsoft.com/office/drawing/2014/main" val="3592391041"/>
                  </a:ext>
                </a:extLst>
              </a:tr>
              <a:tr h="5931243">
                <a:tc>
                  <a:txBody>
                    <a:bodyPr/>
                    <a:lstStyle/>
                    <a:p>
                      <a:pPr algn="ctr"/>
                      <a:r>
                        <a:rPr lang="en-IN" dirty="0"/>
                        <a:t>1</a:t>
                      </a:r>
                      <a:endParaRPr lang="en-IN" dirty="0">
                        <a:latin typeface="Times New Roman"/>
                      </a:endParaRPr>
                    </a:p>
                  </a:txBody>
                  <a:tcPr/>
                </a:tc>
                <a:tc>
                  <a:txBody>
                    <a:bodyPr/>
                    <a:lstStyle/>
                    <a:p>
                      <a:pPr lvl="0" algn="just">
                        <a:buNone/>
                      </a:pPr>
                      <a:r>
                        <a:rPr lang="en-IN" sz="1800" b="0" kern="1200" dirty="0">
                          <a:solidFill>
                            <a:schemeClr val="dk1"/>
                          </a:solidFill>
                          <a:effectLst/>
                        </a:rPr>
                        <a:t>T-YOLO:</a:t>
                      </a:r>
                    </a:p>
                    <a:p>
                      <a:pPr lvl="0" algn="just">
                        <a:buNone/>
                      </a:pPr>
                      <a:r>
                        <a:rPr lang="en-IN" sz="1800" b="0" kern="1200" dirty="0">
                          <a:solidFill>
                            <a:schemeClr val="dk1"/>
                          </a:solidFill>
                          <a:effectLst/>
                        </a:rPr>
                        <a:t>Tiny vehicle</a:t>
                      </a:r>
                    </a:p>
                    <a:p>
                      <a:pPr lvl="0" algn="just">
                        <a:buNone/>
                      </a:pPr>
                      <a:r>
                        <a:rPr lang="en-IN" sz="1800" b="0" kern="1200" dirty="0">
                          <a:solidFill>
                            <a:schemeClr val="dk1"/>
                          </a:solidFill>
                          <a:effectLst/>
                        </a:rPr>
                        <a:t>Detection</a:t>
                      </a:r>
                    </a:p>
                    <a:p>
                      <a:pPr lvl="0" algn="just">
                        <a:buNone/>
                      </a:pPr>
                      <a:r>
                        <a:rPr lang="en-IN" sz="1800" b="0" kern="1200" dirty="0">
                          <a:solidFill>
                            <a:schemeClr val="dk1"/>
                          </a:solidFill>
                          <a:effectLst/>
                        </a:rPr>
                        <a:t>Based on</a:t>
                      </a:r>
                    </a:p>
                    <a:p>
                      <a:pPr lvl="0" algn="just">
                        <a:buNone/>
                      </a:pPr>
                      <a:r>
                        <a:rPr lang="en-IN" sz="1800" b="0" kern="1200" dirty="0">
                          <a:solidFill>
                            <a:schemeClr val="dk1"/>
                          </a:solidFill>
                          <a:effectLst/>
                        </a:rPr>
                        <a:t>YOLO and multi scale</a:t>
                      </a:r>
                    </a:p>
                    <a:p>
                      <a:pPr lvl="0" algn="just">
                        <a:buNone/>
                      </a:pPr>
                      <a:r>
                        <a:rPr lang="en-IN" sz="1800" b="0" kern="1200" dirty="0">
                          <a:solidFill>
                            <a:schemeClr val="dk1"/>
                          </a:solidFill>
                          <a:effectLst/>
                        </a:rPr>
                        <a:t>Convolutional neural</a:t>
                      </a:r>
                    </a:p>
                    <a:p>
                      <a:pPr lvl="0" algn="just">
                        <a:buNone/>
                      </a:pPr>
                      <a:r>
                        <a:rPr lang="en-IN" sz="1800" b="0" kern="1200" dirty="0">
                          <a:solidFill>
                            <a:schemeClr val="dk1"/>
                          </a:solidFill>
                          <a:effectLst/>
                        </a:rPr>
                        <a:t>networks</a:t>
                      </a:r>
                    </a:p>
                    <a:p>
                      <a:pPr lvl="0" algn="ctr">
                        <a:buNone/>
                      </a:pPr>
                      <a:endParaRPr lang="en-IN" sz="1800" b="1" i="0" u="none" strike="noStrike" noProof="0">
                        <a:solidFill>
                          <a:srgbClr val="FFFFFF"/>
                        </a:solidFill>
                        <a:latin typeface="Times New Roman"/>
                      </a:endParaRPr>
                    </a:p>
                  </a:txBody>
                  <a:tcPr/>
                </a:tc>
                <a:tc>
                  <a:txBody>
                    <a:bodyPr/>
                    <a:lstStyle/>
                    <a:p>
                      <a:pPr lvl="0" algn="just">
                        <a:lnSpc>
                          <a:spcPct val="100000"/>
                        </a:lnSpc>
                        <a:spcBef>
                          <a:spcPts val="0"/>
                        </a:spcBef>
                        <a:spcAft>
                          <a:spcPts val="0"/>
                        </a:spcAft>
                        <a:buNone/>
                      </a:pPr>
                      <a:r>
                        <a:rPr lang="en-IN" sz="1800" b="0" u="none" strike="noStrike" noProof="0" dirty="0">
                          <a:solidFill>
                            <a:srgbClr val="000000"/>
                          </a:solidFill>
                          <a:effectLst/>
                        </a:rPr>
                        <a:t>DANIEL PADILLA, HATEM A. RASHWAN </a:t>
                      </a:r>
                      <a:r>
                        <a:rPr lang="en-IN" sz="1800" b="0" u="none" strike="noStrike" noProof="0" dirty="0" err="1">
                          <a:solidFill>
                            <a:srgbClr val="000000"/>
                          </a:solidFill>
                          <a:effectLst/>
                        </a:rPr>
                        <a:t>et.,at</a:t>
                      </a:r>
                      <a:r>
                        <a:rPr lang="en-IN" sz="1800" b="0" u="none" strike="noStrike" noProof="0" dirty="0">
                          <a:solidFill>
                            <a:srgbClr val="000000"/>
                          </a:solidFill>
                          <a:effectLst/>
                        </a:rPr>
                        <a:t>.</a:t>
                      </a:r>
                      <a:endParaRPr lang="en-IN" sz="1800" b="1" dirty="0">
                        <a:solidFill>
                          <a:srgbClr val="000000"/>
                        </a:solidFill>
                        <a:effectLst/>
                        <a:latin typeface="Times New Roman"/>
                        <a:ea typeface="Times New Roman" panose="02020603050405020304" pitchFamily="18" charset="0"/>
                        <a:cs typeface="Times New Roman"/>
                      </a:endParaRPr>
                    </a:p>
                  </a:txBody>
                  <a:tcPr marL="68580" marR="68580" marT="0" marB="0"/>
                </a:tc>
                <a:tc>
                  <a:txBody>
                    <a:bodyPr/>
                    <a:lstStyle/>
                    <a:p>
                      <a:pPr algn="ctr"/>
                      <a:r>
                        <a:rPr lang="en-IN" dirty="0"/>
                        <a:t>2020</a:t>
                      </a:r>
                      <a:endParaRPr lang="en-IN" dirty="0">
                        <a:latin typeface="Times New Roman"/>
                      </a:endParaRPr>
                    </a:p>
                  </a:txBody>
                  <a:tcPr/>
                </a:tc>
                <a:tc>
                  <a:txBody>
                    <a:bodyPr/>
                    <a:lstStyle/>
                    <a:p>
                      <a:pPr algn="just"/>
                      <a:r>
                        <a:rPr lang="en-US" sz="1800" b="1" kern="1200" dirty="0">
                          <a:solidFill>
                            <a:schemeClr val="dk1"/>
                          </a:solidFill>
                          <a:effectLst/>
                        </a:rPr>
                        <a:t>Dataset Description:</a:t>
                      </a:r>
                      <a:endParaRPr lang="en-US" sz="1800" b="0" kern="1200" dirty="0">
                        <a:solidFill>
                          <a:schemeClr val="dk1"/>
                        </a:solidFill>
                        <a:effectLst/>
                      </a:endParaRPr>
                    </a:p>
                    <a:p>
                      <a:pPr marL="285750" indent="-285750" algn="just">
                        <a:buFont typeface="Arial" panose="020B0604020202020204" pitchFamily="34" charset="0"/>
                        <a:buChar char="•"/>
                      </a:pPr>
                      <a:r>
                        <a:rPr lang="en-US" sz="1800" b="0" kern="1200" dirty="0">
                          <a:solidFill>
                            <a:schemeClr val="dk1"/>
                          </a:solidFill>
                          <a:effectLst/>
                        </a:rPr>
                        <a:t>Utilized the PKLot1 dataset for the research.</a:t>
                      </a:r>
                    </a:p>
                    <a:p>
                      <a:pPr algn="just"/>
                      <a:r>
                        <a:rPr lang="en-US" sz="1800" b="1" kern="1200" dirty="0">
                          <a:solidFill>
                            <a:schemeClr val="dk1"/>
                          </a:solidFill>
                          <a:effectLst/>
                        </a:rPr>
                        <a:t>Dataset Split:</a:t>
                      </a:r>
                    </a:p>
                    <a:p>
                      <a:pPr marL="285750" indent="-285750" algn="just">
                        <a:buFont typeface="Arial"/>
                        <a:buChar char="•"/>
                      </a:pPr>
                      <a:r>
                        <a:rPr lang="en-US" sz="1800" b="1" kern="1200" dirty="0">
                          <a:solidFill>
                            <a:schemeClr val="dk1"/>
                          </a:solidFill>
                          <a:effectLst/>
                        </a:rPr>
                        <a:t>80% </a:t>
                      </a:r>
                      <a:r>
                        <a:rPr lang="en-US" sz="1800" b="0" kern="1200" dirty="0">
                          <a:solidFill>
                            <a:schemeClr val="dk1"/>
                          </a:solidFill>
                          <a:effectLst/>
                        </a:rPr>
                        <a:t>of dataset for training and 20% of dataset for testing</a:t>
                      </a:r>
                    </a:p>
                    <a:p>
                      <a:pPr algn="just"/>
                      <a:r>
                        <a:rPr lang="en-US" sz="1800" b="1" kern="1200" dirty="0">
                          <a:solidFill>
                            <a:schemeClr val="dk1"/>
                          </a:solidFill>
                          <a:effectLst/>
                        </a:rPr>
                        <a:t>Baseline Model:</a:t>
                      </a:r>
                      <a:endParaRPr lang="en-US" sz="1800" b="0" kern="1200" dirty="0">
                        <a:solidFill>
                          <a:schemeClr val="dk1"/>
                        </a:solidFill>
                        <a:effectLst/>
                      </a:endParaRPr>
                    </a:p>
                    <a:p>
                      <a:pPr marL="285750" indent="-285750" algn="just">
                        <a:buFont typeface="Arial" panose="020B0604020202020204" pitchFamily="34" charset="0"/>
                        <a:buChar char="•"/>
                      </a:pPr>
                      <a:r>
                        <a:rPr lang="en-US" sz="1800" b="0" kern="1200" dirty="0">
                          <a:solidFill>
                            <a:schemeClr val="dk1"/>
                          </a:solidFill>
                          <a:effectLst/>
                        </a:rPr>
                        <a:t>The baseline model used in the study is YOLO v5.</a:t>
                      </a:r>
                    </a:p>
                    <a:p>
                      <a:pPr algn="l"/>
                      <a:r>
                        <a:rPr lang="en-IN" sz="1800" b="1" kern="1200" dirty="0">
                          <a:solidFill>
                            <a:schemeClr val="dk1"/>
                          </a:solidFill>
                          <a:effectLst/>
                        </a:rPr>
                        <a:t>Data Augmentation Techniques:</a:t>
                      </a:r>
                      <a:endParaRPr lang="en-IN" sz="1800" b="0" kern="1200" dirty="0">
                        <a:solidFill>
                          <a:schemeClr val="dk1"/>
                        </a:solidFill>
                        <a:effectLst/>
                      </a:endParaRPr>
                    </a:p>
                    <a:p>
                      <a:pPr marL="285750" indent="-285750" algn="just">
                        <a:buFont typeface="Arial" panose="020B0604020202020204" pitchFamily="34" charset="0"/>
                        <a:buChar char="•"/>
                      </a:pPr>
                      <a:r>
                        <a:rPr lang="en-IN" sz="1800" b="0" kern="1200" dirty="0">
                          <a:solidFill>
                            <a:schemeClr val="dk1"/>
                          </a:solidFill>
                          <a:effectLst/>
                        </a:rPr>
                        <a:t>Applied mosaic/</a:t>
                      </a:r>
                      <a:r>
                        <a:rPr lang="en-IN" sz="1800" b="0" kern="1200" dirty="0" err="1">
                          <a:solidFill>
                            <a:schemeClr val="dk1"/>
                          </a:solidFill>
                          <a:effectLst/>
                        </a:rPr>
                        <a:t>mixup</a:t>
                      </a:r>
                      <a:r>
                        <a:rPr lang="en-IN" sz="1800" b="0" kern="1200" dirty="0">
                          <a:solidFill>
                            <a:schemeClr val="dk1"/>
                          </a:solidFill>
                          <a:effectLst/>
                        </a:rPr>
                        <a:t> to enhance diversity in the dataset.</a:t>
                      </a:r>
                    </a:p>
                    <a:p>
                      <a:pPr marL="285750" indent="-285750" algn="just">
                        <a:buFont typeface="Arial" panose="020B0604020202020204" pitchFamily="34" charset="0"/>
                        <a:buChar char="•"/>
                      </a:pPr>
                      <a:r>
                        <a:rPr lang="en-IN" sz="1800" b="0" kern="1200" dirty="0">
                          <a:solidFill>
                            <a:schemeClr val="dk1"/>
                          </a:solidFill>
                          <a:effectLst/>
                        </a:rPr>
                        <a:t>Utilized letterbox technique for resizing  aspect ratio.</a:t>
                      </a:r>
                    </a:p>
                    <a:p>
                      <a:pPr marL="0" indent="0">
                        <a:buFont typeface="Arial" panose="020B0604020202020204" pitchFamily="34" charset="0"/>
                        <a:buNone/>
                      </a:pPr>
                      <a:endParaRPr lang="en-US" sz="1800" b="0" kern="1200" dirty="0">
                        <a:solidFill>
                          <a:schemeClr val="dk1"/>
                        </a:solidFill>
                        <a:effectLst/>
                      </a:endParaRPr>
                    </a:p>
                    <a:p>
                      <a:pPr marL="0" indent="0">
                        <a:buFont typeface="Arial" panose="020B0604020202020204" pitchFamily="34" charset="0"/>
                        <a:buNone/>
                      </a:pPr>
                      <a:endParaRPr lang="en-US" sz="1800" b="0" kern="1200" dirty="0">
                        <a:solidFill>
                          <a:schemeClr val="dk1"/>
                        </a:solidFill>
                        <a:effectLst/>
                      </a:endParaRPr>
                    </a:p>
                    <a:p>
                      <a:pPr algn="l"/>
                      <a:endParaRPr lang="en-IN" dirty="0">
                        <a:latin typeface="Times New Roman"/>
                      </a:endParaRPr>
                    </a:p>
                  </a:txBody>
                  <a:tcPr/>
                </a:tc>
                <a:tc>
                  <a:txBody>
                    <a:bodyPr/>
                    <a:lstStyle/>
                    <a:p>
                      <a:pPr marL="285750" indent="-285750" algn="l">
                        <a:buFont typeface="Arial" panose="020B0604020202020204" pitchFamily="34" charset="0"/>
                        <a:buChar char="•"/>
                      </a:pPr>
                      <a:r>
                        <a:rPr lang="en-US" sz="1800" b="0" kern="1200" dirty="0">
                          <a:solidFill>
                            <a:schemeClr val="dk1"/>
                          </a:solidFill>
                          <a:effectLst/>
                        </a:rPr>
                        <a:t>improved performance in  vehicle detection</a:t>
                      </a:r>
                    </a:p>
                    <a:p>
                      <a:pPr marL="285750" indent="-285750" algn="l">
                        <a:buFont typeface="Arial" panose="020B0604020202020204" pitchFamily="34" charset="0"/>
                        <a:buChar char="•"/>
                      </a:pPr>
                      <a:r>
                        <a:rPr lang="en-IN" sz="1800" b="0" kern="1200" dirty="0">
                          <a:solidFill>
                            <a:schemeClr val="dk1"/>
                          </a:solidFill>
                          <a:effectLst/>
                        </a:rPr>
                        <a:t>provides high precision value </a:t>
                      </a:r>
                      <a:endParaRPr lang="en-US" sz="1800" b="0" i="0" kern="1200" dirty="0">
                        <a:solidFill>
                          <a:schemeClr val="dk1"/>
                        </a:solidFill>
                        <a:effectLst/>
                        <a:latin typeface="Times New Roman"/>
                        <a:ea typeface="+mn-ea"/>
                        <a:cs typeface="Times New Roman"/>
                      </a:endParaRPr>
                    </a:p>
                  </a:txBody>
                  <a:tcPr/>
                </a:tc>
                <a:tc>
                  <a:txBody>
                    <a:bodyPr/>
                    <a:lstStyle/>
                    <a:p>
                      <a:pPr marL="285750" indent="-285750" algn="l">
                        <a:buFont typeface="Arial"/>
                        <a:buChar char="•"/>
                      </a:pPr>
                      <a:r>
                        <a:rPr lang="en-IN" dirty="0"/>
                        <a:t>The adapted variation yields a decrease in speed</a:t>
                      </a:r>
                      <a:endParaRPr lang="en-IN" dirty="0">
                        <a:latin typeface="Times New Roman"/>
                      </a:endParaRPr>
                    </a:p>
                  </a:txBody>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2105402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971CBE6-BFAC-5CC0-2B30-70B0C8F478B6}"/>
              </a:ext>
            </a:extLst>
          </p:cNvPr>
          <p:cNvGraphicFramePr>
            <a:graphicFrameLocks noGrp="1"/>
          </p:cNvGraphicFramePr>
          <p:nvPr>
            <p:extLst>
              <p:ext uri="{D42A27DB-BD31-4B8C-83A1-F6EECF244321}">
                <p14:modId xmlns:p14="http://schemas.microsoft.com/office/powerpoint/2010/main" val="2247036855"/>
              </p:ext>
            </p:extLst>
          </p:nvPr>
        </p:nvGraphicFramePr>
        <p:xfrm>
          <a:off x="0" y="0"/>
          <a:ext cx="12192000" cy="6858000"/>
        </p:xfrm>
        <a:graphic>
          <a:graphicData uri="http://schemas.openxmlformats.org/drawingml/2006/table">
            <a:tbl>
              <a:tblPr firstRow="1" bandRow="1">
                <a:tableStyleId>{5C22544A-7EE6-4342-B048-85BDC9FD1C3A}</a:tableStyleId>
              </a:tblPr>
              <a:tblGrid>
                <a:gridCol w="715802">
                  <a:extLst>
                    <a:ext uri="{9D8B030D-6E8A-4147-A177-3AD203B41FA5}">
                      <a16:colId xmlns:a16="http://schemas.microsoft.com/office/drawing/2014/main" val="2076140886"/>
                    </a:ext>
                  </a:extLst>
                </a:gridCol>
                <a:gridCol w="1633900">
                  <a:extLst>
                    <a:ext uri="{9D8B030D-6E8A-4147-A177-3AD203B41FA5}">
                      <a16:colId xmlns:a16="http://schemas.microsoft.com/office/drawing/2014/main" val="3617671582"/>
                    </a:ext>
                  </a:extLst>
                </a:gridCol>
                <a:gridCol w="1377143">
                  <a:extLst>
                    <a:ext uri="{9D8B030D-6E8A-4147-A177-3AD203B41FA5}">
                      <a16:colId xmlns:a16="http://schemas.microsoft.com/office/drawing/2014/main" val="189551559"/>
                    </a:ext>
                  </a:extLst>
                </a:gridCol>
                <a:gridCol w="851962">
                  <a:extLst>
                    <a:ext uri="{9D8B030D-6E8A-4147-A177-3AD203B41FA5}">
                      <a16:colId xmlns:a16="http://schemas.microsoft.com/office/drawing/2014/main" val="2466656034"/>
                    </a:ext>
                  </a:extLst>
                </a:gridCol>
                <a:gridCol w="3880909">
                  <a:extLst>
                    <a:ext uri="{9D8B030D-6E8A-4147-A177-3AD203B41FA5}">
                      <a16:colId xmlns:a16="http://schemas.microsoft.com/office/drawing/2014/main" val="72323785"/>
                    </a:ext>
                  </a:extLst>
                </a:gridCol>
                <a:gridCol w="1866142">
                  <a:extLst>
                    <a:ext uri="{9D8B030D-6E8A-4147-A177-3AD203B41FA5}">
                      <a16:colId xmlns:a16="http://schemas.microsoft.com/office/drawing/2014/main" val="930945724"/>
                    </a:ext>
                  </a:extLst>
                </a:gridCol>
                <a:gridCol w="1866142">
                  <a:extLst>
                    <a:ext uri="{9D8B030D-6E8A-4147-A177-3AD203B41FA5}">
                      <a16:colId xmlns:a16="http://schemas.microsoft.com/office/drawing/2014/main" val="2418902886"/>
                    </a:ext>
                  </a:extLst>
                </a:gridCol>
              </a:tblGrid>
              <a:tr h="1009021">
                <a:tc>
                  <a:txBody>
                    <a:bodyPr/>
                    <a:lstStyle/>
                    <a:p>
                      <a:pPr algn="ctr"/>
                      <a:r>
                        <a:rPr lang="en-IN"/>
                        <a:t>SL.NO</a:t>
                      </a:r>
                    </a:p>
                  </a:txBody>
                  <a:tcPr/>
                </a:tc>
                <a:tc>
                  <a:txBody>
                    <a:bodyPr/>
                    <a:lstStyle/>
                    <a:p>
                      <a:pPr algn="ctr"/>
                      <a:r>
                        <a:rPr lang="en-IN"/>
                        <a:t>TITLE</a:t>
                      </a:r>
                    </a:p>
                  </a:txBody>
                  <a:tcPr/>
                </a:tc>
                <a:tc>
                  <a:txBody>
                    <a:bodyPr/>
                    <a:lstStyle/>
                    <a:p>
                      <a:pPr algn="ctr"/>
                      <a:r>
                        <a:rPr lang="en-IN"/>
                        <a:t>AUTHOR</a:t>
                      </a:r>
                    </a:p>
                  </a:txBody>
                  <a:tcPr/>
                </a:tc>
                <a:tc>
                  <a:txBody>
                    <a:bodyPr/>
                    <a:lstStyle/>
                    <a:p>
                      <a:pPr algn="ctr"/>
                      <a:r>
                        <a:rPr lang="en-IN"/>
                        <a:t>PUB YEAR</a:t>
                      </a:r>
                    </a:p>
                  </a:txBody>
                  <a:tcPr/>
                </a:tc>
                <a:tc>
                  <a:txBody>
                    <a:bodyPr/>
                    <a:lstStyle/>
                    <a:p>
                      <a:pPr algn="ctr"/>
                      <a:r>
                        <a:rPr lang="en-IN"/>
                        <a:t>METHODOLOGY</a:t>
                      </a:r>
                    </a:p>
                  </a:txBody>
                  <a:tcPr/>
                </a:tc>
                <a:tc>
                  <a:txBody>
                    <a:bodyPr/>
                    <a:lstStyle/>
                    <a:p>
                      <a:pPr algn="ctr"/>
                      <a:r>
                        <a:rPr lang="en-IN"/>
                        <a:t>ADVANTAGES</a:t>
                      </a:r>
                    </a:p>
                  </a:txBody>
                  <a:tcPr/>
                </a:tc>
                <a:tc>
                  <a:txBody>
                    <a:bodyPr/>
                    <a:lstStyle/>
                    <a:p>
                      <a:pPr marL="0" indent="0" algn="ctr">
                        <a:buFont typeface="Arial" panose="020B0604020202020204" pitchFamily="34" charset="0"/>
                        <a:buNone/>
                      </a:pPr>
                      <a:r>
                        <a:rPr lang="en-IN"/>
                        <a:t>LIMITATIONS</a:t>
                      </a:r>
                    </a:p>
                  </a:txBody>
                  <a:tcPr/>
                </a:tc>
                <a:extLst>
                  <a:ext uri="{0D108BD9-81ED-4DB2-BD59-A6C34878D82A}">
                    <a16:rowId xmlns:a16="http://schemas.microsoft.com/office/drawing/2014/main" val="3592391041"/>
                  </a:ext>
                </a:extLst>
              </a:tr>
              <a:tr h="5848979">
                <a:tc>
                  <a:txBody>
                    <a:bodyPr/>
                    <a:lstStyle/>
                    <a:p>
                      <a:pPr algn="ctr"/>
                      <a:r>
                        <a:rPr lang="en-IN" dirty="0"/>
                        <a:t>2</a:t>
                      </a:r>
                    </a:p>
                  </a:txBody>
                  <a:tcPr/>
                </a:tc>
                <a:tc>
                  <a:txBody>
                    <a:bodyPr/>
                    <a:lstStyle/>
                    <a:p>
                      <a:pPr algn="just"/>
                      <a:r>
                        <a:rPr lang="en-IN" sz="1800" b="0" kern="1200" dirty="0">
                          <a:solidFill>
                            <a:schemeClr val="dk1"/>
                          </a:solidFill>
                          <a:effectLst/>
                        </a:rPr>
                        <a:t>Car Detection Based Algorithm for Automatic Parking Space Detection</a:t>
                      </a:r>
                      <a:endParaRPr lang="en-IN" b="0" dirty="0">
                        <a:latin typeface="Times New Roman" panose="02020603050405020304" pitchFamily="18" charset="0"/>
                        <a:cs typeface="Times New Roman" panose="02020603050405020304" pitchFamily="18" charset="0"/>
                      </a:endParaRPr>
                    </a:p>
                  </a:txBody>
                  <a:tcPr/>
                </a:tc>
                <a:tc>
                  <a:txBody>
                    <a:bodyPr/>
                    <a:lstStyle/>
                    <a:p>
                      <a:pPr algn="just"/>
                      <a:r>
                        <a:rPr lang="en-IN" sz="1800" kern="1200">
                          <a:solidFill>
                            <a:schemeClr val="dk1"/>
                          </a:solidFill>
                          <a:effectLst/>
                        </a:rPr>
                        <a:t>Raj Patel and Praveen </a:t>
                      </a:r>
                      <a:r>
                        <a:rPr lang="en-IN" sz="1800" kern="1200" err="1">
                          <a:solidFill>
                            <a:schemeClr val="dk1"/>
                          </a:solidFill>
                          <a:effectLst/>
                        </a:rPr>
                        <a:t>Meduri</a:t>
                      </a:r>
                      <a:r>
                        <a:rPr lang="en-IN" sz="1800" kern="1200">
                          <a:solidFill>
                            <a:schemeClr val="dk1"/>
                          </a:solidFill>
                          <a:effectLst/>
                        </a:rPr>
                        <a:t> </a:t>
                      </a:r>
                      <a:endParaRPr lang="en-IN">
                        <a:latin typeface="Times New Roman" panose="02020603050405020304" pitchFamily="18" charset="0"/>
                        <a:cs typeface="Times New Roman" panose="02020603050405020304" pitchFamily="18" charset="0"/>
                      </a:endParaRPr>
                    </a:p>
                  </a:txBody>
                  <a:tcPr/>
                </a:tc>
                <a:tc>
                  <a:txBody>
                    <a:bodyPr/>
                    <a:lstStyle/>
                    <a:p>
                      <a:pPr algn="ctr"/>
                      <a:r>
                        <a:rPr lang="en-IN" dirty="0"/>
                        <a:t>2020</a:t>
                      </a:r>
                    </a:p>
                  </a:txBody>
                  <a:tcPr/>
                </a:tc>
                <a:tc>
                  <a:txBody>
                    <a:bodyPr/>
                    <a:lstStyle/>
                    <a:p>
                      <a:pPr algn="just"/>
                      <a:r>
                        <a:rPr lang="en-IN" sz="1800" b="1" kern="1200">
                          <a:solidFill>
                            <a:schemeClr val="dk1"/>
                          </a:solidFill>
                          <a:effectLst/>
                        </a:rPr>
                        <a:t>Car Detection Model</a:t>
                      </a:r>
                      <a:r>
                        <a:rPr lang="en-IN" sz="1800" b="0" kern="1200">
                          <a:solidFill>
                            <a:schemeClr val="dk1"/>
                          </a:solidFill>
                          <a:effectLst/>
                        </a:rPr>
                        <a:t>:</a:t>
                      </a:r>
                    </a:p>
                    <a:p>
                      <a:pPr marL="285750" indent="-285750" algn="l">
                        <a:buFont typeface="Arial" panose="020B0604020202020204" pitchFamily="34" charset="0"/>
                        <a:buChar char="•"/>
                      </a:pPr>
                      <a:r>
                        <a:rPr lang="en-IN" sz="1800" b="0" kern="1200">
                          <a:solidFill>
                            <a:schemeClr val="dk1"/>
                          </a:solidFill>
                          <a:effectLst/>
                        </a:rPr>
                        <a:t>Used CARPK dataset</a:t>
                      </a:r>
                    </a:p>
                    <a:p>
                      <a:pPr marL="285750" indent="-285750" algn="l">
                        <a:buFont typeface="Arial" panose="020B0604020202020204" pitchFamily="34" charset="0"/>
                        <a:buChar char="•"/>
                      </a:pPr>
                      <a:r>
                        <a:rPr lang="en-IN" sz="1800" b="0" kern="1200">
                          <a:solidFill>
                            <a:schemeClr val="dk1"/>
                          </a:solidFill>
                          <a:effectLst/>
                        </a:rPr>
                        <a:t>MAP(Mean Average Precision)was used to quantify the model performance.</a:t>
                      </a:r>
                    </a:p>
                    <a:p>
                      <a:pPr marL="285750" indent="-285750" algn="l">
                        <a:buFont typeface="Arial" panose="020B0604020202020204" pitchFamily="34" charset="0"/>
                        <a:buChar char="•"/>
                      </a:pPr>
                      <a:r>
                        <a:rPr lang="en-US" sz="1800" b="0" kern="1200">
                          <a:solidFill>
                            <a:schemeClr val="dk1"/>
                          </a:solidFill>
                          <a:effectLst/>
                        </a:rPr>
                        <a:t>YOLOv4 model trained on MS COCO is tested on CARPK as a baseline</a:t>
                      </a:r>
                    </a:p>
                    <a:p>
                      <a:pPr marL="0" indent="0" algn="just">
                        <a:buFont typeface="Arial" panose="020B0604020202020204" pitchFamily="34" charset="0"/>
                        <a:buNone/>
                      </a:pPr>
                      <a:r>
                        <a:rPr lang="en-IN" sz="1800" b="1" kern="1200">
                          <a:solidFill>
                            <a:schemeClr val="dk1"/>
                          </a:solidFill>
                          <a:effectLst/>
                        </a:rPr>
                        <a:t>Car Tracking</a:t>
                      </a:r>
                      <a:r>
                        <a:rPr lang="en-IN" sz="1800" b="0" kern="1200">
                          <a:solidFill>
                            <a:schemeClr val="dk1"/>
                          </a:solidFill>
                          <a:effectLst/>
                        </a:rPr>
                        <a:t>:</a:t>
                      </a:r>
                    </a:p>
                    <a:p>
                      <a:pPr marL="285750" indent="-285750" algn="l">
                        <a:buFont typeface="Arial" panose="020B0604020202020204" pitchFamily="34" charset="0"/>
                        <a:buChar char="•"/>
                      </a:pPr>
                      <a:r>
                        <a:rPr lang="en-US" sz="1800" b="0" kern="1200" err="1">
                          <a:solidFill>
                            <a:schemeClr val="dk1"/>
                          </a:solidFill>
                          <a:effectLst/>
                        </a:rPr>
                        <a:t>CNRPark+EXT</a:t>
                      </a:r>
                      <a:r>
                        <a:rPr lang="en-US" sz="1800" b="0" kern="1200">
                          <a:solidFill>
                            <a:schemeClr val="dk1"/>
                          </a:solidFill>
                          <a:effectLst/>
                        </a:rPr>
                        <a:t> [14] dataset was used to evaluate the tracking algorithm.</a:t>
                      </a:r>
                    </a:p>
                    <a:p>
                      <a:pPr marL="285750" indent="-285750" algn="l">
                        <a:buFont typeface="Arial" panose="020B0604020202020204" pitchFamily="34" charset="0"/>
                        <a:buChar char="•"/>
                      </a:pPr>
                      <a:r>
                        <a:rPr lang="en-US" sz="1800" b="0" kern="1200" err="1">
                          <a:solidFill>
                            <a:schemeClr val="dk1"/>
                          </a:solidFill>
                          <a:effectLst/>
                        </a:rPr>
                        <a:t>IoU</a:t>
                      </a:r>
                      <a:r>
                        <a:rPr lang="en-US" sz="1800" b="0" kern="1200">
                          <a:solidFill>
                            <a:schemeClr val="dk1"/>
                          </a:solidFill>
                          <a:effectLst/>
                        </a:rPr>
                        <a:t>(Intersection of Union)ratio is used to identify car state</a:t>
                      </a:r>
                      <a:endParaRPr lang="en-US" sz="1800" b="0" i="0" kern="120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a:t>Increased Efficiency</a:t>
                      </a:r>
                    </a:p>
                    <a:p>
                      <a:pPr marL="285750" indent="-285750" algn="just">
                        <a:buFont typeface="Arial" panose="020B0604020202020204" pitchFamily="34" charset="0"/>
                        <a:buChar char="•"/>
                      </a:pPr>
                      <a:r>
                        <a:rPr lang="en-IN"/>
                        <a:t> Real-time Updates</a:t>
                      </a:r>
                    </a:p>
                    <a:p>
                      <a:pPr marL="285750" indent="-285750" algn="just">
                        <a:buFont typeface="Arial" panose="020B0604020202020204" pitchFamily="34" charset="0"/>
                        <a:buChar char="•"/>
                      </a:pPr>
                      <a:r>
                        <a:rPr lang="en-IN"/>
                        <a:t>Enhanced User Experience</a:t>
                      </a:r>
                      <a:endParaRPr lang="en-IN">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panose="020B0604020202020204" pitchFamily="34" charset="0"/>
                        <a:buChar char="•"/>
                      </a:pPr>
                      <a:r>
                        <a:rPr lang="en-IN" dirty="0"/>
                        <a:t>Not completely automatic need human interaction</a:t>
                      </a:r>
                    </a:p>
                    <a:p>
                      <a:pPr marL="285750" indent="-285750" algn="just">
                        <a:buFont typeface="Arial" panose="020B0604020202020204" pitchFamily="34" charset="0"/>
                        <a:buChar char="•"/>
                      </a:pPr>
                      <a:r>
                        <a:rPr lang="en-IN" dirty="0"/>
                        <a:t>Complex Environments</a:t>
                      </a:r>
                    </a:p>
                    <a:p>
                      <a:pPr marL="285750" indent="-285750" algn="just">
                        <a:buFont typeface="Arial" panose="020B0604020202020204" pitchFamily="34" charset="0"/>
                        <a:buChar char="•"/>
                      </a:pPr>
                      <a:r>
                        <a:rPr lang="en-US" dirty="0"/>
                        <a:t>Variable Vehicle Shapes and Sizes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1653945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FB1A5B8-DC34-C6C2-0FD0-800E2C36D10D}"/>
              </a:ext>
            </a:extLst>
          </p:cNvPr>
          <p:cNvGraphicFramePr>
            <a:graphicFrameLocks noGrp="1"/>
          </p:cNvGraphicFramePr>
          <p:nvPr>
            <p:extLst>
              <p:ext uri="{D42A27DB-BD31-4B8C-83A1-F6EECF244321}">
                <p14:modId xmlns:p14="http://schemas.microsoft.com/office/powerpoint/2010/main" val="682686357"/>
              </p:ext>
            </p:extLst>
          </p:nvPr>
        </p:nvGraphicFramePr>
        <p:xfrm>
          <a:off x="0" y="0"/>
          <a:ext cx="12192001" cy="6858000"/>
        </p:xfrm>
        <a:graphic>
          <a:graphicData uri="http://schemas.openxmlformats.org/drawingml/2006/table">
            <a:tbl>
              <a:tblPr firstRow="1" bandRow="1">
                <a:tableStyleId>{5C22544A-7EE6-4342-B048-85BDC9FD1C3A}</a:tableStyleId>
              </a:tblPr>
              <a:tblGrid>
                <a:gridCol w="714468">
                  <a:extLst>
                    <a:ext uri="{9D8B030D-6E8A-4147-A177-3AD203B41FA5}">
                      <a16:colId xmlns:a16="http://schemas.microsoft.com/office/drawing/2014/main" val="2076140886"/>
                    </a:ext>
                  </a:extLst>
                </a:gridCol>
                <a:gridCol w="1630856">
                  <a:extLst>
                    <a:ext uri="{9D8B030D-6E8A-4147-A177-3AD203B41FA5}">
                      <a16:colId xmlns:a16="http://schemas.microsoft.com/office/drawing/2014/main" val="3617671582"/>
                    </a:ext>
                  </a:extLst>
                </a:gridCol>
                <a:gridCol w="1374577">
                  <a:extLst>
                    <a:ext uri="{9D8B030D-6E8A-4147-A177-3AD203B41FA5}">
                      <a16:colId xmlns:a16="http://schemas.microsoft.com/office/drawing/2014/main" val="189551559"/>
                    </a:ext>
                  </a:extLst>
                </a:gridCol>
                <a:gridCol w="850375">
                  <a:extLst>
                    <a:ext uri="{9D8B030D-6E8A-4147-A177-3AD203B41FA5}">
                      <a16:colId xmlns:a16="http://schemas.microsoft.com/office/drawing/2014/main" val="2466656034"/>
                    </a:ext>
                  </a:extLst>
                </a:gridCol>
                <a:gridCol w="3875898">
                  <a:extLst>
                    <a:ext uri="{9D8B030D-6E8A-4147-A177-3AD203B41FA5}">
                      <a16:colId xmlns:a16="http://schemas.microsoft.com/office/drawing/2014/main" val="72323785"/>
                    </a:ext>
                  </a:extLst>
                </a:gridCol>
                <a:gridCol w="1860441">
                  <a:extLst>
                    <a:ext uri="{9D8B030D-6E8A-4147-A177-3AD203B41FA5}">
                      <a16:colId xmlns:a16="http://schemas.microsoft.com/office/drawing/2014/main" val="930945724"/>
                    </a:ext>
                  </a:extLst>
                </a:gridCol>
                <a:gridCol w="1885386">
                  <a:extLst>
                    <a:ext uri="{9D8B030D-6E8A-4147-A177-3AD203B41FA5}">
                      <a16:colId xmlns:a16="http://schemas.microsoft.com/office/drawing/2014/main" val="2418902886"/>
                    </a:ext>
                  </a:extLst>
                </a:gridCol>
              </a:tblGrid>
              <a:tr h="926757">
                <a:tc>
                  <a:txBody>
                    <a:bodyPr/>
                    <a:lstStyle/>
                    <a:p>
                      <a:pPr algn="ctr"/>
                      <a:r>
                        <a:rPr lang="en-IN" dirty="0"/>
                        <a:t>SL.NO</a:t>
                      </a:r>
                      <a:endParaRPr lang="en-IN" dirty="0">
                        <a:latin typeface="Times New Roman"/>
                        <a:cs typeface="Times New Roman"/>
                      </a:endParaRPr>
                    </a:p>
                  </a:txBody>
                  <a:tcPr/>
                </a:tc>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PUB YEAR</a:t>
                      </a:r>
                    </a:p>
                  </a:txBody>
                  <a:tcPr/>
                </a:tc>
                <a:tc>
                  <a:txBody>
                    <a:bodyPr/>
                    <a:lstStyle/>
                    <a:p>
                      <a:pPr algn="ctr"/>
                      <a:r>
                        <a:rPr lang="en-IN" dirty="0"/>
                        <a:t>METHODOLOGY</a:t>
                      </a:r>
                    </a:p>
                  </a:txBody>
                  <a:tcPr/>
                </a:tc>
                <a:tc>
                  <a:txBody>
                    <a:bodyPr/>
                    <a:lstStyle/>
                    <a:p>
                      <a:pPr algn="ctr"/>
                      <a:r>
                        <a:rPr lang="en-IN" dirty="0"/>
                        <a:t>ADVANTAGES</a:t>
                      </a:r>
                    </a:p>
                  </a:txBody>
                  <a:tcPr/>
                </a:tc>
                <a:tc>
                  <a:txBody>
                    <a:bodyPr/>
                    <a:lstStyle/>
                    <a:p>
                      <a:pPr algn="ctr"/>
                      <a:r>
                        <a:rPr lang="en-IN" dirty="0"/>
                        <a:t>LIMITATIONS</a:t>
                      </a:r>
                    </a:p>
                  </a:txBody>
                  <a:tcPr/>
                </a:tc>
                <a:extLst>
                  <a:ext uri="{0D108BD9-81ED-4DB2-BD59-A6C34878D82A}">
                    <a16:rowId xmlns:a16="http://schemas.microsoft.com/office/drawing/2014/main" val="3592391041"/>
                  </a:ext>
                </a:extLst>
              </a:tr>
              <a:tr h="5931243">
                <a:tc>
                  <a:txBody>
                    <a:bodyPr/>
                    <a:lstStyle/>
                    <a:p>
                      <a:pPr algn="ctr"/>
                      <a:r>
                        <a:rPr lang="en-IN" dirty="0"/>
                        <a:t>3</a:t>
                      </a:r>
                      <a:endParaRPr lang="en-IN" dirty="0">
                        <a:latin typeface="Times New Roman"/>
                        <a:cs typeface="Times New Roman"/>
                      </a:endParaRPr>
                    </a:p>
                  </a:txBody>
                  <a:tcPr/>
                </a:tc>
                <a:tc>
                  <a:txBody>
                    <a:bodyPr/>
                    <a:lstStyle/>
                    <a:p>
                      <a:pPr lvl="0" algn="just">
                        <a:buNone/>
                      </a:pPr>
                      <a:r>
                        <a:rPr lang="en-IN" sz="1800" b="0" u="none" strike="noStrike" kern="1200" noProof="0" dirty="0">
                          <a:solidFill>
                            <a:schemeClr val="dk1"/>
                          </a:solidFill>
                          <a:effectLst/>
                        </a:rPr>
                        <a:t>Automated Vehicle Parking slot </a:t>
                      </a:r>
                      <a:endParaRPr lang="en-IN" sz="1800" b="0" u="none" strike="noStrike" kern="1200" noProof="0" dirty="0">
                        <a:solidFill>
                          <a:srgbClr val="000000"/>
                        </a:solidFill>
                        <a:effectLst/>
                      </a:endParaRPr>
                    </a:p>
                    <a:p>
                      <a:pPr lvl="0" algn="just">
                        <a:buNone/>
                      </a:pPr>
                      <a:r>
                        <a:rPr lang="en-IN" sz="1800" b="0" u="none" strike="noStrike" kern="1200" noProof="0" dirty="0">
                          <a:solidFill>
                            <a:schemeClr val="dk1"/>
                          </a:solidFill>
                          <a:effectLst/>
                        </a:rPr>
                        <a:t>Detection  system</a:t>
                      </a:r>
                      <a:endParaRPr lang="en-US" sz="1800" b="0" u="none" strike="noStrike" kern="1200" noProof="0" dirty="0">
                        <a:solidFill>
                          <a:srgbClr val="000000"/>
                        </a:solidFill>
                        <a:effectLst/>
                      </a:endParaRPr>
                    </a:p>
                    <a:p>
                      <a:pPr lvl="0" algn="just">
                        <a:buNone/>
                      </a:pPr>
                      <a:r>
                        <a:rPr lang="en-IN" sz="1800" b="0" u="none" strike="noStrike" kern="1200" noProof="0" dirty="0">
                          <a:solidFill>
                            <a:schemeClr val="dk1"/>
                          </a:solidFill>
                          <a:effectLst/>
                        </a:rPr>
                        <a:t>using deep  learning</a:t>
                      </a:r>
                      <a:endParaRPr lang="en-PH" b="0" dirty="0">
                        <a:latin typeface="Times New Roman"/>
                      </a:endParaRPr>
                    </a:p>
                  </a:txBody>
                  <a:tcPr/>
                </a:tc>
                <a:tc>
                  <a:txBody>
                    <a:bodyPr/>
                    <a:lstStyle/>
                    <a:p>
                      <a:pPr lvl="0" algn="just">
                        <a:buNone/>
                      </a:pPr>
                      <a:r>
                        <a:rPr lang="en-IN" sz="1800" b="0" u="none" strike="noStrike" kern="1200" noProof="0" dirty="0">
                          <a:solidFill>
                            <a:schemeClr val="dk1"/>
                          </a:solidFill>
                          <a:effectLst/>
                        </a:rPr>
                        <a:t>BANDI SAIRAM</a:t>
                      </a:r>
                      <a:endParaRPr lang="en-US" dirty="0"/>
                    </a:p>
                    <a:p>
                      <a:pPr lvl="0" algn="just">
                        <a:buNone/>
                      </a:pPr>
                      <a:r>
                        <a:rPr lang="en-IN" sz="1800" b="0" u="none" strike="noStrike" kern="1200" noProof="0" dirty="0">
                          <a:solidFill>
                            <a:schemeClr val="dk1"/>
                          </a:solidFill>
                          <a:effectLst/>
                        </a:rPr>
                        <a:t>and</a:t>
                      </a:r>
                    </a:p>
                    <a:p>
                      <a:pPr lvl="0" algn="just">
                        <a:buNone/>
                      </a:pPr>
                      <a:r>
                        <a:rPr lang="en-IN" sz="1800" b="0" u="none" strike="noStrike" kern="1200" noProof="0" dirty="0">
                          <a:solidFill>
                            <a:schemeClr val="dk1"/>
                          </a:solidFill>
                          <a:effectLst/>
                        </a:rPr>
                        <a:t>ADITI AGRAWAL</a:t>
                      </a:r>
                      <a:endParaRPr lang="en-IN" dirty="0"/>
                    </a:p>
                  </a:txBody>
                  <a:tcPr/>
                </a:tc>
                <a:tc>
                  <a:txBody>
                    <a:bodyPr/>
                    <a:lstStyle/>
                    <a:p>
                      <a:pPr algn="ctr"/>
                      <a:r>
                        <a:rPr lang="en-IN" dirty="0"/>
                        <a:t>2020</a:t>
                      </a:r>
                    </a:p>
                  </a:txBody>
                  <a:tcPr/>
                </a:tc>
                <a:tc>
                  <a:txBody>
                    <a:bodyPr/>
                    <a:lstStyle/>
                    <a:p>
                      <a:pPr algn="just"/>
                      <a:r>
                        <a:rPr lang="en-US" sz="1800" b="1" kern="1200" dirty="0">
                          <a:solidFill>
                            <a:schemeClr val="dk1"/>
                          </a:solidFill>
                          <a:effectLst/>
                        </a:rPr>
                        <a:t>Initial Setup:</a:t>
                      </a:r>
                    </a:p>
                    <a:p>
                      <a:pPr marL="285750" indent="-285750" algn="just">
                        <a:buFont typeface="Arial" panose="020B0604020202020204" pitchFamily="34" charset="0"/>
                        <a:buChar char="•"/>
                      </a:pPr>
                      <a:r>
                        <a:rPr lang="en-US" sz="1800" b="0" kern="1200" dirty="0">
                          <a:solidFill>
                            <a:schemeClr val="dk1"/>
                          </a:solidFill>
                          <a:effectLst/>
                        </a:rPr>
                        <a:t>Manually segment the parking slots based on live video streams from surveillance cameras.</a:t>
                      </a:r>
                    </a:p>
                    <a:p>
                      <a:pPr marL="285750" indent="-285750" algn="just">
                        <a:buFont typeface="Arial" panose="020B0604020202020204" pitchFamily="34" charset="0"/>
                        <a:buChar char="•"/>
                      </a:pPr>
                      <a:r>
                        <a:rPr lang="en-US" sz="1800" b="0" kern="1200" dirty="0">
                          <a:solidFill>
                            <a:schemeClr val="dk1"/>
                          </a:solidFill>
                          <a:effectLst/>
                        </a:rPr>
                        <a:t>Assign an ID to each parking slot and geo-tag and map each slot alongside its ID.</a:t>
                      </a:r>
                    </a:p>
                    <a:p>
                      <a:pPr marL="0" indent="0" algn="just">
                        <a:buFont typeface="Arial" panose="020B0604020202020204" pitchFamily="34" charset="0"/>
                        <a:buNone/>
                      </a:pPr>
                      <a:r>
                        <a:rPr lang="en-US" sz="1800" b="1" kern="1200" dirty="0">
                          <a:solidFill>
                            <a:schemeClr val="dk1"/>
                          </a:solidFill>
                          <a:effectLst/>
                        </a:rPr>
                        <a:t>Live Video Stream Processing:</a:t>
                      </a:r>
                    </a:p>
                    <a:p>
                      <a:pPr marL="285750" indent="-285750" algn="just">
                        <a:buFont typeface="Arial" panose="020B0604020202020204" pitchFamily="34" charset="0"/>
                        <a:buChar char="•"/>
                      </a:pPr>
                      <a:r>
                        <a:rPr lang="en-US" sz="1800" b="0" kern="1200" dirty="0">
                          <a:solidFill>
                            <a:schemeClr val="dk1"/>
                          </a:solidFill>
                          <a:effectLst/>
                        </a:rPr>
                        <a:t>Mask R-CNN model is used to detect vacant slots.</a:t>
                      </a:r>
                    </a:p>
                    <a:p>
                      <a:pPr algn="just"/>
                      <a:r>
                        <a:rPr lang="en-US" sz="1800" b="1" kern="1200" dirty="0">
                          <a:solidFill>
                            <a:schemeClr val="dk1"/>
                          </a:solidFill>
                          <a:effectLst/>
                        </a:rPr>
                        <a:t>Parking Slot Detection:</a:t>
                      </a:r>
                    </a:p>
                    <a:p>
                      <a:pPr marL="285750" indent="-285750" algn="just">
                        <a:buFont typeface="Arial" panose="020B0604020202020204" pitchFamily="34" charset="0"/>
                        <a:buChar char="•"/>
                      </a:pPr>
                      <a:r>
                        <a:rPr lang="en-US" sz="1800" b="0" kern="1200" dirty="0">
                          <a:solidFill>
                            <a:schemeClr val="dk1"/>
                          </a:solidFill>
                          <a:effectLst/>
                        </a:rPr>
                        <a:t>Detect marking points and the type of parking slot.</a:t>
                      </a:r>
                    </a:p>
                    <a:p>
                      <a:pPr marL="285750" indent="-285750" algn="just">
                        <a:buFont typeface="Arial" panose="020B0604020202020204" pitchFamily="34" charset="0"/>
                        <a:buChar char="•"/>
                      </a:pPr>
                      <a:r>
                        <a:rPr lang="en-US" sz="1800" b="0" kern="1200" dirty="0">
                          <a:solidFill>
                            <a:schemeClr val="dk1"/>
                          </a:solidFill>
                          <a:effectLst/>
                        </a:rPr>
                        <a:t>Use sensors to find free space between two vehicles</a:t>
                      </a:r>
                    </a:p>
                    <a:p>
                      <a:pPr marL="285750" indent="-285750" algn="just">
                        <a:buFont typeface="Arial" panose="020B0604020202020204" pitchFamily="34" charset="0"/>
                        <a:buChar char="•"/>
                      </a:pPr>
                      <a:endParaRPr lang="en-US" sz="1800" b="0" kern="1200" dirty="0">
                        <a:solidFill>
                          <a:schemeClr val="dk1"/>
                        </a:solidFill>
                        <a:effectLst/>
                      </a:endParaRPr>
                    </a:p>
                    <a:p>
                      <a:pPr algn="just"/>
                      <a:endParaRPr lang="en-IN" dirty="0"/>
                    </a:p>
                  </a:txBody>
                  <a:tcPr/>
                </a:tc>
                <a:tc>
                  <a:txBody>
                    <a:bodyPr/>
                    <a:lstStyle/>
                    <a:p>
                      <a:pPr marL="285750" indent="-285750" algn="just">
                        <a:buFont typeface="Arial" panose="020B0604020202020204" pitchFamily="34" charset="0"/>
                        <a:buChar char="•"/>
                      </a:pPr>
                      <a:r>
                        <a:rPr lang="en-IN" sz="1800" b="0" kern="1200" dirty="0">
                          <a:solidFill>
                            <a:schemeClr val="dk1"/>
                          </a:solidFill>
                          <a:effectLst/>
                        </a:rPr>
                        <a:t>Fuel Savings</a:t>
                      </a:r>
                    </a:p>
                    <a:p>
                      <a:pPr marL="285750" indent="-285750" algn="just">
                        <a:buFont typeface="Arial" panose="020B0604020202020204" pitchFamily="34" charset="0"/>
                        <a:buChar char="•"/>
                      </a:pPr>
                      <a:r>
                        <a:rPr lang="en-IN" sz="1800" b="0" kern="1200" dirty="0">
                          <a:solidFill>
                            <a:schemeClr val="dk1"/>
                          </a:solidFill>
                          <a:effectLst/>
                        </a:rPr>
                        <a:t>Urban Planning Benefits</a:t>
                      </a:r>
                    </a:p>
                    <a:p>
                      <a:pPr marL="285750" indent="-285750" algn="just">
                        <a:buFont typeface="Arial" panose="020B0604020202020204" pitchFamily="34" charset="0"/>
                        <a:buChar char="•"/>
                      </a:pPr>
                      <a:r>
                        <a:rPr lang="en-IN" sz="1800" b="0" kern="1200" dirty="0">
                          <a:solidFill>
                            <a:schemeClr val="dk1"/>
                          </a:solidFill>
                          <a:effectLst/>
                        </a:rPr>
                        <a:t>Improved Efficiency</a:t>
                      </a:r>
                      <a:endParaRPr lang="en-IN" dirty="0">
                        <a:latin typeface="Times New Roman"/>
                      </a:endParaRPr>
                    </a:p>
                  </a:txBody>
                  <a:tcPr/>
                </a:tc>
                <a:tc>
                  <a:txBody>
                    <a:bodyPr/>
                    <a:lstStyle/>
                    <a:p>
                      <a:pPr marL="285750" indent="-285750" algn="just">
                        <a:buFont typeface="Arial" panose="020B0604020202020204" pitchFamily="34" charset="0"/>
                        <a:buChar char="•"/>
                      </a:pPr>
                      <a:r>
                        <a:rPr lang="en-IN" dirty="0"/>
                        <a:t>Difficulty in maintain sensor</a:t>
                      </a:r>
                    </a:p>
                    <a:p>
                      <a:pPr marL="285750" indent="-285750" algn="just">
                        <a:buFont typeface="Arial" panose="020B0604020202020204" pitchFamily="34" charset="0"/>
                        <a:buChar char="•"/>
                      </a:pPr>
                      <a:r>
                        <a:rPr lang="en-US" sz="1800" b="0" kern="1200" dirty="0">
                          <a:solidFill>
                            <a:schemeClr val="dk1"/>
                          </a:solidFill>
                          <a:effectLst/>
                        </a:rPr>
                        <a:t>method is not completely automatic as it requires a car to be manually parked in the slot to start working.</a:t>
                      </a:r>
                      <a:endParaRPr lang="en-IN" dirty="0"/>
                    </a:p>
                    <a:p>
                      <a:pPr marL="0" indent="0" algn="just">
                        <a:buFont typeface="Arial" panose="020B0604020202020204" pitchFamily="34" charset="0"/>
                        <a:buNone/>
                      </a:pP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920197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2D1704C-B6A7-763E-B922-EAA17884F3E6}"/>
              </a:ext>
            </a:extLst>
          </p:cNvPr>
          <p:cNvGraphicFramePr>
            <a:graphicFrameLocks noGrp="1"/>
          </p:cNvGraphicFramePr>
          <p:nvPr>
            <p:extLst>
              <p:ext uri="{D42A27DB-BD31-4B8C-83A1-F6EECF244321}">
                <p14:modId xmlns:p14="http://schemas.microsoft.com/office/powerpoint/2010/main" val="2830270048"/>
              </p:ext>
            </p:extLst>
          </p:nvPr>
        </p:nvGraphicFramePr>
        <p:xfrm>
          <a:off x="0" y="0"/>
          <a:ext cx="12192000" cy="6858000"/>
        </p:xfrm>
        <a:graphic>
          <a:graphicData uri="http://schemas.openxmlformats.org/drawingml/2006/table">
            <a:tbl>
              <a:tblPr firstRow="1" bandRow="1">
                <a:tableStyleId>{5C22544A-7EE6-4342-B048-85BDC9FD1C3A}</a:tableStyleId>
              </a:tblPr>
              <a:tblGrid>
                <a:gridCol w="715803">
                  <a:extLst>
                    <a:ext uri="{9D8B030D-6E8A-4147-A177-3AD203B41FA5}">
                      <a16:colId xmlns:a16="http://schemas.microsoft.com/office/drawing/2014/main" val="2076140886"/>
                    </a:ext>
                  </a:extLst>
                </a:gridCol>
                <a:gridCol w="1633900">
                  <a:extLst>
                    <a:ext uri="{9D8B030D-6E8A-4147-A177-3AD203B41FA5}">
                      <a16:colId xmlns:a16="http://schemas.microsoft.com/office/drawing/2014/main" val="3617671582"/>
                    </a:ext>
                  </a:extLst>
                </a:gridCol>
                <a:gridCol w="1377144">
                  <a:extLst>
                    <a:ext uri="{9D8B030D-6E8A-4147-A177-3AD203B41FA5}">
                      <a16:colId xmlns:a16="http://schemas.microsoft.com/office/drawing/2014/main" val="189551559"/>
                    </a:ext>
                  </a:extLst>
                </a:gridCol>
                <a:gridCol w="851962">
                  <a:extLst>
                    <a:ext uri="{9D8B030D-6E8A-4147-A177-3AD203B41FA5}">
                      <a16:colId xmlns:a16="http://schemas.microsoft.com/office/drawing/2014/main" val="2466656034"/>
                    </a:ext>
                  </a:extLst>
                </a:gridCol>
                <a:gridCol w="3880909">
                  <a:extLst>
                    <a:ext uri="{9D8B030D-6E8A-4147-A177-3AD203B41FA5}">
                      <a16:colId xmlns:a16="http://schemas.microsoft.com/office/drawing/2014/main" val="72323785"/>
                    </a:ext>
                  </a:extLst>
                </a:gridCol>
                <a:gridCol w="1866141">
                  <a:extLst>
                    <a:ext uri="{9D8B030D-6E8A-4147-A177-3AD203B41FA5}">
                      <a16:colId xmlns:a16="http://schemas.microsoft.com/office/drawing/2014/main" val="930945724"/>
                    </a:ext>
                  </a:extLst>
                </a:gridCol>
                <a:gridCol w="1866141">
                  <a:extLst>
                    <a:ext uri="{9D8B030D-6E8A-4147-A177-3AD203B41FA5}">
                      <a16:colId xmlns:a16="http://schemas.microsoft.com/office/drawing/2014/main" val="2418902886"/>
                    </a:ext>
                  </a:extLst>
                </a:gridCol>
              </a:tblGrid>
              <a:tr h="1008529">
                <a:tc>
                  <a:txBody>
                    <a:bodyPr/>
                    <a:lstStyle/>
                    <a:p>
                      <a:pPr algn="ctr"/>
                      <a:r>
                        <a:rPr lang="en-IN" dirty="0"/>
                        <a:t>SL.NO</a:t>
                      </a:r>
                      <a:endParaRPr lang="en-IN" dirty="0">
                        <a:latin typeface="Times New Roman"/>
                        <a:cs typeface="Times New Roman"/>
                      </a:endParaRPr>
                    </a:p>
                  </a:txBody>
                  <a:tcPr/>
                </a:tc>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PUB YEAR</a:t>
                      </a:r>
                    </a:p>
                  </a:txBody>
                  <a:tcPr/>
                </a:tc>
                <a:tc>
                  <a:txBody>
                    <a:bodyPr/>
                    <a:lstStyle/>
                    <a:p>
                      <a:pPr algn="ctr"/>
                      <a:r>
                        <a:rPr lang="en-IN" dirty="0"/>
                        <a:t>METHODOLOGY</a:t>
                      </a:r>
                    </a:p>
                  </a:txBody>
                  <a:tcPr/>
                </a:tc>
                <a:tc>
                  <a:txBody>
                    <a:bodyPr/>
                    <a:lstStyle/>
                    <a:p>
                      <a:pPr algn="ctr"/>
                      <a:r>
                        <a:rPr lang="en-IN" dirty="0"/>
                        <a:t>ADVANTAGES</a:t>
                      </a:r>
                    </a:p>
                  </a:txBody>
                  <a:tcPr/>
                </a:tc>
                <a:tc>
                  <a:txBody>
                    <a:bodyPr/>
                    <a:lstStyle/>
                    <a:p>
                      <a:pPr algn="ctr"/>
                      <a:r>
                        <a:rPr lang="en-IN" dirty="0"/>
                        <a:t>LIMITATIONS</a:t>
                      </a:r>
                    </a:p>
                  </a:txBody>
                  <a:tcPr/>
                </a:tc>
                <a:extLst>
                  <a:ext uri="{0D108BD9-81ED-4DB2-BD59-A6C34878D82A}">
                    <a16:rowId xmlns:a16="http://schemas.microsoft.com/office/drawing/2014/main" val="3592391041"/>
                  </a:ext>
                </a:extLst>
              </a:tr>
              <a:tr h="5849471">
                <a:tc>
                  <a:txBody>
                    <a:bodyPr/>
                    <a:lstStyle/>
                    <a:p>
                      <a:pPr algn="ctr"/>
                      <a:r>
                        <a:rPr lang="en-IN" dirty="0"/>
                        <a:t>4</a:t>
                      </a:r>
                    </a:p>
                  </a:txBody>
                  <a:tcPr/>
                </a:tc>
                <a:tc>
                  <a:txBody>
                    <a:bodyPr/>
                    <a:lstStyle/>
                    <a:p>
                      <a:pPr algn="just"/>
                      <a:r>
                        <a:rPr lang="en-IN" sz="1800" b="0" kern="1200" dirty="0">
                          <a:solidFill>
                            <a:schemeClr val="dk1"/>
                          </a:solidFill>
                          <a:effectLst/>
                        </a:rPr>
                        <a:t>Method for judging parking status based on yolov2 target detection algorithm</a:t>
                      </a:r>
                      <a:endParaRPr lang="en-IN" b="0" dirty="0">
                        <a:latin typeface="Times New Roman"/>
                        <a:cs typeface="Times New Roman" panose="02020603050405020304" pitchFamily="18" charset="0"/>
                      </a:endParaRPr>
                    </a:p>
                  </a:txBody>
                  <a:tcPr/>
                </a:tc>
                <a:tc>
                  <a:txBody>
                    <a:bodyPr/>
                    <a:lstStyle/>
                    <a:p>
                      <a:pPr algn="just"/>
                      <a:r>
                        <a:rPr lang="en-IN" sz="1800" kern="1200" dirty="0">
                          <a:solidFill>
                            <a:schemeClr val="dk1"/>
                          </a:solidFill>
                          <a:effectLst/>
                        </a:rPr>
                        <a:t>Hanbo </a:t>
                      </a:r>
                      <a:r>
                        <a:rPr lang="en-IN" sz="1800" kern="1200" err="1">
                          <a:solidFill>
                            <a:schemeClr val="dk1"/>
                          </a:solidFill>
                          <a:effectLst/>
                        </a:rPr>
                        <a:t>Zhoua</a:t>
                      </a:r>
                      <a:r>
                        <a:rPr lang="en-IN" sz="1800" kern="1200" dirty="0">
                          <a:solidFill>
                            <a:schemeClr val="dk1"/>
                          </a:solidFill>
                          <a:effectLst/>
                        </a:rPr>
                        <a:t> and </a:t>
                      </a:r>
                      <a:endParaRPr lang="en-IN" dirty="0"/>
                    </a:p>
                    <a:p>
                      <a:pPr lvl="0" algn="just">
                        <a:buNone/>
                      </a:pPr>
                      <a:r>
                        <a:rPr lang="en-IN" sz="1800" kern="1200" dirty="0">
                          <a:solidFill>
                            <a:schemeClr val="dk1"/>
                          </a:solidFill>
                          <a:effectLst/>
                        </a:rPr>
                        <a:t>Wei </a:t>
                      </a:r>
                      <a:r>
                        <a:rPr lang="en-IN" sz="1800" kern="1200" dirty="0" err="1">
                          <a:solidFill>
                            <a:schemeClr val="dk1"/>
                          </a:solidFill>
                          <a:effectLst/>
                        </a:rPr>
                        <a:t>Xiangc</a:t>
                      </a:r>
                      <a:r>
                        <a:rPr lang="en-IN" sz="1800" kern="1200" dirty="0">
                          <a:solidFill>
                            <a:schemeClr val="dk1"/>
                          </a:solidFill>
                          <a:effectLst/>
                        </a:rPr>
                        <a:t> </a:t>
                      </a:r>
                      <a:endParaRPr lang="en-IN">
                        <a:latin typeface="Times New Roman"/>
                        <a:cs typeface="Times New Roman"/>
                      </a:endParaRPr>
                    </a:p>
                  </a:txBody>
                  <a:tcPr/>
                </a:tc>
                <a:tc>
                  <a:txBody>
                    <a:bodyPr/>
                    <a:lstStyle/>
                    <a:p>
                      <a:pPr algn="ctr"/>
                      <a:r>
                        <a:rPr lang="en-IN" dirty="0"/>
                        <a:t>2022</a:t>
                      </a:r>
                    </a:p>
                  </a:txBody>
                  <a:tcPr/>
                </a:tc>
                <a:tc>
                  <a:txBody>
                    <a:bodyPr/>
                    <a:lstStyle/>
                    <a:p>
                      <a:pPr marL="0" indent="0" algn="just">
                        <a:buFont typeface="Arial" panose="020B0604020202020204" pitchFamily="34" charset="0"/>
                        <a:buNone/>
                      </a:pPr>
                      <a:r>
                        <a:rPr lang="en-US" sz="1800" b="1" kern="1200" dirty="0">
                          <a:solidFill>
                            <a:schemeClr val="dk1"/>
                          </a:solidFill>
                          <a:effectLst/>
                        </a:rPr>
                        <a:t>Utilization of Public Parking Space Resources: </a:t>
                      </a:r>
                    </a:p>
                    <a:p>
                      <a:pPr marL="285750" indent="-285750" algn="just">
                        <a:buFont typeface="Arial" panose="020B0604020202020204" pitchFamily="34" charset="0"/>
                        <a:buChar char="•"/>
                      </a:pPr>
                      <a:r>
                        <a:rPr lang="en-US" sz="1800" b="0" kern="1200" dirty="0">
                          <a:solidFill>
                            <a:schemeClr val="dk1"/>
                          </a:solidFill>
                          <a:effectLst/>
                        </a:rPr>
                        <a:t> Utilize public parking space resources on the roadside.</a:t>
                      </a:r>
                    </a:p>
                    <a:p>
                      <a:pPr marL="0" lvl="0" indent="0" algn="just">
                        <a:buFont typeface="Arial" panose="020B0604020202020204" pitchFamily="34" charset="0"/>
                        <a:buNone/>
                      </a:pPr>
                      <a:r>
                        <a:rPr lang="en-US" sz="1800" b="1" kern="1200" dirty="0">
                          <a:solidFill>
                            <a:schemeClr val="dk1"/>
                          </a:solidFill>
                          <a:effectLst/>
                        </a:rPr>
                        <a:t>Data Augmentation:</a:t>
                      </a:r>
                      <a:endParaRPr lang="en-US" sz="1800" b="0" kern="1200" dirty="0">
                        <a:solidFill>
                          <a:schemeClr val="dk1"/>
                        </a:solidFill>
                        <a:effectLst/>
                      </a:endParaRPr>
                    </a:p>
                    <a:p>
                      <a:pPr marL="285750" indent="-285750" algn="just">
                        <a:buFont typeface="Arial" panose="020B0604020202020204" pitchFamily="34" charset="0"/>
                        <a:buChar char="•"/>
                      </a:pPr>
                      <a:r>
                        <a:rPr lang="en-US" sz="1800" b="0" kern="1200" dirty="0">
                          <a:solidFill>
                            <a:schemeClr val="dk1"/>
                          </a:solidFill>
                          <a:effectLst/>
                        </a:rPr>
                        <a:t> To get accuracy of dataset flipping, zooming of the dataset is done.</a:t>
                      </a:r>
                    </a:p>
                    <a:p>
                      <a:pPr marL="0" indent="0" algn="just">
                        <a:buFont typeface="Arial" panose="020B0604020202020204" pitchFamily="34" charset="0"/>
                        <a:buNone/>
                      </a:pPr>
                      <a:r>
                        <a:rPr lang="en-US" sz="1800" b="1" kern="1200" dirty="0">
                          <a:solidFill>
                            <a:schemeClr val="dk1"/>
                          </a:solidFill>
                          <a:effectLst/>
                        </a:rPr>
                        <a:t>Machine Vision-Based Approach: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dirty="0">
                          <a:solidFill>
                            <a:schemeClr val="dk1"/>
                          </a:solidFill>
                          <a:effectLst/>
                        </a:rPr>
                        <a:t>The method proposes the use of a machine vision-based approach for distinguishing parking spaces.</a:t>
                      </a:r>
                    </a:p>
                    <a:p>
                      <a:pPr marL="0" indent="0" algn="just">
                        <a:buFont typeface="Arial" panose="020B0604020202020204" pitchFamily="34" charset="0"/>
                        <a:buNone/>
                      </a:pPr>
                      <a:endParaRPr lang="en-US" sz="1800" b="0" kern="1200" dirty="0">
                        <a:solidFill>
                          <a:schemeClr val="dk1"/>
                        </a:solidFill>
                        <a:effectLst/>
                      </a:endParaRPr>
                    </a:p>
                    <a:p>
                      <a:pPr marL="285750" indent="-285750" algn="just">
                        <a:buFont typeface="Arial" panose="020B0604020202020204" pitchFamily="34" charset="0"/>
                        <a:buChar char="•"/>
                      </a:pPr>
                      <a:endParaRPr lang="en-IN" dirty="0"/>
                    </a:p>
                  </a:txBody>
                  <a:tcPr/>
                </a:tc>
                <a:tc>
                  <a:txBody>
                    <a:bodyPr/>
                    <a:lstStyle/>
                    <a:p>
                      <a:pPr marL="285750" indent="-285750" algn="just">
                        <a:buFont typeface="Arial" panose="020B0604020202020204" pitchFamily="34" charset="0"/>
                        <a:buChar char="•"/>
                      </a:pPr>
                      <a:r>
                        <a:rPr lang="en-IN" sz="1800" b="0" kern="1200" dirty="0">
                          <a:solidFill>
                            <a:schemeClr val="dk1"/>
                          </a:solidFill>
                          <a:effectLst/>
                        </a:rPr>
                        <a:t>Real-time Parking Information:</a:t>
                      </a:r>
                    </a:p>
                    <a:p>
                      <a:pPr marL="285750" indent="-285750" algn="just">
                        <a:buFont typeface="Arial" panose="020B0604020202020204" pitchFamily="34" charset="0"/>
                        <a:buChar char="•"/>
                      </a:pPr>
                      <a:r>
                        <a:rPr lang="en-IN" sz="1800" b="0" kern="1200" dirty="0">
                          <a:solidFill>
                            <a:schemeClr val="dk1"/>
                          </a:solidFill>
                          <a:effectLst/>
                        </a:rPr>
                        <a:t>Convenience and Efficiency</a:t>
                      </a:r>
                    </a:p>
                    <a:p>
                      <a:pPr marL="0" indent="0" algn="just">
                        <a:buFont typeface="Arial" panose="020B0604020202020204" pitchFamily="34" charset="0"/>
                        <a:buNone/>
                      </a:pPr>
                      <a:r>
                        <a:rPr lang="en-IN" sz="1800" b="0" kern="1200" dirty="0">
                          <a:solidFill>
                            <a:schemeClr val="dk1"/>
                          </a:solidFill>
                          <a:effectLst/>
                        </a:rPr>
                        <a:t>Environmental</a:t>
                      </a:r>
                      <a:endParaRPr lang="en-IN" sz="1800" b="0" i="0" kern="1200" dirty="0">
                        <a:solidFill>
                          <a:schemeClr val="dk1"/>
                        </a:solidFill>
                        <a:effectLst/>
                        <a:latin typeface="Times New Roman"/>
                        <a:ea typeface="+mn-ea"/>
                        <a:cs typeface="+mn-cs"/>
                      </a:endParaRPr>
                    </a:p>
                  </a:txBody>
                  <a:tcPr/>
                </a:tc>
                <a:tc>
                  <a:txBody>
                    <a:bodyPr/>
                    <a:lstStyle/>
                    <a:p>
                      <a:pPr marL="171450" lvl="0" indent="-171450" algn="just">
                        <a:buFont typeface="Arial"/>
                        <a:buChar char="•"/>
                      </a:pPr>
                      <a:r>
                        <a:rPr lang="en-IN" sz="1800" b="0" u="none" strike="noStrike" noProof="0" dirty="0" err="1">
                          <a:solidFill>
                            <a:srgbClr val="0F172A"/>
                          </a:solidFill>
                        </a:rPr>
                        <a:t>Accessibiliy</a:t>
                      </a:r>
                      <a:r>
                        <a:rPr lang="en-IN" sz="1800" b="0" u="none" strike="noStrike" noProof="0" dirty="0">
                          <a:solidFill>
                            <a:srgbClr val="0F172A"/>
                          </a:solidFill>
                        </a:rPr>
                        <a:t> , equity and security.</a:t>
                      </a:r>
                      <a:endParaRPr lang="en-US" sz="1800" dirty="0">
                        <a:latin typeface="Times New Roman"/>
                      </a:endParaRPr>
                    </a:p>
                  </a:txBody>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4042473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B586E0B-2B79-2C5E-0FC6-F810E1EF193D}"/>
              </a:ext>
            </a:extLst>
          </p:cNvPr>
          <p:cNvGraphicFramePr>
            <a:graphicFrameLocks noGrp="1"/>
          </p:cNvGraphicFramePr>
          <p:nvPr>
            <p:extLst>
              <p:ext uri="{D42A27DB-BD31-4B8C-83A1-F6EECF244321}">
                <p14:modId xmlns:p14="http://schemas.microsoft.com/office/powerpoint/2010/main" val="2118173042"/>
              </p:ext>
            </p:extLst>
          </p:nvPr>
        </p:nvGraphicFramePr>
        <p:xfrm>
          <a:off x="0" y="0"/>
          <a:ext cx="12191998" cy="6858000"/>
        </p:xfrm>
        <a:graphic>
          <a:graphicData uri="http://schemas.openxmlformats.org/drawingml/2006/table">
            <a:tbl>
              <a:tblPr firstRow="1" bandRow="1">
                <a:tableStyleId>{5C22544A-7EE6-4342-B048-85BDC9FD1C3A}</a:tableStyleId>
              </a:tblPr>
              <a:tblGrid>
                <a:gridCol w="715803">
                  <a:extLst>
                    <a:ext uri="{9D8B030D-6E8A-4147-A177-3AD203B41FA5}">
                      <a16:colId xmlns:a16="http://schemas.microsoft.com/office/drawing/2014/main" val="2076140886"/>
                    </a:ext>
                  </a:extLst>
                </a:gridCol>
                <a:gridCol w="1633900">
                  <a:extLst>
                    <a:ext uri="{9D8B030D-6E8A-4147-A177-3AD203B41FA5}">
                      <a16:colId xmlns:a16="http://schemas.microsoft.com/office/drawing/2014/main" val="3617671582"/>
                    </a:ext>
                  </a:extLst>
                </a:gridCol>
                <a:gridCol w="1377143">
                  <a:extLst>
                    <a:ext uri="{9D8B030D-6E8A-4147-A177-3AD203B41FA5}">
                      <a16:colId xmlns:a16="http://schemas.microsoft.com/office/drawing/2014/main" val="189551559"/>
                    </a:ext>
                  </a:extLst>
                </a:gridCol>
                <a:gridCol w="851962">
                  <a:extLst>
                    <a:ext uri="{9D8B030D-6E8A-4147-A177-3AD203B41FA5}">
                      <a16:colId xmlns:a16="http://schemas.microsoft.com/office/drawing/2014/main" val="2466656034"/>
                    </a:ext>
                  </a:extLst>
                </a:gridCol>
                <a:gridCol w="3880908">
                  <a:extLst>
                    <a:ext uri="{9D8B030D-6E8A-4147-A177-3AD203B41FA5}">
                      <a16:colId xmlns:a16="http://schemas.microsoft.com/office/drawing/2014/main" val="72323785"/>
                    </a:ext>
                  </a:extLst>
                </a:gridCol>
                <a:gridCol w="1866141">
                  <a:extLst>
                    <a:ext uri="{9D8B030D-6E8A-4147-A177-3AD203B41FA5}">
                      <a16:colId xmlns:a16="http://schemas.microsoft.com/office/drawing/2014/main" val="930945724"/>
                    </a:ext>
                  </a:extLst>
                </a:gridCol>
                <a:gridCol w="1866141">
                  <a:extLst>
                    <a:ext uri="{9D8B030D-6E8A-4147-A177-3AD203B41FA5}">
                      <a16:colId xmlns:a16="http://schemas.microsoft.com/office/drawing/2014/main" val="2418902886"/>
                    </a:ext>
                  </a:extLst>
                </a:gridCol>
              </a:tblGrid>
              <a:tr h="1009022">
                <a:tc>
                  <a:txBody>
                    <a:bodyPr/>
                    <a:lstStyle/>
                    <a:p>
                      <a:pPr algn="ctr"/>
                      <a:r>
                        <a:rPr lang="en-IN" dirty="0"/>
                        <a:t>SL.NO</a:t>
                      </a:r>
                      <a:endParaRPr lang="en-IN" dirty="0">
                        <a:latin typeface="Times New Roman"/>
                        <a:cs typeface="Times New Roman"/>
                      </a:endParaRPr>
                    </a:p>
                  </a:txBody>
                  <a:tcPr/>
                </a:tc>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PUB YEAR</a:t>
                      </a:r>
                    </a:p>
                  </a:txBody>
                  <a:tcPr/>
                </a:tc>
                <a:tc>
                  <a:txBody>
                    <a:bodyPr/>
                    <a:lstStyle/>
                    <a:p>
                      <a:pPr algn="ctr"/>
                      <a:r>
                        <a:rPr lang="en-IN" dirty="0"/>
                        <a:t>METHODOLOGY</a:t>
                      </a:r>
                    </a:p>
                  </a:txBody>
                  <a:tcPr/>
                </a:tc>
                <a:tc>
                  <a:txBody>
                    <a:bodyPr/>
                    <a:lstStyle/>
                    <a:p>
                      <a:pPr algn="ctr"/>
                      <a:r>
                        <a:rPr lang="en-IN" sz="1800" b="1" dirty="0"/>
                        <a:t>ADVANTAGES</a:t>
                      </a:r>
                      <a:endParaRPr lang="en-IN" sz="1800" b="1" dirty="0">
                        <a:latin typeface="+mn-lt"/>
                        <a:cs typeface="Times New Roman"/>
                      </a:endParaRPr>
                    </a:p>
                  </a:txBody>
                  <a:tcPr/>
                </a:tc>
                <a:tc>
                  <a:txBody>
                    <a:bodyPr/>
                    <a:lstStyle/>
                    <a:p>
                      <a:pPr algn="ctr"/>
                      <a:r>
                        <a:rPr lang="en-IN" dirty="0"/>
                        <a:t>LIMITATIONS</a:t>
                      </a:r>
                    </a:p>
                  </a:txBody>
                  <a:tcPr/>
                </a:tc>
                <a:extLst>
                  <a:ext uri="{0D108BD9-81ED-4DB2-BD59-A6C34878D82A}">
                    <a16:rowId xmlns:a16="http://schemas.microsoft.com/office/drawing/2014/main" val="3592391041"/>
                  </a:ext>
                </a:extLst>
              </a:tr>
              <a:tr h="5848978">
                <a:tc>
                  <a:txBody>
                    <a:bodyPr/>
                    <a:lstStyle/>
                    <a:p>
                      <a:pPr algn="ctr"/>
                      <a:r>
                        <a:rPr lang="en-IN" dirty="0"/>
                        <a:t>5</a:t>
                      </a:r>
                    </a:p>
                  </a:txBody>
                  <a:tcPr/>
                </a:tc>
                <a:tc>
                  <a:txBody>
                    <a:bodyPr/>
                    <a:lstStyle/>
                    <a:p>
                      <a:pPr marL="6350" indent="-6350" algn="just">
                        <a:lnSpc>
                          <a:spcPct val="107000"/>
                        </a:lnSpc>
                        <a:spcAft>
                          <a:spcPts val="75"/>
                        </a:spcAft>
                      </a:pPr>
                      <a:r>
                        <a:rPr lang="en-IN" sz="1800" b="0" dirty="0">
                          <a:solidFill>
                            <a:srgbClr val="000000"/>
                          </a:solidFill>
                          <a:effectLst/>
                        </a:rPr>
                        <a:t>A Review: Object Detection Models.</a:t>
                      </a:r>
                    </a:p>
                    <a:p>
                      <a:pPr marL="6350" indent="-6350" algn="l">
                        <a:lnSpc>
                          <a:spcPct val="103000"/>
                        </a:lnSpc>
                        <a:spcAft>
                          <a:spcPts val="75"/>
                        </a:spcAft>
                      </a:pPr>
                      <a:endParaRPr lang="en-IN" sz="1800" dirty="0">
                        <a:solidFill>
                          <a:srgbClr val="000000"/>
                        </a:solidFill>
                        <a:effectLst/>
                        <a:latin typeface="Times New Roman"/>
                        <a:ea typeface="Times New Roman" panose="02020603050405020304" pitchFamily="18" charset="0"/>
                        <a:cs typeface="Times New Roman"/>
                      </a:endParaRPr>
                    </a:p>
                  </a:txBody>
                  <a:tcPr marL="68580" marR="68580" marT="0" marB="0"/>
                </a:tc>
                <a:tc>
                  <a:txBody>
                    <a:bodyPr/>
                    <a:lstStyle/>
                    <a:p>
                      <a:pPr algn="just"/>
                      <a:r>
                        <a:rPr lang="en-PH" sz="1800" kern="1200" dirty="0">
                          <a:solidFill>
                            <a:schemeClr val="dk1"/>
                          </a:solidFill>
                          <a:effectLst/>
                        </a:rPr>
                        <a:t>AAKASH K. SHETTY, ISHANI SAHA </a:t>
                      </a:r>
                      <a:r>
                        <a:rPr lang="en-PH" sz="1800" kern="1200" dirty="0" err="1">
                          <a:solidFill>
                            <a:schemeClr val="dk1"/>
                          </a:solidFill>
                          <a:effectLst/>
                        </a:rPr>
                        <a:t>et.,at</a:t>
                      </a:r>
                      <a:r>
                        <a:rPr lang="en-PH" sz="1800" kern="1200" dirty="0">
                          <a:solidFill>
                            <a:schemeClr val="dk1"/>
                          </a:solidFill>
                          <a:effectLst/>
                        </a:rPr>
                        <a:t>.</a:t>
                      </a:r>
                      <a:endParaRPr lang="en-IN" dirty="0">
                        <a:latin typeface="Times New Roman"/>
                        <a:cs typeface="Times New Roman"/>
                      </a:endParaRPr>
                    </a:p>
                  </a:txBody>
                  <a:tcPr/>
                </a:tc>
                <a:tc>
                  <a:txBody>
                    <a:bodyPr/>
                    <a:lstStyle/>
                    <a:p>
                      <a:pPr algn="ctr"/>
                      <a:r>
                        <a:rPr lang="en-IN" dirty="0"/>
                        <a:t>2021</a:t>
                      </a:r>
                    </a:p>
                  </a:txBody>
                  <a:tcPr/>
                </a:tc>
                <a:tc>
                  <a:txBody>
                    <a:bodyPr/>
                    <a:lstStyle/>
                    <a:p>
                      <a:pPr marL="0" marR="0" lvl="0" indent="0" algn="just" rtl="0" eaLnBrk="1" fontAlgn="auto" latinLnBrk="0" hangingPunct="1">
                        <a:lnSpc>
                          <a:spcPct val="100000"/>
                        </a:lnSpc>
                        <a:spcBef>
                          <a:spcPts val="0"/>
                        </a:spcBef>
                        <a:spcAft>
                          <a:spcPts val="0"/>
                        </a:spcAft>
                        <a:buClrTx/>
                        <a:buSzTx/>
                        <a:buFont typeface="Arial" panose="020B0604020202020204" pitchFamily="34" charset="0"/>
                        <a:buNone/>
                      </a:pPr>
                      <a:r>
                        <a:rPr lang="en-US" sz="1800" b="1" kern="1200" dirty="0">
                          <a:solidFill>
                            <a:schemeClr val="dk1"/>
                          </a:solidFill>
                          <a:effectLst/>
                        </a:rPr>
                        <a:t>Data Augmentation</a:t>
                      </a:r>
                      <a:r>
                        <a:rPr lang="en-US" sz="1800" b="0" kern="1200" dirty="0">
                          <a:solidFill>
                            <a:schemeClr val="dk1"/>
                          </a:solidFill>
                          <a:effectLst/>
                        </a:rPr>
                        <a:t>: </a:t>
                      </a:r>
                    </a:p>
                    <a:p>
                      <a:pPr marL="285750" marR="0" lvl="0" indent="-285750" algn="just" rtl="0" eaLnBrk="1" fontAlgn="auto" latinLnBrk="0" hangingPunct="1">
                        <a:lnSpc>
                          <a:spcPct val="100000"/>
                        </a:lnSpc>
                        <a:spcBef>
                          <a:spcPts val="0"/>
                        </a:spcBef>
                        <a:spcAft>
                          <a:spcPts val="0"/>
                        </a:spcAft>
                        <a:buClrTx/>
                        <a:buSzTx/>
                        <a:buFont typeface="Arial" panose="020B0604020202020204" pitchFamily="34" charset="0"/>
                        <a:buChar char="•"/>
                      </a:pPr>
                      <a:r>
                        <a:rPr lang="en-US" sz="1800" b="0" kern="1200" dirty="0">
                          <a:solidFill>
                            <a:schemeClr val="dk1"/>
                          </a:solidFill>
                          <a:effectLst/>
                        </a:rPr>
                        <a:t> increase image variability and robustness</a:t>
                      </a:r>
                    </a:p>
                    <a:p>
                      <a:pPr marL="0" marR="0" lvl="0" indent="0" algn="just" rtl="0" eaLnBrk="1" fontAlgn="auto" latinLnBrk="0" hangingPunct="1">
                        <a:lnSpc>
                          <a:spcPct val="100000"/>
                        </a:lnSpc>
                        <a:spcBef>
                          <a:spcPts val="0"/>
                        </a:spcBef>
                        <a:spcAft>
                          <a:spcPts val="0"/>
                        </a:spcAft>
                        <a:buClrTx/>
                        <a:buSzTx/>
                        <a:buFont typeface="Arial" panose="020B0604020202020204" pitchFamily="34" charset="0"/>
                        <a:buNone/>
                      </a:pPr>
                      <a:r>
                        <a:rPr lang="en-US" sz="1800" b="1" kern="1200" dirty="0">
                          <a:solidFill>
                            <a:schemeClr val="dk1"/>
                          </a:solidFill>
                          <a:effectLst/>
                        </a:rPr>
                        <a:t>Training Optimization</a:t>
                      </a:r>
                      <a:r>
                        <a:rPr lang="en-US" sz="1800" b="0" kern="1200" dirty="0">
                          <a:solidFill>
                            <a:schemeClr val="dk1"/>
                          </a:solidFill>
                          <a:effectLst/>
                        </a:rPr>
                        <a:t>: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dirty="0">
                          <a:solidFill>
                            <a:schemeClr val="dk1"/>
                          </a:solidFill>
                          <a:effectLst/>
                        </a:rPr>
                        <a:t>achieve greater precision without increasing the cost of inference.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kern="1200" dirty="0">
                          <a:solidFill>
                            <a:schemeClr val="dk1"/>
                          </a:solidFill>
                          <a:effectLst/>
                        </a:rPr>
                        <a:t>Anchor Boxes</a:t>
                      </a:r>
                      <a:r>
                        <a:rPr lang="en-US" sz="1800" b="0" kern="1200" dirty="0">
                          <a:solidFill>
                            <a:schemeClr val="dk1"/>
                          </a:solidFill>
                          <a:effectLst/>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dirty="0">
                          <a:solidFill>
                            <a:schemeClr val="dk1"/>
                          </a:solidFill>
                          <a:effectLst/>
                        </a:rPr>
                        <a:t> Use of anchor boxes for multi-class identification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kern="1200" dirty="0">
                          <a:solidFill>
                            <a:schemeClr val="dk1"/>
                          </a:solidFill>
                          <a:effectLst/>
                        </a:rPr>
                        <a:t>Dimension Clustering</a:t>
                      </a:r>
                      <a:r>
                        <a:rPr lang="en-US" sz="1800" b="0" kern="1200" dirty="0">
                          <a:solidFill>
                            <a:schemeClr val="dk1"/>
                          </a:solidFill>
                          <a:effectLst/>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200" dirty="0">
                          <a:solidFill>
                            <a:schemeClr val="dk1"/>
                          </a:solidFill>
                          <a:effectLst/>
                        </a:rPr>
                        <a:t>Achievement of dimension clustering using k-means clustering for constructing bounding boxes.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IN" dirty="0">
                        <a:latin typeface="Times New Roman"/>
                      </a:endParaRPr>
                    </a:p>
                  </a:txBody>
                  <a:tcPr/>
                </a:tc>
                <a:tc>
                  <a:txBody>
                    <a:bodyPr/>
                    <a:lstStyle/>
                    <a:p>
                      <a:pPr marL="285750" indent="-285750" algn="just">
                        <a:buFont typeface="Arial" panose="020B0604020202020204" pitchFamily="34" charset="0"/>
                        <a:buChar char="•"/>
                      </a:pPr>
                      <a:r>
                        <a:rPr lang="en-IN" sz="1800" b="0" kern="1200" dirty="0">
                          <a:solidFill>
                            <a:schemeClr val="dk1"/>
                          </a:solidFill>
                          <a:effectLst/>
                        </a:rPr>
                        <a:t>High-Resolution Classifier</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b="0" kern="1200" dirty="0">
                          <a:solidFill>
                            <a:schemeClr val="dk1"/>
                          </a:solidFill>
                          <a:effectLst/>
                        </a:rPr>
                        <a:t>Improved Efficiency</a:t>
                      </a:r>
                      <a:endParaRPr lang="en-IN" dirty="0"/>
                    </a:p>
                    <a:p>
                      <a:pPr algn="just"/>
                      <a:endParaRPr lang="en-IN">
                        <a:latin typeface="Times New Roman"/>
                      </a:endParaRPr>
                    </a:p>
                  </a:txBody>
                  <a:tcPr/>
                </a:tc>
                <a:tc>
                  <a:txBody>
                    <a:bodyPr/>
                    <a:lstStyle/>
                    <a:p>
                      <a:pPr marL="285750" indent="-285750" algn="just">
                        <a:buFont typeface="Arial" panose="020B0604020202020204" pitchFamily="34" charset="0"/>
                        <a:buChar char="•"/>
                      </a:pPr>
                      <a:r>
                        <a:rPr lang="en-PH" sz="1800" kern="1200" dirty="0">
                          <a:solidFill>
                            <a:schemeClr val="dk1"/>
                          </a:solidFill>
                          <a:effectLst/>
                        </a:rPr>
                        <a:t>Cannot be used for real-time </a:t>
                      </a:r>
                    </a:p>
                    <a:p>
                      <a:pPr marL="285750" indent="-285750" algn="just">
                        <a:buFont typeface="Arial" panose="020B0604020202020204" pitchFamily="34" charset="0"/>
                        <a:buChar char="•"/>
                      </a:pPr>
                      <a:r>
                        <a:rPr lang="en-IN" sz="1800" kern="1200" dirty="0">
                          <a:solidFill>
                            <a:schemeClr val="dk1"/>
                          </a:solidFill>
                          <a:effectLst/>
                        </a:rPr>
                        <a:t>Training, it  requires lot of time as multiple stages are involved</a:t>
                      </a:r>
                      <a:endParaRPr lang="en-IN" dirty="0">
                        <a:latin typeface="Times New Roman"/>
                        <a:cs typeface="Times New Roman"/>
                      </a:endParaRPr>
                    </a:p>
                  </a:txBody>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2687583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2280444-62AA-DAF7-8263-6C4F4CF7A8F9}"/>
              </a:ext>
            </a:extLst>
          </p:cNvPr>
          <p:cNvGraphicFramePr>
            <a:graphicFrameLocks noGrp="1"/>
          </p:cNvGraphicFramePr>
          <p:nvPr>
            <p:extLst>
              <p:ext uri="{D42A27DB-BD31-4B8C-83A1-F6EECF244321}">
                <p14:modId xmlns:p14="http://schemas.microsoft.com/office/powerpoint/2010/main" val="2657356890"/>
              </p:ext>
            </p:extLst>
          </p:nvPr>
        </p:nvGraphicFramePr>
        <p:xfrm>
          <a:off x="0" y="0"/>
          <a:ext cx="12192000" cy="6858000"/>
        </p:xfrm>
        <a:graphic>
          <a:graphicData uri="http://schemas.openxmlformats.org/drawingml/2006/table">
            <a:tbl>
              <a:tblPr firstRow="1" bandRow="1">
                <a:tableStyleId>{5C22544A-7EE6-4342-B048-85BDC9FD1C3A}</a:tableStyleId>
              </a:tblPr>
              <a:tblGrid>
                <a:gridCol w="715803">
                  <a:extLst>
                    <a:ext uri="{9D8B030D-6E8A-4147-A177-3AD203B41FA5}">
                      <a16:colId xmlns:a16="http://schemas.microsoft.com/office/drawing/2014/main" val="2076140886"/>
                    </a:ext>
                  </a:extLst>
                </a:gridCol>
                <a:gridCol w="1633900">
                  <a:extLst>
                    <a:ext uri="{9D8B030D-6E8A-4147-A177-3AD203B41FA5}">
                      <a16:colId xmlns:a16="http://schemas.microsoft.com/office/drawing/2014/main" val="3617671582"/>
                    </a:ext>
                  </a:extLst>
                </a:gridCol>
                <a:gridCol w="1377144">
                  <a:extLst>
                    <a:ext uri="{9D8B030D-6E8A-4147-A177-3AD203B41FA5}">
                      <a16:colId xmlns:a16="http://schemas.microsoft.com/office/drawing/2014/main" val="189551559"/>
                    </a:ext>
                  </a:extLst>
                </a:gridCol>
                <a:gridCol w="851962">
                  <a:extLst>
                    <a:ext uri="{9D8B030D-6E8A-4147-A177-3AD203B41FA5}">
                      <a16:colId xmlns:a16="http://schemas.microsoft.com/office/drawing/2014/main" val="2466656034"/>
                    </a:ext>
                  </a:extLst>
                </a:gridCol>
                <a:gridCol w="3880909">
                  <a:extLst>
                    <a:ext uri="{9D8B030D-6E8A-4147-A177-3AD203B41FA5}">
                      <a16:colId xmlns:a16="http://schemas.microsoft.com/office/drawing/2014/main" val="72323785"/>
                    </a:ext>
                  </a:extLst>
                </a:gridCol>
                <a:gridCol w="1866141">
                  <a:extLst>
                    <a:ext uri="{9D8B030D-6E8A-4147-A177-3AD203B41FA5}">
                      <a16:colId xmlns:a16="http://schemas.microsoft.com/office/drawing/2014/main" val="930945724"/>
                    </a:ext>
                  </a:extLst>
                </a:gridCol>
                <a:gridCol w="1866141">
                  <a:extLst>
                    <a:ext uri="{9D8B030D-6E8A-4147-A177-3AD203B41FA5}">
                      <a16:colId xmlns:a16="http://schemas.microsoft.com/office/drawing/2014/main" val="2418902886"/>
                    </a:ext>
                  </a:extLst>
                </a:gridCol>
              </a:tblGrid>
              <a:tr h="999710">
                <a:tc>
                  <a:txBody>
                    <a:bodyPr/>
                    <a:lstStyle/>
                    <a:p>
                      <a:pPr algn="ctr"/>
                      <a:r>
                        <a:rPr lang="en-IN" dirty="0"/>
                        <a:t>SL.NO</a:t>
                      </a:r>
                      <a:endParaRPr lang="en-IN" dirty="0">
                        <a:latin typeface="Times New Roman"/>
                        <a:cs typeface="Times New Roman"/>
                      </a:endParaRPr>
                    </a:p>
                  </a:txBody>
                  <a:tcPr/>
                </a:tc>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PUB YEAR</a:t>
                      </a:r>
                    </a:p>
                  </a:txBody>
                  <a:tcPr/>
                </a:tc>
                <a:tc>
                  <a:txBody>
                    <a:bodyPr/>
                    <a:lstStyle/>
                    <a:p>
                      <a:pPr algn="ctr"/>
                      <a:r>
                        <a:rPr lang="en-IN" dirty="0"/>
                        <a:t>METHODOLOGY</a:t>
                      </a:r>
                      <a:endParaRPr lang="en-IN" dirty="0">
                        <a:latin typeface="Times New Roman"/>
                        <a:cs typeface="Times New Roman"/>
                      </a:endParaRPr>
                    </a:p>
                  </a:txBody>
                  <a:tcPr/>
                </a:tc>
                <a:tc>
                  <a:txBody>
                    <a:bodyPr/>
                    <a:lstStyle/>
                    <a:p>
                      <a:pPr algn="ctr"/>
                      <a:r>
                        <a:rPr lang="en-US" dirty="0"/>
                        <a:t>ADVANTAGES</a:t>
                      </a:r>
                      <a:endParaRPr lang="en-IN" dirty="0">
                        <a:latin typeface="+mn-lt"/>
                        <a:cs typeface="Times New Roman"/>
                      </a:endParaRPr>
                    </a:p>
                  </a:txBody>
                  <a:tcPr/>
                </a:tc>
                <a:tc>
                  <a:txBody>
                    <a:bodyPr/>
                    <a:lstStyle/>
                    <a:p>
                      <a:pPr algn="ctr"/>
                      <a:r>
                        <a:rPr lang="en-US" dirty="0"/>
                        <a:t>LIMITATIONS</a:t>
                      </a:r>
                    </a:p>
                    <a:p>
                      <a:pPr algn="ctr"/>
                      <a:endParaRPr lang="en-IN"/>
                    </a:p>
                  </a:txBody>
                  <a:tcPr/>
                </a:tc>
                <a:extLst>
                  <a:ext uri="{0D108BD9-81ED-4DB2-BD59-A6C34878D82A}">
                    <a16:rowId xmlns:a16="http://schemas.microsoft.com/office/drawing/2014/main" val="3592391041"/>
                  </a:ext>
                </a:extLst>
              </a:tr>
              <a:tr h="5858290">
                <a:tc>
                  <a:txBody>
                    <a:bodyPr/>
                    <a:lstStyle/>
                    <a:p>
                      <a:pPr algn="ctr"/>
                      <a:r>
                        <a:rPr lang="en-US" dirty="0"/>
                        <a:t>6</a:t>
                      </a:r>
                      <a:endParaRPr lang="en-IN" dirty="0"/>
                    </a:p>
                  </a:txBody>
                  <a:tcPr/>
                </a:tc>
                <a:tc>
                  <a:txBody>
                    <a:bodyPr/>
                    <a:lstStyle/>
                    <a:p>
                      <a:pPr algn="just"/>
                      <a:r>
                        <a:rPr lang="en-US" dirty="0"/>
                        <a:t>Vehicle and Parking Space Detection Based on Improved YOLO Network Model </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err="1"/>
                        <a:t>Xiangwu</a:t>
                      </a:r>
                      <a:r>
                        <a:rPr lang="en-IN" dirty="0"/>
                        <a:t> Ding , </a:t>
                      </a:r>
                      <a:r>
                        <a:rPr lang="en-IN" dirty="0" err="1"/>
                        <a:t>Ruidi</a:t>
                      </a:r>
                      <a:r>
                        <a:rPr lang="en-IN" dirty="0"/>
                        <a:t> Yang</a:t>
                      </a:r>
                      <a:endParaRPr lang="en-IN" dirty="0">
                        <a:latin typeface="Times New Roman"/>
                      </a:endParaRPr>
                    </a:p>
                  </a:txBody>
                  <a:tcPr/>
                </a:tc>
                <a:tc>
                  <a:txBody>
                    <a:bodyPr/>
                    <a:lstStyle/>
                    <a:p>
                      <a:pPr algn="ctr"/>
                      <a:r>
                        <a:rPr lang="en-US" dirty="0"/>
                        <a:t>2020</a:t>
                      </a:r>
                      <a:endParaRPr lang="en-IN" dirty="0">
                        <a:latin typeface="Times New Roman"/>
                      </a:endParaRPr>
                    </a:p>
                  </a:txBody>
                  <a:tcPr/>
                </a:tc>
                <a:tc>
                  <a:txBody>
                    <a:bodyPr/>
                    <a:lstStyle/>
                    <a:p>
                      <a:pPr marL="0" indent="0" algn="just">
                        <a:buFont typeface="Arial" panose="020B0604020202020204" pitchFamily="34" charset="0"/>
                        <a:buNone/>
                      </a:pPr>
                      <a:r>
                        <a:rPr lang="en-US" sz="1800" b="1" kern="1200" dirty="0">
                          <a:solidFill>
                            <a:schemeClr val="dk1"/>
                          </a:solidFill>
                          <a:effectLst/>
                        </a:rPr>
                        <a:t>YOLO V3 Network Structure:</a:t>
                      </a:r>
                      <a:endParaRPr lang="en-US" sz="1800" b="0" kern="1200" dirty="0">
                        <a:solidFill>
                          <a:schemeClr val="dk1"/>
                        </a:solidFill>
                        <a:effectLst/>
                      </a:endParaRPr>
                    </a:p>
                    <a:p>
                      <a:pPr marL="285750" indent="-285750" algn="just">
                        <a:buFont typeface="Arial" panose="020B0604020202020204" pitchFamily="34" charset="0"/>
                        <a:buChar char="•"/>
                      </a:pPr>
                      <a:r>
                        <a:rPr lang="en-US" sz="1800" b="0" kern="1200" dirty="0">
                          <a:solidFill>
                            <a:schemeClr val="dk1"/>
                          </a:solidFill>
                          <a:effectLst/>
                        </a:rPr>
                        <a:t>YOLO V3 uses Darknet53 as its base network structure </a:t>
                      </a:r>
                    </a:p>
                    <a:p>
                      <a:pPr marL="0" indent="0" algn="just">
                        <a:buFont typeface="Arial" panose="020B0604020202020204" pitchFamily="34" charset="0"/>
                        <a:buNone/>
                      </a:pPr>
                      <a:r>
                        <a:rPr lang="en-US" sz="1800" b="1" kern="1200" dirty="0">
                          <a:solidFill>
                            <a:schemeClr val="dk1"/>
                          </a:solidFill>
                          <a:effectLst/>
                        </a:rPr>
                        <a:t>Data Sets:</a:t>
                      </a:r>
                      <a:endParaRPr lang="en-US" sz="1800" b="0" kern="1200" dirty="0">
                        <a:solidFill>
                          <a:schemeClr val="dk1"/>
                        </a:solidFill>
                        <a:effectLst/>
                      </a:endParaRPr>
                    </a:p>
                    <a:p>
                      <a:pPr marL="285750" indent="-285750" algn="just">
                        <a:buFont typeface="Arial" panose="020B0604020202020204" pitchFamily="34" charset="0"/>
                        <a:buChar char="•"/>
                      </a:pPr>
                      <a:r>
                        <a:rPr lang="en-US" sz="1800" b="0" kern="1200" dirty="0">
                          <a:solidFill>
                            <a:schemeClr val="dk1"/>
                          </a:solidFill>
                          <a:effectLst/>
                        </a:rPr>
                        <a:t>Three datasets are used: PASCAL VOC, COCO, and </a:t>
                      </a:r>
                      <a:r>
                        <a:rPr lang="en-US" sz="1800" b="0" kern="1200" dirty="0" err="1">
                          <a:solidFill>
                            <a:schemeClr val="dk1"/>
                          </a:solidFill>
                          <a:effectLst/>
                        </a:rPr>
                        <a:t>PKLot</a:t>
                      </a:r>
                      <a:r>
                        <a:rPr lang="en-US" sz="1800" b="0" kern="1200" dirty="0">
                          <a:solidFill>
                            <a:schemeClr val="dk1"/>
                          </a:solidFill>
                          <a:effectLst/>
                        </a:rPr>
                        <a:t>.</a:t>
                      </a:r>
                    </a:p>
                    <a:p>
                      <a:pPr marL="285750" indent="-285750" algn="just">
                        <a:buFont typeface="Arial" panose="020B0604020202020204" pitchFamily="34" charset="0"/>
                        <a:buChar char="•"/>
                      </a:pPr>
                      <a:r>
                        <a:rPr lang="en-US" sz="1800" b="0" kern="1200" dirty="0">
                          <a:solidFill>
                            <a:schemeClr val="dk1"/>
                          </a:solidFill>
                          <a:effectLst/>
                        </a:rPr>
                        <a:t>The experiment focuses on the "car," "bus," and "truck" categories.</a:t>
                      </a:r>
                    </a:p>
                    <a:p>
                      <a:pPr marL="0" indent="0" algn="just">
                        <a:buFont typeface="Arial" panose="020B0604020202020204" pitchFamily="34" charset="0"/>
                        <a:buNone/>
                      </a:pPr>
                      <a:r>
                        <a:rPr lang="en-US" sz="1800" b="1" kern="1200" dirty="0">
                          <a:solidFill>
                            <a:schemeClr val="dk1"/>
                          </a:solidFill>
                          <a:effectLst/>
                        </a:rPr>
                        <a:t>Clustering Analysis of Anchor Boxes:</a:t>
                      </a:r>
                      <a:endParaRPr lang="en-US" sz="1800" b="0" kern="1200" dirty="0">
                        <a:solidFill>
                          <a:schemeClr val="dk1"/>
                        </a:solidFill>
                        <a:effectLst/>
                      </a:endParaRPr>
                    </a:p>
                    <a:p>
                      <a:pPr marL="285750" indent="-285750" algn="just">
                        <a:buFont typeface="Arial" panose="020B0604020202020204" pitchFamily="34" charset="0"/>
                        <a:buChar char="•"/>
                      </a:pPr>
                      <a:r>
                        <a:rPr lang="en-US" sz="1800" b="0" kern="1200" dirty="0">
                          <a:solidFill>
                            <a:schemeClr val="dk1"/>
                          </a:solidFill>
                          <a:effectLst/>
                        </a:rPr>
                        <a:t>The K-means clustering algorithm is used to cluster and classify car parking spaces in the dataset.</a:t>
                      </a:r>
                    </a:p>
                    <a:p>
                      <a:pPr marL="285750" indent="-285750" algn="just">
                        <a:buFont typeface="Arial" panose="020B0604020202020204" pitchFamily="34" charset="0"/>
                        <a:buChar char="•"/>
                      </a:pPr>
                      <a:endParaRPr lang="en-US" sz="1800" b="0" kern="1200">
                        <a:solidFill>
                          <a:schemeClr val="dk1"/>
                        </a:solidFill>
                        <a:effectLst/>
                      </a:endParaRPr>
                    </a:p>
                    <a:p>
                      <a:endParaRPr lang="en-US" sz="1800" b="0" kern="1200">
                        <a:solidFill>
                          <a:schemeClr val="dk1"/>
                        </a:solidFill>
                        <a:effectLst/>
                      </a:endParaRPr>
                    </a:p>
                    <a:p>
                      <a:pPr algn="just"/>
                      <a:endParaRPr lang="en-IN">
                        <a:latin typeface="Times New Roman" panose="02020603050405020304" pitchFamily="18" charset="0"/>
                        <a:cs typeface="Times New Roman" panose="02020603050405020304" pitchFamily="18" charset="0"/>
                      </a:endParaRPr>
                    </a:p>
                  </a:txBody>
                  <a:tcPr/>
                </a:tc>
                <a:tc>
                  <a:txBody>
                    <a:bodyPr/>
                    <a:lstStyle/>
                    <a:p>
                      <a:pPr marL="285750" indent="-285750" algn="just">
                        <a:buFont typeface="Arial"/>
                        <a:buChar char="•"/>
                      </a:pPr>
                      <a:r>
                        <a:rPr lang="en-IN" sz="1800" b="0" u="none" strike="noStrike" noProof="0" dirty="0"/>
                        <a:t>High Accuracy</a:t>
                      </a:r>
                    </a:p>
                    <a:p>
                      <a:pPr marL="285750" lvl="0" indent="-285750" algn="just">
                        <a:buFont typeface="Arial"/>
                        <a:buChar char="•"/>
                      </a:pPr>
                      <a:r>
                        <a:rPr lang="en-IN" sz="1800" b="0" u="none" strike="noStrike" noProof="0" dirty="0"/>
                        <a:t>Real-time Processing</a:t>
                      </a:r>
                      <a:endParaRPr lang="en-IN" sz="1800" b="0" i="0" u="none" strike="noStrike" noProof="0" dirty="0">
                        <a:latin typeface="Times New Roman"/>
                      </a:endParaRPr>
                    </a:p>
                  </a:txBody>
                  <a:tcPr/>
                </a:tc>
                <a:tc>
                  <a:txBody>
                    <a:bodyPr/>
                    <a:lstStyle/>
                    <a:p>
                      <a:pPr marL="171450" lvl="0" indent="-171450" algn="just">
                        <a:buFont typeface="Arial"/>
                        <a:buChar char="•"/>
                      </a:pPr>
                      <a:r>
                        <a:rPr lang="en-IN" sz="1800" b="0" u="none" strike="noStrike" noProof="0" dirty="0"/>
                        <a:t>Complexity in Varied Environments</a:t>
                      </a:r>
                    </a:p>
                    <a:p>
                      <a:pPr marL="171450" lvl="0" indent="-171450" algn="just">
                        <a:buFont typeface="Arial"/>
                        <a:buChar char="•"/>
                      </a:pPr>
                      <a:r>
                        <a:rPr lang="en-IN" sz="1800" b="0" u="none" strike="noStrike" noProof="0" dirty="0"/>
                        <a:t>Dependency on Quality and Quantity of Training Data</a:t>
                      </a:r>
                      <a:endParaRPr lang="en-IN" sz="1800" b="0" i="0" u="none" strike="noStrike" noProof="0" dirty="0">
                        <a:latin typeface="Times New Roman"/>
                      </a:endParaRPr>
                    </a:p>
                  </a:txBody>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844549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0E911-A25D-F7E3-4DC3-042A2BD3D2CC}"/>
              </a:ext>
            </a:extLst>
          </p:cNvPr>
          <p:cNvSpPr>
            <a:spLocks noGrp="1"/>
          </p:cNvSpPr>
          <p:nvPr>
            <p:ph type="title"/>
          </p:nvPr>
        </p:nvSpPr>
        <p:spPr>
          <a:xfrm>
            <a:off x="1797665" y="805543"/>
            <a:ext cx="8596668" cy="1320800"/>
          </a:xfrm>
        </p:spPr>
        <p:txBody>
          <a:bodyPr/>
          <a:lstStyle/>
          <a:p>
            <a:pPr algn="ctr"/>
            <a:r>
              <a:rPr lang="en-US"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F380E0A-0788-6144-02AC-10B83B991154}"/>
              </a:ext>
            </a:extLst>
          </p:cNvPr>
          <p:cNvSpPr txBox="1"/>
          <p:nvPr/>
        </p:nvSpPr>
        <p:spPr>
          <a:xfrm>
            <a:off x="1026287" y="2266805"/>
            <a:ext cx="10139423" cy="3785652"/>
          </a:xfrm>
          <a:prstGeom prst="rect">
            <a:avLst/>
          </a:prstGeom>
          <a:noFill/>
        </p:spPr>
        <p:txBody>
          <a:bodyPr wrap="square">
            <a:spAutoFit/>
          </a:bodyPr>
          <a:lstStyle/>
          <a:p>
            <a:pPr algn="just"/>
            <a:r>
              <a:rPr lang="en-IN" sz="2400" kern="100" dirty="0">
                <a:solidFill>
                  <a:srgbClr val="000000"/>
                </a:solidFill>
                <a:effectLst/>
                <a:latin typeface="Times New Roman"/>
                <a:ea typeface="Calibri"/>
                <a:cs typeface="Times New Roman"/>
              </a:rPr>
              <a:t>As the population grows, there is an increase in the private vehicles which caused many issues to the people at the crowded areas such as shopping malls, restaurants and universities parking lots. This results in time waste for the drivers in search for the empty parking space which includes atmospheric pollution and frustration of the drivers. Developing a project that uses a camera to record real-time data and feed it to a system to discover vacant car parking slots in a parking area.</a:t>
            </a:r>
            <a:r>
              <a:rPr lang="en-IN" sz="2400" kern="100" dirty="0">
                <a:solidFill>
                  <a:srgbClr val="000000"/>
                </a:solidFill>
                <a:latin typeface="Times New Roman"/>
                <a:ea typeface="Calibri"/>
                <a:cs typeface="Times New Roman"/>
              </a:rPr>
              <a:t> </a:t>
            </a:r>
            <a:r>
              <a:rPr lang="en-IN" sz="2400" kern="100" dirty="0">
                <a:solidFill>
                  <a:srgbClr val="000000"/>
                </a:solidFill>
                <a:effectLst/>
                <a:latin typeface="Times New Roman"/>
                <a:ea typeface="Calibri"/>
                <a:cs typeface="Times New Roman"/>
              </a:rPr>
              <a:t>Car parking slot detection using YOLO algorithm which calculates the number of vacant parking slots in a parking area based on the system's confidence level.</a:t>
            </a:r>
            <a:endParaRPr lang="en-IN" sz="2400" kern="100" dirty="0">
              <a:effectLst/>
              <a:latin typeface="Times New Roman"/>
              <a:ea typeface="Calibri"/>
              <a:cs typeface="Times New Roman"/>
            </a:endParaRPr>
          </a:p>
          <a:p>
            <a:pPr marL="0" marR="0" lvl="0" indent="0" algn="just" rtl="0">
              <a:spcBef>
                <a:spcPts val="0"/>
              </a:spcBef>
              <a:spcAft>
                <a:spcPts val="0"/>
              </a:spcAft>
              <a:buNone/>
            </a:pPr>
            <a:endParaRPr lang="en-US" sz="2400" dirty="0"/>
          </a:p>
        </p:txBody>
      </p:sp>
    </p:spTree>
    <p:extLst>
      <p:ext uri="{BB962C8B-B14F-4D97-AF65-F5344CB8AC3E}">
        <p14:creationId xmlns:p14="http://schemas.microsoft.com/office/powerpoint/2010/main" val="1439089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C859-45A7-7523-77FE-ADA5C3F090C0}"/>
              </a:ext>
            </a:extLst>
          </p:cNvPr>
          <p:cNvSpPr>
            <a:spLocks noGrp="1"/>
          </p:cNvSpPr>
          <p:nvPr>
            <p:ph type="title"/>
          </p:nvPr>
        </p:nvSpPr>
        <p:spPr>
          <a:xfrm>
            <a:off x="838200" y="877810"/>
            <a:ext cx="10515600" cy="1325563"/>
          </a:xfrm>
        </p:spPr>
        <p:txBody>
          <a:bodyPr/>
          <a:lstStyle/>
          <a:p>
            <a:pPr algn="ctr"/>
            <a:r>
              <a:rPr lang="en-US" b="1" dirty="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9E046EC-2DC3-5E42-046C-7C724EC225E0}"/>
              </a:ext>
            </a:extLst>
          </p:cNvPr>
          <p:cNvSpPr txBox="1"/>
          <p:nvPr/>
        </p:nvSpPr>
        <p:spPr>
          <a:xfrm>
            <a:off x="838200" y="2324364"/>
            <a:ext cx="10515600" cy="4381328"/>
          </a:xfrm>
          <a:prstGeom prst="rect">
            <a:avLst/>
          </a:prstGeom>
          <a:noFill/>
        </p:spPr>
        <p:txBody>
          <a:bodyPr wrap="square">
            <a:spAutoFit/>
          </a:bodyPr>
          <a:lstStyle/>
          <a:p>
            <a:pPr marL="342900" lvl="0" indent="-342900" algn="just">
              <a:lnSpc>
                <a:spcPct val="150000"/>
              </a:lnSpc>
              <a:spcBef>
                <a:spcPts val="690"/>
              </a:spcBef>
              <a:buFont typeface="Symbol" panose="05050102010706020507" pitchFamily="18" charset="2"/>
              <a:buChar char=""/>
              <a:tabLst>
                <a:tab pos="699135" algn="l"/>
                <a:tab pos="69977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To design a model that can efficiently detect the Empty and Occupied status of the</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parking</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space</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in an image</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and</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video by making use</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of</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YOLO object detection.</a:t>
            </a:r>
          </a:p>
          <a:p>
            <a:pPr marL="342900" lvl="0" indent="-342900" algn="just">
              <a:lnSpc>
                <a:spcPct val="150000"/>
              </a:lnSpc>
              <a:spcBef>
                <a:spcPts val="690"/>
              </a:spcBef>
              <a:buFont typeface="Symbol" panose="05050102010706020507" pitchFamily="18" charset="2"/>
              <a:buChar char=""/>
              <a:tabLst>
                <a:tab pos="699135" algn="l"/>
                <a:tab pos="69977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To import</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an</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image</a:t>
            </a:r>
            <a:r>
              <a:rPr lang="en-IN" sz="2000" kern="1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from a</a:t>
            </a:r>
            <a:r>
              <a:rPr lang="en-IN" sz="2000" kern="1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webcam</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and performing</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operations in</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system.</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Bef>
                <a:spcPts val="45"/>
              </a:spcBef>
              <a:buFont typeface="Symbol" panose="05050102010706020507" pitchFamily="18" charset="2"/>
              <a:buChar char=""/>
              <a:tabLst>
                <a:tab pos="699135" algn="l"/>
                <a:tab pos="69977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To identify</a:t>
            </a:r>
            <a:r>
              <a:rPr lang="en-IN" sz="2000" kern="1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moving</a:t>
            </a:r>
            <a:r>
              <a:rPr lang="en-IN" sz="2000" kern="1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objects with</a:t>
            </a:r>
            <a:r>
              <a:rPr lang="en-IN" sz="2000" kern="1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high</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accuracy.</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Bef>
                <a:spcPts val="675"/>
              </a:spcBef>
              <a:buFont typeface="Symbol" panose="05050102010706020507" pitchFamily="18" charset="2"/>
              <a:buChar char=""/>
              <a:tabLst>
                <a:tab pos="699135" algn="l"/>
                <a:tab pos="69977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To</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provide</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information</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about</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vacant</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parking</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space</a:t>
            </a:r>
            <a:r>
              <a:rPr lang="en-IN" sz="2000" kern="1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in</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real</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time</a:t>
            </a:r>
            <a:r>
              <a:rPr lang="en-IN" sz="2000" kern="1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with efficient</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manner.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Bef>
                <a:spcPts val="690"/>
              </a:spcBef>
              <a:spcAft>
                <a:spcPts val="800"/>
              </a:spcAft>
              <a:buFont typeface="Symbol" panose="05050102010706020507" pitchFamily="18" charset="2"/>
              <a:buChar char=""/>
              <a:tabLst>
                <a:tab pos="699135" algn="l"/>
                <a:tab pos="699770" algn="l"/>
              </a:tabLs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To</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avoid</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traffic</a:t>
            </a:r>
            <a:r>
              <a:rPr lang="en-IN" sz="2000" kern="100" spc="-1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congestion</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in</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parking</a:t>
            </a:r>
            <a:r>
              <a:rPr lang="en-IN" sz="2000" kern="1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space.</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60325" lvl="0" indent="-342900" algn="just">
              <a:lnSpc>
                <a:spcPct val="150000"/>
              </a:lnSpc>
              <a:spcBef>
                <a:spcPts val="1005"/>
              </a:spcBef>
              <a:spcAft>
                <a:spcPts val="800"/>
              </a:spcAft>
              <a:buFont typeface="Symbol" panose="05050102010706020507" pitchFamily="18" charset="2"/>
              <a:buChar char=""/>
              <a:tabLst>
                <a:tab pos="699770" algn="l"/>
              </a:tabLst>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60325" lvl="0" algn="just">
              <a:lnSpc>
                <a:spcPct val="150000"/>
              </a:lnSpc>
              <a:spcBef>
                <a:spcPts val="1005"/>
              </a:spcBef>
              <a:spcAft>
                <a:spcPts val="800"/>
              </a:spcAft>
              <a:tabLst>
                <a:tab pos="699770" algn="l"/>
              </a:tabLs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57804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856C-5EC1-7BEF-F7A5-0AF1DA1985C7}"/>
              </a:ext>
            </a:extLst>
          </p:cNvPr>
          <p:cNvSpPr>
            <a:spLocks noGrp="1"/>
          </p:cNvSpPr>
          <p:nvPr>
            <p:ph type="title" idx="4294967295"/>
          </p:nvPr>
        </p:nvSpPr>
        <p:spPr>
          <a:xfrm>
            <a:off x="838200" y="302304"/>
            <a:ext cx="10515600" cy="1325563"/>
          </a:xfrm>
        </p:spPr>
        <p:txBody>
          <a:bodyPr/>
          <a:lstStyle/>
          <a:p>
            <a:pPr algn="ctr"/>
            <a:r>
              <a:rPr lang="en-IN" b="1" dirty="0">
                <a:latin typeface="Times New Roman" panose="02020603050405020304" pitchFamily="18" charset="0"/>
                <a:cs typeface="Times New Roman" panose="02020603050405020304" pitchFamily="18" charset="0"/>
              </a:rPr>
              <a:t>SYSTEM ARCHITECTURE</a:t>
            </a:r>
          </a:p>
        </p:txBody>
      </p:sp>
      <p:sp>
        <p:nvSpPr>
          <p:cNvPr id="7" name="TextBox 6">
            <a:extLst>
              <a:ext uri="{FF2B5EF4-FFF2-40B4-BE49-F238E27FC236}">
                <a16:creationId xmlns:a16="http://schemas.microsoft.com/office/drawing/2014/main" id="{CC60B8C6-8E09-E9F8-6551-D26F1177A635}"/>
              </a:ext>
            </a:extLst>
          </p:cNvPr>
          <p:cNvSpPr txBox="1"/>
          <p:nvPr/>
        </p:nvSpPr>
        <p:spPr>
          <a:xfrm>
            <a:off x="4557326" y="6132894"/>
            <a:ext cx="3077348" cy="400110"/>
          </a:xfrm>
          <a:prstGeom prst="rect">
            <a:avLst/>
          </a:prstGeom>
          <a:noFill/>
        </p:spPr>
        <p:txBody>
          <a:bodyPr wrap="square">
            <a:spAutoFit/>
          </a:bodyPr>
          <a:lstStyle/>
          <a:p>
            <a:pPr marL="0" lvl="0" indent="0" algn="l" rtl="0">
              <a:spcBef>
                <a:spcPts val="1000"/>
              </a:spcBef>
              <a:spcAft>
                <a:spcPts val="0"/>
              </a:spcAft>
              <a:buSzPts val="1440"/>
              <a:buNone/>
            </a:pPr>
            <a:r>
              <a:rPr lang="en-IN" sz="2000" b="1" dirty="0">
                <a:latin typeface="Times New Roman"/>
                <a:ea typeface="Times New Roman"/>
                <a:cs typeface="Times New Roman"/>
                <a:sym typeface="Times New Roman"/>
              </a:rPr>
              <a:t>Fig 1: System Architecture</a:t>
            </a:r>
          </a:p>
        </p:txBody>
      </p:sp>
      <p:pic>
        <p:nvPicPr>
          <p:cNvPr id="5" name="Google Shape;218;p27">
            <a:extLst>
              <a:ext uri="{FF2B5EF4-FFF2-40B4-BE49-F238E27FC236}">
                <a16:creationId xmlns:a16="http://schemas.microsoft.com/office/drawing/2014/main" id="{247A58AF-09A1-49B9-7AB5-2E48D2756DBA}"/>
              </a:ext>
            </a:extLst>
          </p:cNvPr>
          <p:cNvPicPr preferRelativeResize="0"/>
          <p:nvPr/>
        </p:nvPicPr>
        <p:blipFill>
          <a:blip r:embed="rId2">
            <a:alphaModFix/>
          </a:blip>
          <a:stretch>
            <a:fillRect/>
          </a:stretch>
        </p:blipFill>
        <p:spPr>
          <a:xfrm>
            <a:off x="3087350" y="1788289"/>
            <a:ext cx="6017300" cy="4186678"/>
          </a:xfrm>
          <a:prstGeom prst="rect">
            <a:avLst/>
          </a:prstGeom>
          <a:noFill/>
          <a:ln>
            <a:noFill/>
          </a:ln>
        </p:spPr>
      </p:pic>
    </p:spTree>
    <p:extLst>
      <p:ext uri="{BB962C8B-B14F-4D97-AF65-F5344CB8AC3E}">
        <p14:creationId xmlns:p14="http://schemas.microsoft.com/office/powerpoint/2010/main" val="68180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234;p29">
            <a:extLst>
              <a:ext uri="{FF2B5EF4-FFF2-40B4-BE49-F238E27FC236}">
                <a16:creationId xmlns:a16="http://schemas.microsoft.com/office/drawing/2014/main" id="{CCB2B70A-0A91-09D4-79F1-0CEF3012B951}"/>
              </a:ext>
            </a:extLst>
          </p:cNvPr>
          <p:cNvPicPr preferRelativeResize="0"/>
          <p:nvPr/>
        </p:nvPicPr>
        <p:blipFill rotWithShape="1">
          <a:blip r:embed="rId2">
            <a:alphaModFix/>
          </a:blip>
          <a:srcRect/>
          <a:stretch/>
        </p:blipFill>
        <p:spPr>
          <a:xfrm>
            <a:off x="2845762" y="547363"/>
            <a:ext cx="6500475" cy="4927851"/>
          </a:xfrm>
          <a:prstGeom prst="rect">
            <a:avLst/>
          </a:prstGeom>
          <a:noFill/>
          <a:ln>
            <a:noFill/>
          </a:ln>
        </p:spPr>
      </p:pic>
      <p:sp>
        <p:nvSpPr>
          <p:cNvPr id="5" name="TextBox 4">
            <a:extLst>
              <a:ext uri="{FF2B5EF4-FFF2-40B4-BE49-F238E27FC236}">
                <a16:creationId xmlns:a16="http://schemas.microsoft.com/office/drawing/2014/main" id="{D25DEA43-6D0D-D1BD-2278-7624C783FB38}"/>
              </a:ext>
            </a:extLst>
          </p:cNvPr>
          <p:cNvSpPr txBox="1"/>
          <p:nvPr/>
        </p:nvSpPr>
        <p:spPr>
          <a:xfrm>
            <a:off x="4681269" y="5775902"/>
            <a:ext cx="2829459" cy="400110"/>
          </a:xfrm>
          <a:prstGeom prst="rect">
            <a:avLst/>
          </a:prstGeom>
          <a:noFill/>
        </p:spPr>
        <p:txBody>
          <a:bodyPr wrap="square">
            <a:spAutoFit/>
          </a:bodyPr>
          <a:lstStyle/>
          <a:p>
            <a:r>
              <a:rPr lang="en-IN" sz="2000" b="1" dirty="0">
                <a:latin typeface="Times New Roman"/>
                <a:ea typeface="Times New Roman"/>
                <a:cs typeface="Times New Roman"/>
                <a:sym typeface="Times New Roman"/>
              </a:rPr>
              <a:t> Fig 2: System overview</a:t>
            </a:r>
            <a:endParaRPr lang="en-IN" sz="2000" b="1" dirty="0"/>
          </a:p>
        </p:txBody>
      </p:sp>
    </p:spTree>
    <p:extLst>
      <p:ext uri="{BB962C8B-B14F-4D97-AF65-F5344CB8AC3E}">
        <p14:creationId xmlns:p14="http://schemas.microsoft.com/office/powerpoint/2010/main" val="2112594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7665-12B1-DCFB-F7AD-725214CB32B6}"/>
              </a:ext>
            </a:extLst>
          </p:cNvPr>
          <p:cNvSpPr>
            <a:spLocks noGrp="1"/>
          </p:cNvSpPr>
          <p:nvPr>
            <p:ph type="title"/>
          </p:nvPr>
        </p:nvSpPr>
        <p:spPr>
          <a:xfrm>
            <a:off x="722452" y="287385"/>
            <a:ext cx="10515600" cy="1325563"/>
          </a:xfrm>
        </p:spPr>
        <p:txBody>
          <a:bodyPr/>
          <a:lstStyle/>
          <a:p>
            <a:pPr algn="ctr"/>
            <a:r>
              <a:rPr lang="en-IN" b="1" dirty="0">
                <a:latin typeface="Times New Roman" panose="02020603050405020304" pitchFamily="18" charset="0"/>
                <a:cs typeface="Times New Roman" panose="02020603050405020304" pitchFamily="18" charset="0"/>
              </a:rPr>
              <a:t>RESULTS</a:t>
            </a:r>
          </a:p>
        </p:txBody>
      </p:sp>
      <p:pic>
        <p:nvPicPr>
          <p:cNvPr id="3" name="Google Shape;270;p34">
            <a:extLst>
              <a:ext uri="{FF2B5EF4-FFF2-40B4-BE49-F238E27FC236}">
                <a16:creationId xmlns:a16="http://schemas.microsoft.com/office/drawing/2014/main" id="{2C1CEE6B-B2DB-7F78-1689-583B3C617814}"/>
              </a:ext>
            </a:extLst>
          </p:cNvPr>
          <p:cNvPicPr preferRelativeResize="0"/>
          <p:nvPr/>
        </p:nvPicPr>
        <p:blipFill>
          <a:blip r:embed="rId2">
            <a:alphaModFix/>
          </a:blip>
          <a:stretch>
            <a:fillRect/>
          </a:stretch>
        </p:blipFill>
        <p:spPr>
          <a:xfrm>
            <a:off x="2261550" y="1753274"/>
            <a:ext cx="7668899" cy="4609322"/>
          </a:xfrm>
          <a:prstGeom prst="rect">
            <a:avLst/>
          </a:prstGeom>
          <a:noFill/>
          <a:ln>
            <a:noFill/>
          </a:ln>
        </p:spPr>
      </p:pic>
      <p:sp>
        <p:nvSpPr>
          <p:cNvPr id="5" name="Google Shape;267;p34">
            <a:extLst>
              <a:ext uri="{FF2B5EF4-FFF2-40B4-BE49-F238E27FC236}">
                <a16:creationId xmlns:a16="http://schemas.microsoft.com/office/drawing/2014/main" id="{81D13CA1-D1D9-FF80-4A20-BE91E75D66E8}"/>
              </a:ext>
            </a:extLst>
          </p:cNvPr>
          <p:cNvSpPr txBox="1">
            <a:spLocks/>
          </p:cNvSpPr>
          <p:nvPr/>
        </p:nvSpPr>
        <p:spPr>
          <a:xfrm>
            <a:off x="1797665" y="6138355"/>
            <a:ext cx="8596668" cy="729134"/>
          </a:xfrm>
          <a:prstGeom prst="rect">
            <a:avLst/>
          </a:prstGeom>
          <a:noFill/>
          <a:ln>
            <a:noFill/>
          </a:ln>
        </p:spPr>
        <p:txBody>
          <a:bodyPr spcFirstLastPara="1" vert="horz" wrap="square" lIns="91425" tIns="45700" rIns="91425" bIns="4570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chemeClr val="accent5"/>
              </a:buClr>
              <a:buSzPts val="3200"/>
              <a:buFont typeface="Times New Roman"/>
              <a:buNone/>
            </a:pPr>
            <a:br>
              <a:rPr lang="en-US" sz="2000" b="1" dirty="0">
                <a:solidFill>
                  <a:schemeClr val="accent5"/>
                </a:solidFill>
                <a:latin typeface="Times New Roman"/>
                <a:ea typeface="Times New Roman"/>
                <a:cs typeface="Times New Roman"/>
                <a:sym typeface="Times New Roman"/>
              </a:rPr>
            </a:br>
            <a:r>
              <a:rPr lang="en-US" sz="2000" b="1" dirty="0">
                <a:latin typeface="Times New Roman"/>
                <a:ea typeface="Times New Roman"/>
                <a:cs typeface="Times New Roman"/>
                <a:sym typeface="Times New Roman"/>
              </a:rPr>
              <a:t>Fig 4:Parking area image</a:t>
            </a:r>
            <a:endParaRPr lang="en-US" sz="2000" b="1" dirty="0"/>
          </a:p>
        </p:txBody>
      </p:sp>
    </p:spTree>
    <p:extLst>
      <p:ext uri="{BB962C8B-B14F-4D97-AF65-F5344CB8AC3E}">
        <p14:creationId xmlns:p14="http://schemas.microsoft.com/office/powerpoint/2010/main" val="3189571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278;p35">
            <a:extLst>
              <a:ext uri="{FF2B5EF4-FFF2-40B4-BE49-F238E27FC236}">
                <a16:creationId xmlns:a16="http://schemas.microsoft.com/office/drawing/2014/main" id="{F57A0C07-64FF-A7D7-F23A-6F6E0C7BD14D}"/>
              </a:ext>
            </a:extLst>
          </p:cNvPr>
          <p:cNvPicPr preferRelativeResize="0"/>
          <p:nvPr/>
        </p:nvPicPr>
        <p:blipFill>
          <a:blip r:embed="rId2">
            <a:alphaModFix/>
          </a:blip>
          <a:stretch>
            <a:fillRect/>
          </a:stretch>
        </p:blipFill>
        <p:spPr>
          <a:xfrm>
            <a:off x="1544236" y="568151"/>
            <a:ext cx="9103528" cy="4802501"/>
          </a:xfrm>
          <a:prstGeom prst="rect">
            <a:avLst/>
          </a:prstGeom>
          <a:noFill/>
          <a:ln>
            <a:noFill/>
          </a:ln>
        </p:spPr>
      </p:pic>
      <p:sp>
        <p:nvSpPr>
          <p:cNvPr id="5" name="TextBox 4">
            <a:extLst>
              <a:ext uri="{FF2B5EF4-FFF2-40B4-BE49-F238E27FC236}">
                <a16:creationId xmlns:a16="http://schemas.microsoft.com/office/drawing/2014/main" id="{374DC7DD-CF7B-87E3-86C1-5E5E3257E902}"/>
              </a:ext>
            </a:extLst>
          </p:cNvPr>
          <p:cNvSpPr txBox="1"/>
          <p:nvPr/>
        </p:nvSpPr>
        <p:spPr>
          <a:xfrm>
            <a:off x="3048965" y="5284768"/>
            <a:ext cx="6094070" cy="677108"/>
          </a:xfrm>
          <a:prstGeom prst="rect">
            <a:avLst/>
          </a:prstGeom>
          <a:noFill/>
        </p:spPr>
        <p:txBody>
          <a:bodyPr wrap="square">
            <a:spAutoFit/>
          </a:bodyPr>
          <a:lstStyle/>
          <a:p>
            <a:pPr algn="ctr"/>
            <a:br>
              <a:rPr lang="en-US" sz="1800" b="1" dirty="0">
                <a:solidFill>
                  <a:schemeClr val="tx1"/>
                </a:solidFill>
                <a:latin typeface="Times New Roman"/>
                <a:ea typeface="Times New Roman"/>
                <a:cs typeface="Times New Roman"/>
                <a:sym typeface="Times New Roman"/>
              </a:rPr>
            </a:br>
            <a:r>
              <a:rPr lang="en-US" sz="2000" b="1" dirty="0">
                <a:solidFill>
                  <a:schemeClr val="tx1"/>
                </a:solidFill>
                <a:latin typeface="Times New Roman"/>
                <a:ea typeface="Times New Roman"/>
                <a:cs typeface="Times New Roman"/>
                <a:sym typeface="Times New Roman"/>
              </a:rPr>
              <a:t>Fig 5: Parking area image with marked slots</a:t>
            </a:r>
            <a:endParaRPr lang="en-IN" sz="2000" b="1" dirty="0"/>
          </a:p>
        </p:txBody>
      </p:sp>
    </p:spTree>
    <p:extLst>
      <p:ext uri="{BB962C8B-B14F-4D97-AF65-F5344CB8AC3E}">
        <p14:creationId xmlns:p14="http://schemas.microsoft.com/office/powerpoint/2010/main" val="141830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286;p36">
            <a:extLst>
              <a:ext uri="{FF2B5EF4-FFF2-40B4-BE49-F238E27FC236}">
                <a16:creationId xmlns:a16="http://schemas.microsoft.com/office/drawing/2014/main" id="{5E4143D0-B7E7-F7B2-90A4-576596EBB286}"/>
              </a:ext>
            </a:extLst>
          </p:cNvPr>
          <p:cNvPicPr preferRelativeResize="0"/>
          <p:nvPr/>
        </p:nvPicPr>
        <p:blipFill rotWithShape="1">
          <a:blip r:embed="rId2">
            <a:alphaModFix/>
          </a:blip>
          <a:srcRect l="-1456" r="-1097" b="7373"/>
          <a:stretch/>
        </p:blipFill>
        <p:spPr>
          <a:xfrm>
            <a:off x="1122744" y="844952"/>
            <a:ext cx="9826907" cy="4791919"/>
          </a:xfrm>
          <a:prstGeom prst="rect">
            <a:avLst/>
          </a:prstGeom>
          <a:noFill/>
          <a:ln>
            <a:noFill/>
          </a:ln>
        </p:spPr>
      </p:pic>
      <p:sp>
        <p:nvSpPr>
          <p:cNvPr id="5" name="TextBox 4">
            <a:extLst>
              <a:ext uri="{FF2B5EF4-FFF2-40B4-BE49-F238E27FC236}">
                <a16:creationId xmlns:a16="http://schemas.microsoft.com/office/drawing/2014/main" id="{C31B0E58-63E6-4FE1-726C-354019AFBA9A}"/>
              </a:ext>
            </a:extLst>
          </p:cNvPr>
          <p:cNvSpPr txBox="1"/>
          <p:nvPr/>
        </p:nvSpPr>
        <p:spPr>
          <a:xfrm>
            <a:off x="2989162" y="5812993"/>
            <a:ext cx="6094070" cy="400110"/>
          </a:xfrm>
          <a:prstGeom prst="rect">
            <a:avLst/>
          </a:prstGeom>
          <a:noFill/>
        </p:spPr>
        <p:txBody>
          <a:bodyPr wrap="square">
            <a:spAutoFit/>
          </a:bodyPr>
          <a:lstStyle/>
          <a:p>
            <a:pPr algn="ctr"/>
            <a:r>
              <a:rPr lang="en-US" sz="2000" b="1" dirty="0">
                <a:solidFill>
                  <a:schemeClr val="tx1"/>
                </a:solidFill>
                <a:latin typeface="Times New Roman"/>
                <a:ea typeface="Times New Roman"/>
                <a:cs typeface="Times New Roman"/>
                <a:sym typeface="Times New Roman"/>
              </a:rPr>
              <a:t>Fig 6: Output </a:t>
            </a:r>
            <a:endParaRPr lang="en-IN" sz="2000" b="1" dirty="0"/>
          </a:p>
        </p:txBody>
      </p:sp>
    </p:spTree>
    <p:extLst>
      <p:ext uri="{BB962C8B-B14F-4D97-AF65-F5344CB8AC3E}">
        <p14:creationId xmlns:p14="http://schemas.microsoft.com/office/powerpoint/2010/main" val="1652411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807C4-F4A0-D7E1-F973-EB49CDD49FCA}"/>
              </a:ext>
            </a:extLst>
          </p:cNvPr>
          <p:cNvSpPr>
            <a:spLocks noGrp="1"/>
          </p:cNvSpPr>
          <p:nvPr>
            <p:ph type="title"/>
          </p:nvPr>
        </p:nvSpPr>
        <p:spPr/>
        <p:txBody>
          <a:bodyPr/>
          <a:lstStyle/>
          <a:p>
            <a:r>
              <a:rPr lang="en-IN" sz="1800" b="1" dirty="0">
                <a:effectLst/>
                <a:latin typeface="Calibri" panose="020F0502020204030204" pitchFamily="34" charset="0"/>
                <a:ea typeface="Calibri" panose="020F0502020204030204" pitchFamily="34" charset="0"/>
                <a:cs typeface="Times New Roman" panose="02020603050405020304" pitchFamily="18" charset="0"/>
              </a:rPr>
              <a:t>Results obtained on varies parking slot images</a:t>
            </a:r>
            <a:endParaRPr lang="en-IN" b="1" dirty="0"/>
          </a:p>
        </p:txBody>
      </p:sp>
      <p:graphicFrame>
        <p:nvGraphicFramePr>
          <p:cNvPr id="3" name="Table 2">
            <a:extLst>
              <a:ext uri="{FF2B5EF4-FFF2-40B4-BE49-F238E27FC236}">
                <a16:creationId xmlns:a16="http://schemas.microsoft.com/office/drawing/2014/main" id="{BFDB13CE-91F5-A7C3-0889-3EDBFE621C4D}"/>
              </a:ext>
            </a:extLst>
          </p:cNvPr>
          <p:cNvGraphicFramePr>
            <a:graphicFrameLocks noGrp="1"/>
          </p:cNvGraphicFramePr>
          <p:nvPr>
            <p:extLst>
              <p:ext uri="{D42A27DB-BD31-4B8C-83A1-F6EECF244321}">
                <p14:modId xmlns:p14="http://schemas.microsoft.com/office/powerpoint/2010/main" val="1095920675"/>
              </p:ext>
            </p:extLst>
          </p:nvPr>
        </p:nvGraphicFramePr>
        <p:xfrm>
          <a:off x="1164771" y="2481943"/>
          <a:ext cx="9829800" cy="3411365"/>
        </p:xfrm>
        <a:graphic>
          <a:graphicData uri="http://schemas.openxmlformats.org/drawingml/2006/table">
            <a:tbl>
              <a:tblPr firstRow="1" firstCol="1" bandRow="1">
                <a:tableStyleId>{5C22544A-7EE6-4342-B048-85BDC9FD1C3A}</a:tableStyleId>
              </a:tblPr>
              <a:tblGrid>
                <a:gridCol w="1874700">
                  <a:extLst>
                    <a:ext uri="{9D8B030D-6E8A-4147-A177-3AD203B41FA5}">
                      <a16:colId xmlns:a16="http://schemas.microsoft.com/office/drawing/2014/main" val="2187441657"/>
                    </a:ext>
                  </a:extLst>
                </a:gridCol>
                <a:gridCol w="2092088">
                  <a:extLst>
                    <a:ext uri="{9D8B030D-6E8A-4147-A177-3AD203B41FA5}">
                      <a16:colId xmlns:a16="http://schemas.microsoft.com/office/drawing/2014/main" val="1734940383"/>
                    </a:ext>
                  </a:extLst>
                </a:gridCol>
                <a:gridCol w="1677759">
                  <a:extLst>
                    <a:ext uri="{9D8B030D-6E8A-4147-A177-3AD203B41FA5}">
                      <a16:colId xmlns:a16="http://schemas.microsoft.com/office/drawing/2014/main" val="2745452330"/>
                    </a:ext>
                  </a:extLst>
                </a:gridCol>
                <a:gridCol w="1642246">
                  <a:extLst>
                    <a:ext uri="{9D8B030D-6E8A-4147-A177-3AD203B41FA5}">
                      <a16:colId xmlns:a16="http://schemas.microsoft.com/office/drawing/2014/main" val="1368875166"/>
                    </a:ext>
                  </a:extLst>
                </a:gridCol>
                <a:gridCol w="2543007">
                  <a:extLst>
                    <a:ext uri="{9D8B030D-6E8A-4147-A177-3AD203B41FA5}">
                      <a16:colId xmlns:a16="http://schemas.microsoft.com/office/drawing/2014/main" val="296484509"/>
                    </a:ext>
                  </a:extLst>
                </a:gridCol>
              </a:tblGrid>
              <a:tr h="1186753">
                <a:tc>
                  <a:txBody>
                    <a:bodyPr/>
                    <a:lstStyle/>
                    <a:p>
                      <a:pPr algn="ctr">
                        <a:lnSpc>
                          <a:spcPct val="150000"/>
                        </a:lnSpc>
                        <a:spcBef>
                          <a:spcPts val="95"/>
                        </a:spcBef>
                      </a:pPr>
                      <a:r>
                        <a:rPr lang="en-US" sz="1200" kern="100">
                          <a:effectLst/>
                        </a:rPr>
                        <a:t>Parking slot images</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Total no. of slot available</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No.  of slot filled</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No. of slot empty</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No. of empty slot detected by model</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36287929"/>
                  </a:ext>
                </a:extLst>
              </a:tr>
              <a:tr h="556153">
                <a:tc>
                  <a:txBody>
                    <a:bodyPr/>
                    <a:lstStyle/>
                    <a:p>
                      <a:pPr algn="ctr">
                        <a:lnSpc>
                          <a:spcPct val="150000"/>
                        </a:lnSpc>
                        <a:spcBef>
                          <a:spcPts val="95"/>
                        </a:spcBef>
                      </a:pPr>
                      <a:r>
                        <a:rPr lang="en-US" sz="1200" kern="100">
                          <a:effectLst/>
                        </a:rPr>
                        <a:t>1</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69</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54</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15</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15</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95066397"/>
                  </a:ext>
                </a:extLst>
              </a:tr>
              <a:tr h="556153">
                <a:tc>
                  <a:txBody>
                    <a:bodyPr/>
                    <a:lstStyle/>
                    <a:p>
                      <a:pPr algn="ctr">
                        <a:lnSpc>
                          <a:spcPct val="150000"/>
                        </a:lnSpc>
                        <a:spcBef>
                          <a:spcPts val="95"/>
                        </a:spcBef>
                      </a:pPr>
                      <a:r>
                        <a:rPr lang="en-US" sz="1200" kern="100">
                          <a:effectLst/>
                        </a:rPr>
                        <a:t>2</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50</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30</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20</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20</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73840377"/>
                  </a:ext>
                </a:extLst>
              </a:tr>
              <a:tr h="556153">
                <a:tc>
                  <a:txBody>
                    <a:bodyPr/>
                    <a:lstStyle/>
                    <a:p>
                      <a:pPr algn="ctr">
                        <a:lnSpc>
                          <a:spcPct val="150000"/>
                        </a:lnSpc>
                        <a:spcBef>
                          <a:spcPts val="95"/>
                        </a:spcBef>
                      </a:pPr>
                      <a:r>
                        <a:rPr lang="en-US" sz="1200" kern="100">
                          <a:effectLst/>
                        </a:rPr>
                        <a:t>3</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34</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20</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14</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14</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78953754"/>
                  </a:ext>
                </a:extLst>
              </a:tr>
              <a:tr h="556153">
                <a:tc>
                  <a:txBody>
                    <a:bodyPr/>
                    <a:lstStyle/>
                    <a:p>
                      <a:pPr algn="ctr">
                        <a:lnSpc>
                          <a:spcPct val="150000"/>
                        </a:lnSpc>
                        <a:spcBef>
                          <a:spcPts val="95"/>
                        </a:spcBef>
                      </a:pPr>
                      <a:r>
                        <a:rPr lang="en-US" sz="1200" kern="100">
                          <a:effectLst/>
                        </a:rPr>
                        <a:t>4</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40</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15</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a:effectLst/>
                        </a:rPr>
                        <a:t>25</a:t>
                      </a:r>
                      <a:endParaRPr lang="en-IN" sz="115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Bef>
                          <a:spcPts val="95"/>
                        </a:spcBef>
                      </a:pPr>
                      <a:r>
                        <a:rPr lang="en-US" sz="1200" kern="100" dirty="0">
                          <a:effectLst/>
                        </a:rPr>
                        <a:t>25</a:t>
                      </a:r>
                      <a:endParaRPr lang="en-IN" sz="115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83456548"/>
                  </a:ext>
                </a:extLst>
              </a:tr>
            </a:tbl>
          </a:graphicData>
        </a:graphic>
      </p:graphicFrame>
    </p:spTree>
    <p:extLst>
      <p:ext uri="{BB962C8B-B14F-4D97-AF65-F5344CB8AC3E}">
        <p14:creationId xmlns:p14="http://schemas.microsoft.com/office/powerpoint/2010/main" val="2208683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9C979-90F1-71FB-A7F7-0FB2F68C4482}"/>
              </a:ext>
            </a:extLst>
          </p:cNvPr>
          <p:cNvSpPr>
            <a:spLocks noGrp="1"/>
          </p:cNvSpPr>
          <p:nvPr>
            <p:ph type="title"/>
          </p:nvPr>
        </p:nvSpPr>
        <p:spPr>
          <a:xfrm>
            <a:off x="1797666" y="696686"/>
            <a:ext cx="8596668" cy="1320800"/>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72FF73A0-1C0E-623F-BAD2-B7225460BB2E}"/>
              </a:ext>
            </a:extLst>
          </p:cNvPr>
          <p:cNvSpPr txBox="1"/>
          <p:nvPr/>
        </p:nvSpPr>
        <p:spPr>
          <a:xfrm>
            <a:off x="643467" y="2190485"/>
            <a:ext cx="10905066" cy="4151393"/>
          </a:xfrm>
          <a:prstGeom prst="rect">
            <a:avLst/>
          </a:prstGeom>
          <a:noFill/>
        </p:spPr>
        <p:txBody>
          <a:bodyPr wrap="square" rtlCol="0">
            <a:spAutoFit/>
          </a:bodyPr>
          <a:lstStyle/>
          <a:p>
            <a:pPr algn="just">
              <a:lnSpc>
                <a:spcPct val="150000"/>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“Car Parking Slot Detection Using YOLO Algorithm” will be done </a:t>
            </a:r>
            <a:r>
              <a:rPr lang="en-IN" sz="2000" dirty="0">
                <a:latin typeface="Times New Roman" panose="02020603050405020304" pitchFamily="18" charset="0"/>
                <a:ea typeface="Calibri" panose="020F0502020204030204" pitchFamily="34" charset="0"/>
                <a:cs typeface="Times New Roman" panose="02020603050405020304" pitchFamily="18" charset="0"/>
              </a:rPr>
              <a:t>b</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y fixing a camera at the parking slot which will be capturing the parking area images and using the YOLO algorithm, to detect and count the number of vehicles in each parking slot, by tracking the occupancy status of each slot over time, this provides real-time information to users about the availability of parking spaces.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Having studied the different approaches and techniques in various survey papers as reference points, further work and study was conducted. After studying various Machine Learning algorithms, it was found that YOLO algorithm will produce more accurate result. Therefore, this algorithm will be used to develop the model to</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identify vacant and occupied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parking slots and display number of vacant slots.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138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360557-E2DD-D343-B548-1DCE9D659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1705" y="200569"/>
            <a:ext cx="4424405" cy="3124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E49707E2-9AAD-97BE-E170-DEB42566A5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5998" y="3540015"/>
            <a:ext cx="4424405" cy="3124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8259304E-CAC5-07A2-2A12-16653C30C7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5998" y="200569"/>
            <a:ext cx="4424405" cy="31247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C501DFB1-AA77-48AE-B231-9D19EB5326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81705" y="3532695"/>
            <a:ext cx="4434769" cy="31320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11768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89782-5CD0-7C5E-9492-46FDEF773D2F}"/>
              </a:ext>
            </a:extLst>
          </p:cNvPr>
          <p:cNvSpPr>
            <a:spLocks noGrp="1"/>
          </p:cNvSpPr>
          <p:nvPr>
            <p:ph type="title" idx="4294967295"/>
          </p:nvPr>
        </p:nvSpPr>
        <p:spPr>
          <a:xfrm>
            <a:off x="685049" y="325892"/>
            <a:ext cx="10515600" cy="1325562"/>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8CFC94ED-0E7E-328B-0E66-7020B8505D0E}"/>
              </a:ext>
            </a:extLst>
          </p:cNvPr>
          <p:cNvSpPr txBox="1"/>
          <p:nvPr/>
        </p:nvSpPr>
        <p:spPr>
          <a:xfrm>
            <a:off x="554834" y="2112346"/>
            <a:ext cx="10776031" cy="4197559"/>
          </a:xfrm>
          <a:prstGeom prst="rect">
            <a:avLst/>
          </a:prstGeom>
          <a:noFill/>
        </p:spPr>
        <p:txBody>
          <a:bodyPr wrap="square">
            <a:spAutoFit/>
          </a:bodyPr>
          <a:lstStyle/>
          <a:p>
            <a:pPr algn="just">
              <a:lnSpc>
                <a:spcPct val="150000"/>
              </a:lnSpc>
              <a:buNone/>
            </a:pPr>
            <a:r>
              <a:rPr lang="en-US" sz="1800" dirty="0">
                <a:effectLst/>
                <a:latin typeface="Times New Roman"/>
                <a:ea typeface="+mn-lt"/>
                <a:cs typeface="+mn-lt"/>
              </a:rPr>
              <a:t>[1] </a:t>
            </a:r>
            <a:r>
              <a:rPr lang="en-US" sz="1800" dirty="0" err="1">
                <a:effectLst/>
                <a:latin typeface="Times New Roman"/>
                <a:ea typeface="+mn-lt"/>
                <a:cs typeface="+mn-lt"/>
              </a:rPr>
              <a:t>Bandi</a:t>
            </a:r>
            <a:r>
              <a:rPr lang="en-US" sz="1800" dirty="0">
                <a:effectLst/>
                <a:latin typeface="Times New Roman"/>
                <a:ea typeface="+mn-lt"/>
                <a:cs typeface="+mn-lt"/>
              </a:rPr>
              <a:t> Sairam</a:t>
            </a:r>
            <a:r>
              <a:rPr lang="en-US" sz="1800" dirty="0">
                <a:latin typeface="Times New Roman"/>
                <a:ea typeface="+mn-lt"/>
                <a:cs typeface="+mn-lt"/>
              </a:rPr>
              <a:t> and </a:t>
            </a:r>
            <a:r>
              <a:rPr lang="en-US" sz="1800" dirty="0">
                <a:effectLst/>
                <a:latin typeface="Times New Roman"/>
                <a:ea typeface="+mn-lt"/>
                <a:cs typeface="+mn-lt"/>
              </a:rPr>
              <a:t>Gopi Krishna "Automated Vehicle Parking Slot Detection System Using Deep Learning " Proceedings of the Fourth International Conference on Computing Methodologies and Communication (ICCMC 2020) IEEE Xplore Part Number:CFP20K25-ART; ISBN:978-1-7281-4889-2</a:t>
            </a:r>
            <a:endParaRPr lang="en-US" sz="1800" dirty="0">
              <a:latin typeface="Times New Roman"/>
              <a:ea typeface="+mn-lt"/>
              <a:cs typeface="+mn-lt"/>
            </a:endParaRPr>
          </a:p>
          <a:p>
            <a:pPr algn="just">
              <a:lnSpc>
                <a:spcPct val="150000"/>
              </a:lnSpc>
              <a:buNone/>
            </a:pPr>
            <a:r>
              <a:rPr lang="en-US" sz="1800" dirty="0">
                <a:effectLst/>
                <a:latin typeface="Times New Roman"/>
                <a:ea typeface="+mn-lt"/>
                <a:cs typeface="+mn-lt"/>
              </a:rPr>
              <a:t>[2] Raj Patel and Praveen </a:t>
            </a:r>
            <a:r>
              <a:rPr lang="en-US" sz="1800" dirty="0" err="1">
                <a:effectLst/>
                <a:latin typeface="Times New Roman"/>
                <a:ea typeface="+mn-lt"/>
                <a:cs typeface="+mn-lt"/>
              </a:rPr>
              <a:t>Meduri</a:t>
            </a:r>
            <a:r>
              <a:rPr lang="en-US" sz="1800" dirty="0">
                <a:effectLst/>
                <a:latin typeface="Times New Roman"/>
                <a:ea typeface="+mn-lt"/>
                <a:cs typeface="+mn-lt"/>
              </a:rPr>
              <a:t> "Car Detection Based Algorithm for Automatic Parking Space Detection" 2020 19th IEEE International Conference on Machine Learning and Applications (ICMLA)</a:t>
            </a:r>
            <a:endParaRPr lang="en-IN" sz="1800" dirty="0">
              <a:latin typeface="Times New Roman"/>
              <a:ea typeface="+mn-lt"/>
              <a:cs typeface="+mn-lt"/>
            </a:endParaRPr>
          </a:p>
          <a:p>
            <a:pPr algn="just">
              <a:lnSpc>
                <a:spcPct val="150000"/>
              </a:lnSpc>
              <a:buNone/>
            </a:pPr>
            <a:r>
              <a:rPr lang="en-US" sz="1800" dirty="0">
                <a:effectLst/>
                <a:latin typeface="Times New Roman"/>
                <a:ea typeface="+mn-lt"/>
                <a:cs typeface="+mn-lt"/>
              </a:rPr>
              <a:t>[3] Moran JU and </a:t>
            </a:r>
            <a:r>
              <a:rPr lang="en-US" sz="1800" dirty="0" err="1">
                <a:effectLst/>
                <a:latin typeface="Times New Roman"/>
                <a:ea typeface="+mn-lt"/>
                <a:cs typeface="+mn-lt"/>
              </a:rPr>
              <a:t>Haibo</a:t>
            </a:r>
            <a:r>
              <a:rPr lang="en-US" sz="1800" dirty="0">
                <a:effectLst/>
                <a:latin typeface="Times New Roman"/>
                <a:ea typeface="+mn-lt"/>
                <a:cs typeface="+mn-lt"/>
              </a:rPr>
              <a:t> LUO "A Simple and Efficient Network for Small Target Detection" 2020 19th IEEE International Conference on Machine Learning and Applications (ICMLA)</a:t>
            </a:r>
            <a:endParaRPr lang="en-IN" sz="1800" dirty="0">
              <a:latin typeface="Times New Roman"/>
              <a:ea typeface="+mn-lt"/>
              <a:cs typeface="+mn-lt"/>
            </a:endParaRPr>
          </a:p>
          <a:p>
            <a:pPr algn="just">
              <a:lnSpc>
                <a:spcPct val="150000"/>
              </a:lnSpc>
              <a:buNone/>
            </a:pPr>
            <a:r>
              <a:rPr lang="en-US" sz="1800" dirty="0">
                <a:effectLst/>
                <a:latin typeface="Times New Roman"/>
                <a:ea typeface="+mn-lt"/>
                <a:cs typeface="+mn-lt"/>
              </a:rPr>
              <a:t>[4] </a:t>
            </a:r>
            <a:r>
              <a:rPr lang="en-US" sz="1800" dirty="0" err="1">
                <a:effectLst/>
                <a:latin typeface="Times New Roman"/>
                <a:ea typeface="+mn-lt"/>
                <a:cs typeface="+mn-lt"/>
              </a:rPr>
              <a:t>Hanbo</a:t>
            </a:r>
            <a:r>
              <a:rPr lang="en-US" sz="1800" dirty="0">
                <a:effectLst/>
                <a:latin typeface="Times New Roman"/>
                <a:ea typeface="+mn-lt"/>
                <a:cs typeface="+mn-lt"/>
              </a:rPr>
              <a:t> </a:t>
            </a:r>
            <a:r>
              <a:rPr lang="en-US" sz="1800" dirty="0" err="1">
                <a:effectLst/>
                <a:latin typeface="Times New Roman"/>
                <a:ea typeface="+mn-lt"/>
                <a:cs typeface="+mn-lt"/>
              </a:rPr>
              <a:t>Zhoua</a:t>
            </a:r>
            <a:r>
              <a:rPr lang="en-US" sz="1800" dirty="0">
                <a:effectLst/>
                <a:latin typeface="Times New Roman"/>
                <a:ea typeface="+mn-lt"/>
                <a:cs typeface="+mn-lt"/>
              </a:rPr>
              <a:t> and Wei </a:t>
            </a:r>
            <a:r>
              <a:rPr lang="en-US" sz="1800" dirty="0" err="1">
                <a:effectLst/>
                <a:latin typeface="Times New Roman"/>
                <a:ea typeface="+mn-lt"/>
                <a:cs typeface="+mn-lt"/>
              </a:rPr>
              <a:t>Xiangc</a:t>
            </a:r>
            <a:r>
              <a:rPr lang="en-US" sz="1800" dirty="0">
                <a:effectLst/>
                <a:latin typeface="Times New Roman"/>
                <a:ea typeface="+mn-lt"/>
                <a:cs typeface="+mn-lt"/>
              </a:rPr>
              <a:t> "Method for judging parking status based on yolov2 target detection algorithm" The 8th International Conference on Information Technology and Quantitative Management (ITQM 2020 &amp; 2021)</a:t>
            </a:r>
            <a:endParaRPr lang="en-US" sz="1800" dirty="0">
              <a:latin typeface="Times New Roman"/>
              <a:ea typeface="+mn-lt"/>
              <a:cs typeface="+mn-lt"/>
            </a:endParaRPr>
          </a:p>
          <a:p>
            <a:pPr algn="just">
              <a:lnSpc>
                <a:spcPct val="150000"/>
              </a:lnSpc>
              <a:buNone/>
            </a:pPr>
            <a:endParaRPr lang="en-US" sz="1800" dirty="0">
              <a:latin typeface="Times New Roman"/>
              <a:cs typeface="Times New Roman"/>
            </a:endParaRPr>
          </a:p>
        </p:txBody>
      </p:sp>
    </p:spTree>
    <p:extLst>
      <p:ext uri="{BB962C8B-B14F-4D97-AF65-F5344CB8AC3E}">
        <p14:creationId xmlns:p14="http://schemas.microsoft.com/office/powerpoint/2010/main" val="2626040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7F39B4-F493-7A7A-C0C1-F219EAE89A40}"/>
              </a:ext>
            </a:extLst>
          </p:cNvPr>
          <p:cNvSpPr txBox="1"/>
          <p:nvPr/>
        </p:nvSpPr>
        <p:spPr>
          <a:xfrm>
            <a:off x="254643" y="173620"/>
            <a:ext cx="11296891" cy="6150402"/>
          </a:xfrm>
          <a:prstGeom prst="rect">
            <a:avLst/>
          </a:prstGeom>
          <a:noFill/>
        </p:spPr>
        <p:txBody>
          <a:bodyPr wrap="square">
            <a:spAutoFit/>
          </a:bodyPr>
          <a:lstStyle/>
          <a:p>
            <a:pPr algn="just">
              <a:lnSpc>
                <a:spcPct val="170000"/>
              </a:lnSpc>
              <a:buNone/>
            </a:pPr>
            <a:r>
              <a:rPr lang="en-US" sz="1800" dirty="0">
                <a:effectLst/>
                <a:latin typeface="Times New Roman"/>
                <a:ea typeface="+mn-lt"/>
                <a:cs typeface="+mn-lt"/>
              </a:rPr>
              <a:t>[5] Aakash K. Shetty and </a:t>
            </a:r>
            <a:r>
              <a:rPr lang="en-US" sz="1800" dirty="0" err="1">
                <a:effectLst/>
                <a:latin typeface="Times New Roman"/>
                <a:ea typeface="+mn-lt"/>
                <a:cs typeface="+mn-lt"/>
              </a:rPr>
              <a:t>Yashkumar</a:t>
            </a:r>
            <a:r>
              <a:rPr lang="en-US" sz="1800" dirty="0">
                <a:effectLst/>
                <a:latin typeface="Times New Roman"/>
                <a:ea typeface="+mn-lt"/>
                <a:cs typeface="+mn-lt"/>
              </a:rPr>
              <a:t> J. Patel </a:t>
            </a:r>
            <a:r>
              <a:rPr lang="en-US" sz="1800" dirty="0">
                <a:latin typeface="Times New Roman"/>
                <a:ea typeface="+mn-lt"/>
                <a:cs typeface="+mn-lt"/>
              </a:rPr>
              <a:t>“</a:t>
            </a:r>
            <a:r>
              <a:rPr lang="en-US" sz="1800" dirty="0">
                <a:effectLst/>
                <a:latin typeface="Times New Roman"/>
                <a:ea typeface="+mn-lt"/>
                <a:cs typeface="+mn-lt"/>
              </a:rPr>
              <a:t>A Review: Object Detection Models" 2021 6th International Conference for Convergence in Technology (I2CT) Pune, India. Apr 02-04, 2021</a:t>
            </a:r>
            <a:endParaRPr lang="en-US" dirty="0">
              <a:latin typeface="Times New Roman"/>
              <a:ea typeface="+mn-lt"/>
              <a:cs typeface="+mn-lt"/>
            </a:endParaRPr>
          </a:p>
          <a:p>
            <a:pPr algn="just">
              <a:lnSpc>
                <a:spcPct val="170000"/>
              </a:lnSpc>
              <a:buNone/>
            </a:pPr>
            <a:r>
              <a:rPr lang="en-US" sz="1800" dirty="0">
                <a:effectLst/>
                <a:latin typeface="Times New Roman"/>
                <a:ea typeface="+mn-lt"/>
                <a:cs typeface="+mn-lt"/>
              </a:rPr>
              <a:t>[6] Cui Gao</a:t>
            </a:r>
            <a:r>
              <a:rPr lang="en-US" sz="1800" dirty="0">
                <a:latin typeface="Times New Roman"/>
                <a:ea typeface="+mn-lt"/>
                <a:cs typeface="+mn-lt"/>
              </a:rPr>
              <a:t> and </a:t>
            </a:r>
            <a:r>
              <a:rPr lang="en-US" sz="1800" dirty="0" err="1">
                <a:effectLst/>
                <a:latin typeface="Times New Roman"/>
                <a:ea typeface="+mn-lt"/>
                <a:cs typeface="+mn-lt"/>
              </a:rPr>
              <a:t>Qiang</a:t>
            </a:r>
            <a:r>
              <a:rPr lang="en-US" sz="1800" dirty="0">
                <a:effectLst/>
                <a:latin typeface="Times New Roman"/>
                <a:ea typeface="+mn-lt"/>
                <a:cs typeface="+mn-lt"/>
              </a:rPr>
              <a:t> Cai "YOLOv4 Object Detection Algorithm with Efficient Channel Attention Mechanism" 2020 5th International Conference on Mechanical, Control and Computer Engineering (ICMCCE)</a:t>
            </a:r>
            <a:endParaRPr lang="en-IN" dirty="0">
              <a:latin typeface="Times New Roman"/>
              <a:ea typeface="+mn-lt"/>
              <a:cs typeface="+mn-lt"/>
            </a:endParaRPr>
          </a:p>
          <a:p>
            <a:pPr algn="just">
              <a:lnSpc>
                <a:spcPct val="170000"/>
              </a:lnSpc>
              <a:buNone/>
            </a:pPr>
            <a:r>
              <a:rPr lang="en-US" sz="1800" dirty="0">
                <a:effectLst/>
                <a:latin typeface="Times New Roman"/>
                <a:ea typeface="+mn-lt"/>
                <a:cs typeface="+mn-lt"/>
              </a:rPr>
              <a:t>[7] Se-Ho Park and </a:t>
            </a:r>
            <a:r>
              <a:rPr lang="en-US" sz="1800" dirty="0" err="1">
                <a:effectLst/>
                <a:latin typeface="Times New Roman"/>
                <a:ea typeface="+mn-lt"/>
                <a:cs typeface="+mn-lt"/>
              </a:rPr>
              <a:t>Hyoseok</a:t>
            </a:r>
            <a:r>
              <a:rPr lang="en-US" sz="1800" dirty="0">
                <a:effectLst/>
                <a:latin typeface="Times New Roman"/>
                <a:ea typeface="+mn-lt"/>
                <a:cs typeface="+mn-lt"/>
              </a:rPr>
              <a:t> Yoon "An All-in-One Vehicle Type and License Plate Recognition System Using YOLOv4" 2022 by the authors. Licensee MDPI</a:t>
            </a:r>
            <a:endParaRPr lang="en-IN" dirty="0">
              <a:latin typeface="Times New Roman"/>
              <a:ea typeface="+mn-lt"/>
              <a:cs typeface="+mn-lt"/>
            </a:endParaRPr>
          </a:p>
          <a:p>
            <a:pPr algn="just">
              <a:lnSpc>
                <a:spcPct val="170000"/>
              </a:lnSpc>
              <a:buNone/>
            </a:pPr>
            <a:r>
              <a:rPr lang="en-US" sz="1800" dirty="0">
                <a:effectLst/>
                <a:latin typeface="Times New Roman"/>
                <a:ea typeface="+mn-lt"/>
                <a:cs typeface="+mn-lt"/>
              </a:rPr>
              <a:t>[8] Jingyi Zhao, </a:t>
            </a:r>
            <a:r>
              <a:rPr lang="en-US" sz="1800" dirty="0" err="1">
                <a:effectLst/>
                <a:latin typeface="Times New Roman"/>
                <a:ea typeface="+mn-lt"/>
                <a:cs typeface="+mn-lt"/>
              </a:rPr>
              <a:t>Zhanlin</a:t>
            </a:r>
            <a:r>
              <a:rPr lang="en-US" sz="1800" dirty="0">
                <a:effectLst/>
                <a:latin typeface="Times New Roman"/>
                <a:ea typeface="+mn-lt"/>
                <a:cs typeface="+mn-lt"/>
              </a:rPr>
              <a:t> JI (Member, IEEE) and Ivan </a:t>
            </a:r>
            <a:r>
              <a:rPr lang="en-US" sz="1800" dirty="0" err="1">
                <a:effectLst/>
                <a:latin typeface="Times New Roman"/>
                <a:ea typeface="+mn-lt"/>
                <a:cs typeface="+mn-lt"/>
              </a:rPr>
              <a:t>Ganchev</a:t>
            </a:r>
            <a:r>
              <a:rPr lang="en-US" sz="1800" dirty="0">
                <a:effectLst/>
                <a:latin typeface="Times New Roman"/>
                <a:ea typeface="+mn-lt"/>
                <a:cs typeface="+mn-lt"/>
              </a:rPr>
              <a:t> (Senior Member, IEEE) “Improved Vision-Based Vehicle Detection and Classification by Optimized YOLOv4” 2021 19th IEEE International Conference on Machine Learning and Applications (ICMLA)</a:t>
            </a:r>
            <a:endParaRPr lang="en-IN" dirty="0">
              <a:latin typeface="Times New Roman"/>
              <a:ea typeface="+mn-lt"/>
              <a:cs typeface="+mn-lt"/>
            </a:endParaRPr>
          </a:p>
          <a:p>
            <a:pPr algn="just">
              <a:lnSpc>
                <a:spcPct val="170000"/>
              </a:lnSpc>
              <a:buNone/>
            </a:pPr>
            <a:r>
              <a:rPr lang="en-US" sz="1800" dirty="0">
                <a:effectLst/>
                <a:latin typeface="Times New Roman"/>
                <a:ea typeface="+mn-lt"/>
                <a:cs typeface="+mn-lt"/>
              </a:rPr>
              <a:t>[9] Guan Sheng Wong , Kah Ong Michael Goh and </a:t>
            </a:r>
            <a:r>
              <a:rPr lang="en-US" sz="1800" dirty="0" err="1">
                <a:effectLst/>
                <a:latin typeface="Times New Roman"/>
                <a:ea typeface="+mn-lt"/>
                <a:cs typeface="+mn-lt"/>
              </a:rPr>
              <a:t>Aznul</a:t>
            </a:r>
            <a:r>
              <a:rPr lang="en-US" sz="1800" dirty="0">
                <a:effectLst/>
                <a:latin typeface="Times New Roman"/>
                <a:ea typeface="+mn-lt"/>
                <a:cs typeface="+mn-lt"/>
              </a:rPr>
              <a:t> </a:t>
            </a:r>
            <a:r>
              <a:rPr lang="en-US" sz="1800" dirty="0" err="1">
                <a:effectLst/>
                <a:latin typeface="Times New Roman"/>
                <a:ea typeface="+mn-lt"/>
                <a:cs typeface="+mn-lt"/>
              </a:rPr>
              <a:t>Qalid</a:t>
            </a:r>
            <a:r>
              <a:rPr lang="en-US" sz="1800" dirty="0">
                <a:effectLst/>
                <a:latin typeface="Times New Roman"/>
                <a:ea typeface="+mn-lt"/>
                <a:cs typeface="+mn-lt"/>
              </a:rPr>
              <a:t> Md. Sabri “Review of Vision-Based Deep Learning Parking Slot Detection on Surround View Images” 2023 by the authors. Licensee MDPI</a:t>
            </a:r>
            <a:endParaRPr lang="en-US" dirty="0">
              <a:latin typeface="Times New Roman"/>
              <a:ea typeface="+mn-lt"/>
              <a:cs typeface="+mn-lt"/>
            </a:endParaRPr>
          </a:p>
          <a:p>
            <a:pPr algn="just">
              <a:lnSpc>
                <a:spcPct val="170000"/>
              </a:lnSpc>
              <a:buNone/>
            </a:pPr>
            <a:r>
              <a:rPr lang="en-US" sz="1800" dirty="0">
                <a:latin typeface="Times New Roman"/>
                <a:ea typeface="+mn-lt"/>
                <a:cs typeface="+mn-lt"/>
              </a:rPr>
              <a:t>[10] Upendra </a:t>
            </a:r>
            <a:r>
              <a:rPr lang="en-US" sz="1800" dirty="0" err="1">
                <a:latin typeface="Times New Roman"/>
                <a:ea typeface="+mn-lt"/>
                <a:cs typeface="+mn-lt"/>
              </a:rPr>
              <a:t>Suddamalla</a:t>
            </a:r>
            <a:r>
              <a:rPr lang="en-US" sz="1800" dirty="0">
                <a:latin typeface="Times New Roman"/>
                <a:ea typeface="+mn-lt"/>
                <a:cs typeface="+mn-lt"/>
              </a:rPr>
              <a:t> and Balaji </a:t>
            </a:r>
            <a:r>
              <a:rPr lang="en-US" sz="1800" dirty="0" err="1">
                <a:latin typeface="Times New Roman"/>
                <a:ea typeface="+mn-lt"/>
                <a:cs typeface="+mn-lt"/>
              </a:rPr>
              <a:t>Ravichandiran</a:t>
            </a:r>
            <a:r>
              <a:rPr lang="en-US" sz="1800" dirty="0">
                <a:latin typeface="Times New Roman"/>
                <a:ea typeface="+mn-lt"/>
                <a:cs typeface="+mn-lt"/>
              </a:rPr>
              <a:t> “Camera Based Parking Slot Detection For Autonomous Parking” (2020).</a:t>
            </a:r>
            <a:endParaRPr lang="en-IN" dirty="0">
              <a:latin typeface="Times New Roman"/>
              <a:cs typeface="Calibri" panose="020F0502020204030204"/>
            </a:endParaRPr>
          </a:p>
        </p:txBody>
      </p:sp>
    </p:spTree>
    <p:extLst>
      <p:ext uri="{BB962C8B-B14F-4D97-AF65-F5344CB8AC3E}">
        <p14:creationId xmlns:p14="http://schemas.microsoft.com/office/powerpoint/2010/main" val="1098519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264AA1D3-9A44-F3CA-BC6D-12591CDFBDF9}"/>
              </a:ext>
            </a:extLst>
          </p:cNvPr>
          <p:cNvSpPr txBox="1">
            <a:spLocks/>
          </p:cNvSpPr>
          <p:nvPr/>
        </p:nvSpPr>
        <p:spPr>
          <a:xfrm>
            <a:off x="251791" y="337291"/>
            <a:ext cx="11688417" cy="58113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Arial" panose="020B0604020202020204" pitchFamily="34" charset="0"/>
              <a:buNone/>
            </a:pPr>
            <a:r>
              <a:rPr lang="en-US" sz="1800">
                <a:latin typeface="Times New Roman"/>
                <a:ea typeface="+mn-lt"/>
                <a:cs typeface="+mn-lt"/>
              </a:rPr>
              <a:t>[11] Fatma M. Talaat and Hanaa Zain Eldin “An improved fire detection approach based on YOLO-v8 for smart cities” Neural Computing and Applications (2023)</a:t>
            </a:r>
            <a:endParaRPr lang="en-US"/>
          </a:p>
          <a:p>
            <a:pPr algn="just">
              <a:lnSpc>
                <a:spcPct val="150000"/>
              </a:lnSpc>
              <a:buFont typeface="Arial" panose="020B0604020202020204" pitchFamily="34" charset="0"/>
              <a:buNone/>
            </a:pPr>
            <a:r>
              <a:rPr lang="en-US" sz="1800">
                <a:latin typeface="Times New Roman"/>
                <a:ea typeface="+mn-lt"/>
                <a:cs typeface="+mn-lt"/>
              </a:rPr>
              <a:t>[12] Nabin Sharma and Rathachai Chawuthai “Parking Time Violation Tracking Using YOLOv8 and Tracking Algorithms” 2023 by the authors. Licensee MDPI</a:t>
            </a:r>
            <a:endParaRPr lang="en-IN" sz="1800">
              <a:latin typeface="Times New Roman"/>
              <a:ea typeface="+mn-lt"/>
              <a:cs typeface="+mn-lt"/>
            </a:endParaRPr>
          </a:p>
          <a:p>
            <a:pPr algn="just">
              <a:lnSpc>
                <a:spcPct val="150000"/>
              </a:lnSpc>
              <a:buFont typeface="Arial" panose="020B0604020202020204" pitchFamily="34" charset="0"/>
              <a:buNone/>
            </a:pPr>
            <a:r>
              <a:rPr lang="en-US" sz="1800">
                <a:latin typeface="Times New Roman"/>
                <a:ea typeface="+mn-lt"/>
                <a:cs typeface="+mn-lt"/>
              </a:rPr>
              <a:t>[13] Xiangwu Ding and Ruidi Yang “Vehicle and Parking Space Detection Based on Improved YOLO Network Model” ICAITA 2019</a:t>
            </a:r>
            <a:endParaRPr lang="en-IN" sz="1800">
              <a:latin typeface="Times New Roman"/>
              <a:ea typeface="+mn-lt"/>
              <a:cs typeface="+mn-lt"/>
            </a:endParaRPr>
          </a:p>
          <a:p>
            <a:pPr algn="just">
              <a:lnSpc>
                <a:spcPct val="150000"/>
              </a:lnSpc>
              <a:buFont typeface="Arial" panose="020B0604020202020204" pitchFamily="34" charset="0"/>
              <a:buNone/>
            </a:pPr>
            <a:r>
              <a:rPr lang="en-US" sz="1800">
                <a:latin typeface="Times New Roman"/>
                <a:ea typeface="+mn-lt"/>
                <a:cs typeface="+mn-lt"/>
              </a:rPr>
              <a:t>[14] Daniel Padilla Carrasco and Domènec Puig “T-YOLO: Tiny Vehicle Detection Based on YOLO and Multi-Scale Convolutional Neural Networks” 2021 19th IEEE International Conference on Machine Learning and Applications (ICMLA)</a:t>
            </a:r>
            <a:endParaRPr lang="en-IN" sz="1800">
              <a:latin typeface="Times New Roman"/>
              <a:ea typeface="+mn-lt"/>
              <a:cs typeface="+mn-lt"/>
            </a:endParaRPr>
          </a:p>
          <a:p>
            <a:pPr algn="just">
              <a:lnSpc>
                <a:spcPct val="150000"/>
              </a:lnSpc>
              <a:buFont typeface="Arial" panose="020B0604020202020204" pitchFamily="34" charset="0"/>
              <a:buNone/>
            </a:pPr>
            <a:r>
              <a:rPr lang="en-US" sz="1800">
                <a:latin typeface="Times New Roman"/>
                <a:ea typeface="+mn-lt"/>
                <a:cs typeface="+mn-lt"/>
              </a:rPr>
              <a:t>[15] Mamoona Humayun and Marwah Khalid Alsadun " Traffic Management: Multi-Scale Vehicle Detection in Varying Weather Conditions Using YOLOv4 and Spatial Pyramid Pooling Network " 2022 by the authors. Licensee MDPI</a:t>
            </a:r>
            <a:endParaRPr lang="en-IN" sz="1800">
              <a:latin typeface="Times New Roman"/>
              <a:ea typeface="+mn-lt"/>
              <a:cs typeface="+mn-lt"/>
            </a:endParaRPr>
          </a:p>
          <a:p>
            <a:pPr marL="0" indent="0" algn="just">
              <a:lnSpc>
                <a:spcPct val="150000"/>
              </a:lnSpc>
              <a:buFont typeface="Arial" panose="020B0604020202020204" pitchFamily="34" charset="0"/>
              <a:buNone/>
            </a:pPr>
            <a:endParaRPr lang="en-US" sz="18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2882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a:extLst>
              <a:ext uri="{FF2B5EF4-FFF2-40B4-BE49-F238E27FC236}">
                <a16:creationId xmlns:a16="http://schemas.microsoft.com/office/drawing/2014/main" id="{815F4B9F-55F4-7444-3449-351E7E50F53F}"/>
              </a:ext>
            </a:extLst>
          </p:cNvPr>
          <p:cNvSpPr>
            <a:spLocks noChangeAspect="1" noChangeArrowheads="1"/>
          </p:cNvSpPr>
          <p:nvPr/>
        </p:nvSpPr>
        <p:spPr bwMode="auto">
          <a:xfrm flipV="1">
            <a:off x="1159497" y="-1812304"/>
            <a:ext cx="6711884" cy="671188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3071F4FA-39CA-4D52-3D21-0D58F3FA8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2433" y="0"/>
            <a:ext cx="13250064" cy="6934200"/>
          </a:xfrm>
          <a:prstGeom prst="ellipse">
            <a:avLst/>
          </a:prstGeom>
        </p:spPr>
      </p:pic>
      <p:sp>
        <p:nvSpPr>
          <p:cNvPr id="7" name="TextBox 6">
            <a:extLst>
              <a:ext uri="{FF2B5EF4-FFF2-40B4-BE49-F238E27FC236}">
                <a16:creationId xmlns:a16="http://schemas.microsoft.com/office/drawing/2014/main" id="{C8B5CE28-05BE-ADBF-B745-44D3864CAACA}"/>
              </a:ext>
            </a:extLst>
          </p:cNvPr>
          <p:cNvSpPr txBox="1"/>
          <p:nvPr/>
        </p:nvSpPr>
        <p:spPr>
          <a:xfrm>
            <a:off x="575321" y="3051601"/>
            <a:ext cx="4498484" cy="830997"/>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THANK YOU</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568542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300</TotalTime>
  <Words>2225</Words>
  <Application>Microsoft Office PowerPoint</Application>
  <PresentationFormat>Widescreen</PresentationFormat>
  <Paragraphs>256</Paragraphs>
  <Slides>25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Gill Sans MT</vt:lpstr>
      <vt:lpstr>Symbol</vt:lpstr>
      <vt:lpstr>Times New Roman</vt:lpstr>
      <vt:lpstr>Wingdings</vt:lpstr>
      <vt:lpstr>Parcel</vt:lpstr>
      <vt:lpstr>PowerPoint Presentation</vt:lpstr>
      <vt:lpstr>Content</vt:lpstr>
      <vt:lpstr>ABSTRACT</vt:lpstr>
      <vt:lpstr>INTRODUCTION</vt:lpstr>
      <vt:lpstr>LITERATURE SURVEY</vt:lpstr>
      <vt:lpstr>PowerPoint Presentation</vt:lpstr>
      <vt:lpstr>PowerPoint Presentation</vt:lpstr>
      <vt:lpstr>PowerPoint Presentation</vt:lpstr>
      <vt:lpstr>PowerPoint Presentation</vt:lpstr>
      <vt:lpstr>PowerPoint Presentation</vt:lpstr>
      <vt:lpstr>PowerPoint Presentation</vt:lpstr>
      <vt:lpstr>PROBLEM STATEMENT</vt:lpstr>
      <vt:lpstr>OBJECTIVES</vt:lpstr>
      <vt:lpstr>SYSTEM ARCHITECTURE</vt:lpstr>
      <vt:lpstr>PowerPoint Presentation</vt:lpstr>
      <vt:lpstr>RESULTS</vt:lpstr>
      <vt:lpstr>PowerPoint Presentation</vt:lpstr>
      <vt:lpstr>PowerPoint Presentation</vt:lpstr>
      <vt:lpstr>Results obtained on varies parking slot images</vt:lpstr>
      <vt:lpstr>CONCLUSION</vt:lpstr>
      <vt:lpstr>PowerPoint Presentation</vt:lpstr>
      <vt:lpstr>REFERENCES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varshitha Hebbandi</dc:creator>
  <cp:lastModifiedBy>Tanmayee Sharvani</cp:lastModifiedBy>
  <cp:revision>4</cp:revision>
  <dcterms:created xsi:type="dcterms:W3CDTF">2024-04-24T09:35:50Z</dcterms:created>
  <dcterms:modified xsi:type="dcterms:W3CDTF">2024-05-26T17:08:45Z</dcterms:modified>
</cp:coreProperties>
</file>